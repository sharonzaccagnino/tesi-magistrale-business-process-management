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7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8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63" r:id="rId2"/>
    <p:sldId id="258" r:id="rId3"/>
    <p:sldId id="311" r:id="rId4"/>
    <p:sldId id="266" r:id="rId5"/>
    <p:sldId id="289" r:id="rId6"/>
    <p:sldId id="308" r:id="rId7"/>
    <p:sldId id="268" r:id="rId8"/>
    <p:sldId id="310" r:id="rId9"/>
    <p:sldId id="274" r:id="rId10"/>
    <p:sldId id="309" r:id="rId11"/>
    <p:sldId id="298" r:id="rId12"/>
    <p:sldId id="294" r:id="rId13"/>
    <p:sldId id="304" r:id="rId14"/>
    <p:sldId id="305" r:id="rId15"/>
    <p:sldId id="306" r:id="rId16"/>
    <p:sldId id="295" r:id="rId17"/>
    <p:sldId id="296" r:id="rId18"/>
    <p:sldId id="312" r:id="rId19"/>
  </p:sldIdLst>
  <p:sldSz cx="9144000" cy="6858000" type="screen4x3"/>
  <p:notesSz cx="6858000" cy="9144000"/>
  <p:defaultTextStyle>
    <a:defPPr>
      <a:defRPr lang="it-IT"/>
    </a:defPPr>
    <a:lvl1pPr algn="l" rtl="0" eaLnBrk="0" fontAlgn="base" hangingPunct="0">
      <a:spcBef>
        <a:spcPct val="0"/>
      </a:spcBef>
      <a:spcAft>
        <a:spcPct val="0"/>
      </a:spcAft>
      <a:defRPr sz="900" kern="1200">
        <a:solidFill>
          <a:schemeClr val="bg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900" kern="1200">
        <a:solidFill>
          <a:schemeClr val="bg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900" kern="1200">
        <a:solidFill>
          <a:schemeClr val="bg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900" kern="1200">
        <a:solidFill>
          <a:schemeClr val="bg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900" kern="1200">
        <a:solidFill>
          <a:schemeClr val="bg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900" kern="1200">
        <a:solidFill>
          <a:schemeClr val="bg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900" kern="1200">
        <a:solidFill>
          <a:schemeClr val="bg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900" kern="1200">
        <a:solidFill>
          <a:schemeClr val="bg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900" kern="1200">
        <a:solidFill>
          <a:schemeClr val="bg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22433"/>
    <a:srgbClr val="000000"/>
    <a:srgbClr val="1E2426"/>
    <a:srgbClr val="006778"/>
    <a:srgbClr val="AAC9B6"/>
    <a:srgbClr val="830022"/>
    <a:srgbClr val="790022"/>
    <a:srgbClr val="7836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150" autoAdjust="0"/>
    <p:restoredTop sz="93447" autoAdjust="0"/>
  </p:normalViewPr>
  <p:slideViewPr>
    <p:cSldViewPr>
      <p:cViewPr>
        <p:scale>
          <a:sx n="75" d="100"/>
          <a:sy n="75" d="100"/>
        </p:scale>
        <p:origin x="1344" y="-216"/>
      </p:cViewPr>
      <p:guideLst>
        <p:guide orient="horz" pos="2160"/>
        <p:guide pos="2880"/>
      </p:guideLst>
    </p:cSldViewPr>
  </p:slideViewPr>
  <p:outlineViewPr>
    <p:cViewPr>
      <p:scale>
        <a:sx n="66" d="100"/>
        <a:sy n="66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10" d="100"/>
          <a:sy n="110" d="100"/>
        </p:scale>
        <p:origin x="-1688" y="-11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 err="1"/>
              <a:t>Missioni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Foglio1!$B$1</c:f>
              <c:strCache>
                <c:ptCount val="1"/>
                <c:pt idx="0">
                  <c:v>Missioni</c:v>
                </c:pt>
              </c:strCache>
            </c:strRef>
          </c:tx>
          <c:dPt>
            <c:idx val="0"/>
            <c:bubble3D val="0"/>
            <c:spPr>
              <a:solidFill>
                <a:schemeClr val="tx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3D8-40CC-A269-9B219CD19550}"/>
              </c:ext>
            </c:extLst>
          </c:dPt>
          <c:dPt>
            <c:idx val="1"/>
            <c:bubble3D val="0"/>
            <c:spPr>
              <a:solidFill>
                <a:schemeClr val="tx2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43D8-40CC-A269-9B219CD19550}"/>
              </c:ext>
            </c:extLst>
          </c:dPt>
          <c:dLbls>
            <c:dLbl>
              <c:idx val="0"/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197" b="0" i="0" u="none" strike="noStrike" kern="1200" baseline="0">
                        <a:solidFill>
                          <a:srgbClr val="000000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5B1ABB0D-E431-4B64-8F2F-672749231FB7}" type="PERCENTAGE">
                      <a:rPr lang="en-US">
                        <a:solidFill>
                          <a:schemeClr val="bg1"/>
                        </a:solidFill>
                      </a:rPr>
                      <a:pPr>
                        <a:defRPr>
                          <a:solidFill>
                            <a:srgbClr val="000000"/>
                          </a:solidFill>
                        </a:defRPr>
                      </a:pPr>
                      <a:t>[PERCENTUALE]</a:t>
                    </a:fld>
                    <a:endParaRPr lang="it-IT"/>
                  </a:p>
                </c:rich>
              </c:tx>
              <c:numFmt formatCode="0.0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rgbClr val="00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it-IT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43D8-40CC-A269-9B219CD19550}"/>
                </c:ext>
              </c:extLst>
            </c:dLbl>
            <c:dLbl>
              <c:idx val="1"/>
              <c:numFmt formatCode="0.0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rgbClr val="00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it-IT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3-43D8-40CC-A269-9B219CD1955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Foglio1!$A$2:$A$3</c:f>
              <c:strCache>
                <c:ptCount val="2"/>
                <c:pt idx="0">
                  <c:v>Idonee</c:v>
                </c:pt>
                <c:pt idx="1">
                  <c:v>Non idonee</c:v>
                </c:pt>
              </c:strCache>
            </c:strRef>
          </c:cat>
          <c:val>
            <c:numRef>
              <c:f>Foglio1!$B$2:$B$3</c:f>
              <c:numCache>
                <c:formatCode>General</c:formatCode>
                <c:ptCount val="2"/>
                <c:pt idx="0">
                  <c:v>11329</c:v>
                </c:pt>
                <c:pt idx="1">
                  <c:v>612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B24-4184-A6B6-E0A2ECC34A94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61708231434514693"/>
          <c:y val="0.47235263298032243"/>
          <c:w val="0.28508519058198534"/>
          <c:h val="0.2158619564190436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#1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0NoLn">
    <dgm:fillClrLst meth="repeat">
      <a:schemeClr val="dk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1NoLn">
    <dgm:fillClrLst meth="repeat">
      <a:schemeClr val="dk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dk2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2NoLn">
    <dgm:fillClrLst meth="repeat">
      <a:schemeClr val="dk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NoLn">
    <dgm:fillClrLst meth="repeat">
      <a:schemeClr val="dk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NoLn">
    <dgm:fillClrLst meth="repeat">
      <a:schemeClr val="dk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B368380-240A-4ED5-BE68-28D9BD23F525}" type="doc">
      <dgm:prSet loTypeId="urn:microsoft.com/office/officeart/2026/layout/NumberedDotsVertical#1" loCatId="timeline" qsTypeId="urn:microsoft.com/office/officeart/2005/8/quickstyle/simple1#1" qsCatId="simple" csTypeId="urn:microsoft.com/office/officeart/2005/8/colors/accent0_3#1" csCatId="mainScheme" phldr="1"/>
      <dgm:spPr/>
      <dgm:t>
        <a:bodyPr/>
        <a:lstStyle/>
        <a:p>
          <a:endParaRPr lang="it-IT"/>
        </a:p>
      </dgm:t>
    </dgm:pt>
    <dgm:pt modelId="{FB16A443-97BC-48CD-A3D5-3CF5B5BC97FE}">
      <dgm:prSet phldrT="Write a description of the significance of this event" custT="1"/>
      <dgm:spPr/>
      <dgm:t>
        <a:bodyPr/>
        <a:lstStyle/>
        <a:p>
          <a:r>
            <a:rPr lang="it-IT" sz="1300" dirty="0">
              <a:solidFill>
                <a:srgbClr val="000000"/>
              </a:solidFill>
            </a:rPr>
            <a:t>Intervallo di tempo delle fasi: triage, assegnazione, partenza, viaggio sul target.</a:t>
          </a:r>
        </a:p>
      </dgm:t>
    </dgm:pt>
    <dgm:pt modelId="{E5054CFD-6FB9-4A0B-A034-9764E58FB769}" type="parTrans" cxnId="{B0752692-5D17-45A4-963F-94EE82F34786}">
      <dgm:prSet/>
      <dgm:spPr/>
      <dgm:t>
        <a:bodyPr/>
        <a:lstStyle/>
        <a:p>
          <a:endParaRPr lang="it-IT"/>
        </a:p>
      </dgm:t>
    </dgm:pt>
    <dgm:pt modelId="{F3783EFA-060A-41EA-B5F6-2AF5B5B18AA7}" type="sibTrans" cxnId="{B0752692-5D17-45A4-963F-94EE82F34786}">
      <dgm:prSet phldrT="2" phldr="0"/>
      <dgm:spPr/>
      <dgm:t>
        <a:bodyPr/>
        <a:lstStyle/>
        <a:p>
          <a:endParaRPr lang="it-IT"/>
        </a:p>
      </dgm:t>
    </dgm:pt>
    <dgm:pt modelId="{D3BBE444-CF1C-4EE2-A06D-745C645D76EF}">
      <dgm:prSet phldrT="Add an event" phldr="0"/>
      <dgm:spPr/>
      <dgm:t>
        <a:bodyPr/>
        <a:lstStyle/>
        <a:p>
          <a:pPr>
            <a:defRPr b="1"/>
          </a:pPr>
          <a:r>
            <a:rPr lang="it-IT" dirty="0"/>
            <a:t>Tasso di utilizzo delle ambulanze</a:t>
          </a:r>
        </a:p>
      </dgm:t>
    </dgm:pt>
    <dgm:pt modelId="{403FD4E6-6B97-4B6D-A739-B6E0F947915B}" type="parTrans" cxnId="{0A11BD74-CC04-434F-9FE2-D3F5B4294B28}">
      <dgm:prSet/>
      <dgm:spPr/>
      <dgm:t>
        <a:bodyPr/>
        <a:lstStyle/>
        <a:p>
          <a:endParaRPr lang="it-IT"/>
        </a:p>
      </dgm:t>
    </dgm:pt>
    <dgm:pt modelId="{E91B62F2-867E-4743-BF7F-9F56DBF2368B}" type="sibTrans" cxnId="{0A11BD74-CC04-434F-9FE2-D3F5B4294B28}">
      <dgm:prSet phldrT="1" phldr="0"/>
      <dgm:spPr/>
      <dgm:t>
        <a:bodyPr/>
        <a:lstStyle/>
        <a:p>
          <a:pPr>
            <a:defRPr b="1"/>
          </a:pPr>
          <a:r>
            <a:t>1</a:t>
          </a:r>
        </a:p>
      </dgm:t>
    </dgm:pt>
    <dgm:pt modelId="{676C24A7-319F-43D6-BAE1-E46D33DEC514}">
      <dgm:prSet phldrT="Write a description of the significance of this event" custT="1"/>
      <dgm:spPr/>
      <dgm:t>
        <a:bodyPr/>
        <a:lstStyle/>
        <a:p>
          <a:r>
            <a:rPr lang="it-IT" sz="1300" dirty="0">
              <a:solidFill>
                <a:srgbClr val="000000"/>
              </a:solidFill>
            </a:rPr>
            <a:t>Rapporto tra il tempo di servizio effettivo e il tempo di lavoro totale disponibile</a:t>
          </a:r>
        </a:p>
      </dgm:t>
    </dgm:pt>
    <dgm:pt modelId="{F57AF2CB-6201-4AF0-BAB3-DDFDDE503E67}" type="parTrans" cxnId="{8618BDC7-516A-4FB0-83EA-1A4F55D98775}">
      <dgm:prSet/>
      <dgm:spPr/>
      <dgm:t>
        <a:bodyPr/>
        <a:lstStyle/>
        <a:p>
          <a:endParaRPr lang="it-IT"/>
        </a:p>
      </dgm:t>
    </dgm:pt>
    <dgm:pt modelId="{E64665AC-9D00-4743-9F2C-1C9674245E72}" type="sibTrans" cxnId="{8618BDC7-516A-4FB0-83EA-1A4F55D98775}">
      <dgm:prSet/>
      <dgm:spPr/>
      <dgm:t>
        <a:bodyPr/>
        <a:lstStyle/>
        <a:p>
          <a:endParaRPr lang="it-IT"/>
        </a:p>
      </dgm:t>
    </dgm:pt>
    <dgm:pt modelId="{184FCC43-3943-43B2-8DBD-6B30C61074E9}">
      <dgm:prSet phldrT="Add an event" phldr="0"/>
      <dgm:spPr/>
      <dgm:t>
        <a:bodyPr/>
        <a:lstStyle/>
        <a:p>
          <a:pPr>
            <a:defRPr b="1"/>
          </a:pPr>
          <a:r>
            <a:rPr lang="it-IT" dirty="0"/>
            <a:t>Coverage (≤ 20 minuti)</a:t>
          </a:r>
        </a:p>
      </dgm:t>
    </dgm:pt>
    <dgm:pt modelId="{9840BF1C-2752-4391-BF6B-429B87C04D75}" type="parTrans" cxnId="{4A5DDBD5-E6A4-4018-B331-D82976808269}">
      <dgm:prSet/>
      <dgm:spPr/>
      <dgm:t>
        <a:bodyPr/>
        <a:lstStyle/>
        <a:p>
          <a:endParaRPr lang="it-IT"/>
        </a:p>
      </dgm:t>
    </dgm:pt>
    <dgm:pt modelId="{30A13400-A516-487F-9864-D1F2AFA01AF0}" type="sibTrans" cxnId="{4A5DDBD5-E6A4-4018-B331-D82976808269}">
      <dgm:prSet phldrT="3" phldr="0"/>
      <dgm:spPr/>
      <dgm:t>
        <a:bodyPr/>
        <a:lstStyle/>
        <a:p>
          <a:pPr>
            <a:defRPr b="1"/>
          </a:pPr>
          <a:r>
            <a:t>3</a:t>
          </a:r>
        </a:p>
      </dgm:t>
    </dgm:pt>
    <dgm:pt modelId="{D6F86F3B-4F89-4F5F-8ACA-291ADBE94603}">
      <dgm:prSet phldrT="Write a description of the significance of this event" custT="1"/>
      <dgm:spPr/>
      <dgm:t>
        <a:bodyPr/>
        <a:lstStyle/>
        <a:p>
          <a:r>
            <a:rPr lang="it-IT" sz="1300" dirty="0">
              <a:solidFill>
                <a:srgbClr val="000000"/>
              </a:solidFill>
            </a:rPr>
            <a:t>Percentuale di chiamate per le quali il tempo di risposta non supera i 20 minuti. </a:t>
          </a:r>
        </a:p>
      </dgm:t>
    </dgm:pt>
    <dgm:pt modelId="{4A64EC2A-0352-4621-BEED-6A8559BBDDA8}" type="parTrans" cxnId="{805D02D4-F889-4A96-9F96-2FF2989AB277}">
      <dgm:prSet/>
      <dgm:spPr/>
      <dgm:t>
        <a:bodyPr/>
        <a:lstStyle/>
        <a:p>
          <a:endParaRPr lang="it-IT"/>
        </a:p>
      </dgm:t>
    </dgm:pt>
    <dgm:pt modelId="{1126D927-FB88-449F-B30A-795588B37D41}" type="sibTrans" cxnId="{805D02D4-F889-4A96-9F96-2FF2989AB277}">
      <dgm:prSet/>
      <dgm:spPr/>
      <dgm:t>
        <a:bodyPr/>
        <a:lstStyle/>
        <a:p>
          <a:endParaRPr lang="it-IT"/>
        </a:p>
      </dgm:t>
    </dgm:pt>
    <dgm:pt modelId="{C16BA247-F932-4778-B645-253F567E5419}">
      <dgm:prSet phldrT="Add an event"/>
      <dgm:spPr/>
      <dgm:t>
        <a:bodyPr/>
        <a:lstStyle/>
        <a:p>
          <a:pPr>
            <a:defRPr b="1"/>
          </a:pPr>
          <a:r>
            <a:rPr lang="it-IT" dirty="0"/>
            <a:t>Peggiori 5% dei tempi di risposta (CVaR95%) </a:t>
          </a:r>
        </a:p>
      </dgm:t>
    </dgm:pt>
    <dgm:pt modelId="{F670101D-89ED-4257-B426-54E07C465F23}" type="parTrans" cxnId="{FD1D5D89-6840-4C94-9A22-C6960D4CC674}">
      <dgm:prSet/>
      <dgm:spPr/>
      <dgm:t>
        <a:bodyPr/>
        <a:lstStyle/>
        <a:p>
          <a:endParaRPr lang="it-IT"/>
        </a:p>
      </dgm:t>
    </dgm:pt>
    <dgm:pt modelId="{1810DF9E-F57A-4FAA-ACED-F235D2BA5B67}" type="sibTrans" cxnId="{FD1D5D89-6840-4C94-9A22-C6960D4CC674}">
      <dgm:prSet phldrT="4" phldr="0"/>
      <dgm:spPr/>
      <dgm:t>
        <a:bodyPr/>
        <a:lstStyle/>
        <a:p>
          <a:pPr>
            <a:defRPr b="1"/>
          </a:pPr>
          <a:r>
            <a:t>4</a:t>
          </a:r>
        </a:p>
      </dgm:t>
    </dgm:pt>
    <dgm:pt modelId="{8BE14B9D-C0CE-457A-9212-539C03A27626}">
      <dgm:prSet phldrT="Write a description of the significance of this event" custT="1"/>
      <dgm:spPr/>
      <dgm:t>
        <a:bodyPr/>
        <a:lstStyle/>
        <a:p>
          <a:r>
            <a:rPr lang="it-IT" sz="1300" dirty="0">
              <a:solidFill>
                <a:srgbClr val="000000"/>
              </a:solidFill>
            </a:rPr>
            <a:t>Media del 5% dei tempi di risposta peggiori registrati nella coda della distribuzione. Misura l’equità del servizio per il cittadino.</a:t>
          </a:r>
        </a:p>
      </dgm:t>
    </dgm:pt>
    <dgm:pt modelId="{2314569B-622E-47EB-B1BA-3BDEE83557B3}" type="parTrans" cxnId="{C129E1DD-2736-4FEB-86DC-E5FD9CECBFE2}">
      <dgm:prSet/>
      <dgm:spPr/>
      <dgm:t>
        <a:bodyPr/>
        <a:lstStyle/>
        <a:p>
          <a:endParaRPr lang="it-IT"/>
        </a:p>
      </dgm:t>
    </dgm:pt>
    <dgm:pt modelId="{719B994F-64C3-431C-B02C-E53021505106}" type="sibTrans" cxnId="{C129E1DD-2736-4FEB-86DC-E5FD9CECBFE2}">
      <dgm:prSet/>
      <dgm:spPr/>
      <dgm:t>
        <a:bodyPr/>
        <a:lstStyle/>
        <a:p>
          <a:endParaRPr lang="it-IT"/>
        </a:p>
      </dgm:t>
    </dgm:pt>
    <dgm:pt modelId="{9200789E-D309-43A4-9F8C-D2A57918EAD4}">
      <dgm:prSet phldrT="Add an event" phldr="0"/>
      <dgm:spPr/>
      <dgm:t>
        <a:bodyPr/>
        <a:lstStyle/>
        <a:p>
          <a:pPr>
            <a:defRPr b="1"/>
          </a:pPr>
          <a:r>
            <a:rPr lang="it-IT" dirty="0"/>
            <a:t>Tempo di risposta medio</a:t>
          </a:r>
        </a:p>
      </dgm:t>
    </dgm:pt>
    <dgm:pt modelId="{D3E77001-9158-440F-9E78-6C3286F839E7}" type="parTrans" cxnId="{314571D8-8D3E-4A44-9FA7-235C982601A7}">
      <dgm:prSet/>
      <dgm:spPr/>
      <dgm:t>
        <a:bodyPr/>
        <a:lstStyle/>
        <a:p>
          <a:endParaRPr lang="it-IT"/>
        </a:p>
      </dgm:t>
    </dgm:pt>
    <dgm:pt modelId="{6BB0E8A8-9584-4018-AA71-79FAE22E9BC0}" type="sibTrans" cxnId="{314571D8-8D3E-4A44-9FA7-235C982601A7}">
      <dgm:prSet phldrT="2" phldr="0"/>
      <dgm:spPr/>
      <dgm:t>
        <a:bodyPr/>
        <a:lstStyle/>
        <a:p>
          <a:pPr>
            <a:defRPr b="1"/>
          </a:pPr>
          <a:r>
            <a:t>2</a:t>
          </a:r>
        </a:p>
      </dgm:t>
    </dgm:pt>
    <dgm:pt modelId="{0B0F2BD7-C139-413C-9614-563FB34BE2E5}" type="pres">
      <dgm:prSet presAssocID="{3B368380-240A-4ED5-BE68-28D9BD23F525}" presName="root" presStyleCnt="0">
        <dgm:presLayoutVars>
          <dgm:dir/>
          <dgm:resizeHandles val="exact"/>
        </dgm:presLayoutVars>
      </dgm:prSet>
      <dgm:spPr/>
    </dgm:pt>
    <dgm:pt modelId="{F02E1592-44C3-4FBB-A2D1-382033E46D0A}" type="pres">
      <dgm:prSet presAssocID="{3B368380-240A-4ED5-BE68-28D9BD23F525}" presName="itemsFlow" presStyleCnt="0"/>
      <dgm:spPr/>
    </dgm:pt>
    <dgm:pt modelId="{44100712-7405-495B-A03E-A76922C45438}" type="pres">
      <dgm:prSet presAssocID="{D3BBE444-CF1C-4EE2-A06D-745C645D76EF}" presName="item" presStyleCnt="0"/>
      <dgm:spPr/>
    </dgm:pt>
    <dgm:pt modelId="{B640BDFC-71B7-4360-A036-654F4EDB0BC3}" type="pres">
      <dgm:prSet presAssocID="{D3BBE444-CF1C-4EE2-A06D-745C645D76EF}" presName="anchor" presStyleCnt="0"/>
      <dgm:spPr/>
    </dgm:pt>
    <dgm:pt modelId="{6315F3F4-B635-47A9-A59A-EFFB0E621816}" type="pres">
      <dgm:prSet presAssocID="{D3BBE444-CF1C-4EE2-A06D-745C645D76EF}" presName="titleText" presStyleLbl="revTx" presStyleIdx="0" presStyleCnt="0">
        <dgm:presLayoutVars>
          <dgm:chMax val="0"/>
          <dgm:chPref val="0"/>
        </dgm:presLayoutVars>
      </dgm:prSet>
      <dgm:spPr/>
    </dgm:pt>
    <dgm:pt modelId="{57ABC8BC-76B2-4136-B111-4181AD5FEC31}" type="pres">
      <dgm:prSet presAssocID="{E91B62F2-867E-4743-BF7F-9F56DBF2368B}" presName="numCircle" presStyleLbl="node1NoLn" presStyleIdx="0" presStyleCnt="4">
        <dgm:presLayoutVars>
          <dgm:chMax val="0"/>
          <dgm:bulletEnabled/>
        </dgm:presLayoutVars>
      </dgm:prSet>
      <dgm:spPr/>
    </dgm:pt>
    <dgm:pt modelId="{9F3417E4-A2DE-4773-B04A-8686360B425C}" type="pres">
      <dgm:prSet presAssocID="{D3BBE444-CF1C-4EE2-A06D-745C645D76EF}" presName="descText" presStyleLbl="revTx" presStyleIdx="0" presStyleCnt="0">
        <dgm:presLayoutVars>
          <dgm:chMax val="0"/>
          <dgm:chPref val="0"/>
        </dgm:presLayoutVars>
      </dgm:prSet>
      <dgm:spPr/>
    </dgm:pt>
    <dgm:pt modelId="{5A65519B-B577-41EB-B3F0-12EA9AEFC926}" type="pres">
      <dgm:prSet presAssocID="{E91B62F2-867E-4743-BF7F-9F56DBF2368B}" presName="connector" presStyleLbl="dkBgShp" presStyleIdx="0" presStyleCnt="3"/>
      <dgm:spPr/>
    </dgm:pt>
    <dgm:pt modelId="{654DE552-3D66-49FC-A020-6CF9C5AA4978}" type="pres">
      <dgm:prSet presAssocID="{9200789E-D309-43A4-9F8C-D2A57918EAD4}" presName="item" presStyleCnt="0"/>
      <dgm:spPr/>
    </dgm:pt>
    <dgm:pt modelId="{17483401-60DE-433A-AC6F-71378F83BF72}" type="pres">
      <dgm:prSet presAssocID="{9200789E-D309-43A4-9F8C-D2A57918EAD4}" presName="anchor" presStyleCnt="0"/>
      <dgm:spPr/>
    </dgm:pt>
    <dgm:pt modelId="{218DDDE6-6E0F-4EFD-8347-5A3AA896F59E}" type="pres">
      <dgm:prSet presAssocID="{9200789E-D309-43A4-9F8C-D2A57918EAD4}" presName="titleText" presStyleLbl="revTx" presStyleIdx="0" presStyleCnt="0">
        <dgm:presLayoutVars>
          <dgm:chMax val="0"/>
          <dgm:chPref val="0"/>
        </dgm:presLayoutVars>
      </dgm:prSet>
      <dgm:spPr/>
    </dgm:pt>
    <dgm:pt modelId="{62FE7F04-96CA-433F-9828-AB8A9AE7F15C}" type="pres">
      <dgm:prSet presAssocID="{6BB0E8A8-9584-4018-AA71-79FAE22E9BC0}" presName="numCircle" presStyleLbl="node1NoLn" presStyleIdx="1" presStyleCnt="4">
        <dgm:presLayoutVars>
          <dgm:chMax val="0"/>
          <dgm:bulletEnabled/>
        </dgm:presLayoutVars>
      </dgm:prSet>
      <dgm:spPr/>
    </dgm:pt>
    <dgm:pt modelId="{C1A9C91D-483A-4851-A2F2-6DB78BBBB0F1}" type="pres">
      <dgm:prSet presAssocID="{9200789E-D309-43A4-9F8C-D2A57918EAD4}" presName="descText" presStyleLbl="revTx" presStyleIdx="0" presStyleCnt="0">
        <dgm:presLayoutVars>
          <dgm:chMax val="0"/>
          <dgm:chPref val="0"/>
        </dgm:presLayoutVars>
      </dgm:prSet>
      <dgm:spPr/>
    </dgm:pt>
    <dgm:pt modelId="{C9AC5CEF-0CAB-4E19-81A1-EB850B2EB181}" type="pres">
      <dgm:prSet presAssocID="{6BB0E8A8-9584-4018-AA71-79FAE22E9BC0}" presName="connector" presStyleLbl="dkBgShp" presStyleIdx="1" presStyleCnt="3"/>
      <dgm:spPr/>
    </dgm:pt>
    <dgm:pt modelId="{3055BC45-51FF-40D8-B6B5-DC6EE5F0DA9D}" type="pres">
      <dgm:prSet presAssocID="{184FCC43-3943-43B2-8DBD-6B30C61074E9}" presName="item" presStyleCnt="0"/>
      <dgm:spPr/>
    </dgm:pt>
    <dgm:pt modelId="{406403C2-3662-45C0-BEED-03C0A6FC1BA7}" type="pres">
      <dgm:prSet presAssocID="{184FCC43-3943-43B2-8DBD-6B30C61074E9}" presName="anchor" presStyleCnt="0"/>
      <dgm:spPr/>
    </dgm:pt>
    <dgm:pt modelId="{4DA56647-0A13-455D-9B48-5138717C9B16}" type="pres">
      <dgm:prSet presAssocID="{184FCC43-3943-43B2-8DBD-6B30C61074E9}" presName="titleText" presStyleLbl="revTx" presStyleIdx="0" presStyleCnt="0">
        <dgm:presLayoutVars>
          <dgm:chMax val="0"/>
          <dgm:chPref val="0"/>
        </dgm:presLayoutVars>
      </dgm:prSet>
      <dgm:spPr/>
    </dgm:pt>
    <dgm:pt modelId="{BB253A9B-9A36-42EB-8479-37238ED488C7}" type="pres">
      <dgm:prSet presAssocID="{30A13400-A516-487F-9864-D1F2AFA01AF0}" presName="numCircle" presStyleLbl="node1NoLn" presStyleIdx="2" presStyleCnt="4">
        <dgm:presLayoutVars>
          <dgm:chMax val="0"/>
          <dgm:bulletEnabled/>
        </dgm:presLayoutVars>
      </dgm:prSet>
      <dgm:spPr/>
    </dgm:pt>
    <dgm:pt modelId="{06B078C8-43B0-42FC-B8F8-D96B5D8979AF}" type="pres">
      <dgm:prSet presAssocID="{184FCC43-3943-43B2-8DBD-6B30C61074E9}" presName="descText" presStyleLbl="revTx" presStyleIdx="0" presStyleCnt="0">
        <dgm:presLayoutVars>
          <dgm:chMax val="0"/>
          <dgm:chPref val="0"/>
        </dgm:presLayoutVars>
      </dgm:prSet>
      <dgm:spPr/>
    </dgm:pt>
    <dgm:pt modelId="{8E377717-58BB-427B-9580-B20072DDF6E5}" type="pres">
      <dgm:prSet presAssocID="{30A13400-A516-487F-9864-D1F2AFA01AF0}" presName="connector" presStyleLbl="dkBgShp" presStyleIdx="2" presStyleCnt="3"/>
      <dgm:spPr/>
    </dgm:pt>
    <dgm:pt modelId="{07563B93-C289-4BB5-A1DE-34E8E36BEA9D}" type="pres">
      <dgm:prSet presAssocID="{C16BA247-F932-4778-B645-253F567E5419}" presName="item" presStyleCnt="0"/>
      <dgm:spPr/>
    </dgm:pt>
    <dgm:pt modelId="{0E100E19-98B8-47F9-914D-4FF4487BB877}" type="pres">
      <dgm:prSet presAssocID="{C16BA247-F932-4778-B645-253F567E5419}" presName="anchor" presStyleCnt="0"/>
      <dgm:spPr/>
    </dgm:pt>
    <dgm:pt modelId="{75C00102-3651-41CF-BFE0-CD18F19E2F05}" type="pres">
      <dgm:prSet presAssocID="{C16BA247-F932-4778-B645-253F567E5419}" presName="titleText" presStyleLbl="revTx" presStyleIdx="0" presStyleCnt="0">
        <dgm:presLayoutVars>
          <dgm:chMax val="0"/>
          <dgm:chPref val="0"/>
        </dgm:presLayoutVars>
      </dgm:prSet>
      <dgm:spPr/>
    </dgm:pt>
    <dgm:pt modelId="{D6B58502-3259-4BBA-B73B-03EE56023EF5}" type="pres">
      <dgm:prSet presAssocID="{1810DF9E-F57A-4FAA-ACED-F235D2BA5B67}" presName="numCircle" presStyleLbl="node1NoLn" presStyleIdx="3" presStyleCnt="4">
        <dgm:presLayoutVars>
          <dgm:chMax val="0"/>
          <dgm:bulletEnabled/>
        </dgm:presLayoutVars>
      </dgm:prSet>
      <dgm:spPr/>
    </dgm:pt>
    <dgm:pt modelId="{89B5CBFC-CC1D-419B-B929-809221DEDF4D}" type="pres">
      <dgm:prSet presAssocID="{C16BA247-F932-4778-B645-253F567E5419}" presName="descText" presStyleLbl="revTx" presStyleIdx="0" presStyleCnt="0">
        <dgm:presLayoutVars>
          <dgm:chMax val="0"/>
          <dgm:chPref val="0"/>
        </dgm:presLayoutVars>
      </dgm:prSet>
      <dgm:spPr/>
    </dgm:pt>
  </dgm:ptLst>
  <dgm:cxnLst>
    <dgm:cxn modelId="{7B14FA04-93DF-40B6-BC53-DC24561846B0}" type="presOf" srcId="{D3BBE444-CF1C-4EE2-A06D-745C645D76EF}" destId="{6315F3F4-B635-47A9-A59A-EFFB0E621816}" srcOrd="0" destOrd="0" presId="urn:microsoft.com/office/officeart/2026/layout/NumberedDotsVertical#1"/>
    <dgm:cxn modelId="{EF3A2709-0AF6-4F57-8CFB-413B590D00AE}" type="presOf" srcId="{E91B62F2-867E-4743-BF7F-9F56DBF2368B}" destId="{5A65519B-B577-41EB-B3F0-12EA9AEFC926}" srcOrd="1" destOrd="0" presId="urn:microsoft.com/office/officeart/2026/layout/NumberedDotsVertical#1"/>
    <dgm:cxn modelId="{7230DB0A-FCEC-49A4-8014-24ED25A1B76D}" type="presOf" srcId="{C16BA247-F932-4778-B645-253F567E5419}" destId="{75C00102-3651-41CF-BFE0-CD18F19E2F05}" srcOrd="0" destOrd="0" presId="urn:microsoft.com/office/officeart/2026/layout/NumberedDotsVertical#1"/>
    <dgm:cxn modelId="{AD308E18-5A20-44FA-BFD9-99F5F1A4801D}" type="presOf" srcId="{6BB0E8A8-9584-4018-AA71-79FAE22E9BC0}" destId="{62FE7F04-96CA-433F-9828-AB8A9AE7F15C}" srcOrd="0" destOrd="0" presId="urn:microsoft.com/office/officeart/2026/layout/NumberedDotsVertical#1"/>
    <dgm:cxn modelId="{E90D2761-CF93-4FC8-8913-E068D98DA2B5}" type="presOf" srcId="{E91B62F2-867E-4743-BF7F-9F56DBF2368B}" destId="{57ABC8BC-76B2-4136-B111-4181AD5FEC31}" srcOrd="0" destOrd="0" presId="urn:microsoft.com/office/officeart/2026/layout/NumberedDotsVertical#1"/>
    <dgm:cxn modelId="{1C4D2470-6F32-48DD-BC2E-527D81FF7552}" type="presOf" srcId="{676C24A7-319F-43D6-BAE1-E46D33DEC514}" destId="{9F3417E4-A2DE-4773-B04A-8686360B425C}" srcOrd="0" destOrd="0" presId="urn:microsoft.com/office/officeart/2026/layout/NumberedDotsVertical#1"/>
    <dgm:cxn modelId="{0A11BD74-CC04-434F-9FE2-D3F5B4294B28}" srcId="{3B368380-240A-4ED5-BE68-28D9BD23F525}" destId="{D3BBE444-CF1C-4EE2-A06D-745C645D76EF}" srcOrd="0" destOrd="0" parTransId="{403FD4E6-6B97-4B6D-A739-B6E0F947915B}" sibTransId="{E91B62F2-867E-4743-BF7F-9F56DBF2368B}"/>
    <dgm:cxn modelId="{24F4F057-B690-42C2-9506-95D8580BC090}" type="presOf" srcId="{6BB0E8A8-9584-4018-AA71-79FAE22E9BC0}" destId="{C9AC5CEF-0CAB-4E19-81A1-EB850B2EB181}" srcOrd="1" destOrd="0" presId="urn:microsoft.com/office/officeart/2026/layout/NumberedDotsVertical#1"/>
    <dgm:cxn modelId="{D7DB115A-7077-4397-868D-9AC8FA68BE96}" type="presOf" srcId="{184FCC43-3943-43B2-8DBD-6B30C61074E9}" destId="{4DA56647-0A13-455D-9B48-5138717C9B16}" srcOrd="0" destOrd="0" presId="urn:microsoft.com/office/officeart/2026/layout/NumberedDotsVertical#1"/>
    <dgm:cxn modelId="{9C956B7A-D6C9-4570-A17C-2977902EE98C}" type="presOf" srcId="{9200789E-D309-43A4-9F8C-D2A57918EAD4}" destId="{218DDDE6-6E0F-4EFD-8347-5A3AA896F59E}" srcOrd="0" destOrd="0" presId="urn:microsoft.com/office/officeart/2026/layout/NumberedDotsVertical#1"/>
    <dgm:cxn modelId="{E073297D-2745-45EC-8A4B-4FDDFD6DA011}" type="presOf" srcId="{D6F86F3B-4F89-4F5F-8ACA-291ADBE94603}" destId="{06B078C8-43B0-42FC-B8F8-D96B5D8979AF}" srcOrd="0" destOrd="0" presId="urn:microsoft.com/office/officeart/2026/layout/NumberedDotsVertical#1"/>
    <dgm:cxn modelId="{FD1D5D89-6840-4C94-9A22-C6960D4CC674}" srcId="{3B368380-240A-4ED5-BE68-28D9BD23F525}" destId="{C16BA247-F932-4778-B645-253F567E5419}" srcOrd="3" destOrd="0" parTransId="{F670101D-89ED-4257-B426-54E07C465F23}" sibTransId="{1810DF9E-F57A-4FAA-ACED-F235D2BA5B67}"/>
    <dgm:cxn modelId="{B0752692-5D17-45A4-963F-94EE82F34786}" srcId="{9200789E-D309-43A4-9F8C-D2A57918EAD4}" destId="{FB16A443-97BC-48CD-A3D5-3CF5B5BC97FE}" srcOrd="0" destOrd="0" parTransId="{E5054CFD-6FB9-4A0B-A034-9764E58FB769}" sibTransId="{F3783EFA-060A-41EA-B5F6-2AF5B5B18AA7}"/>
    <dgm:cxn modelId="{0CD5D795-EEE4-4896-9A7B-F3ACA66D5FCB}" type="presOf" srcId="{8BE14B9D-C0CE-457A-9212-539C03A27626}" destId="{89B5CBFC-CC1D-419B-B929-809221DEDF4D}" srcOrd="0" destOrd="0" presId="urn:microsoft.com/office/officeart/2026/layout/NumberedDotsVertical#1"/>
    <dgm:cxn modelId="{A58AE298-6F91-4031-BC28-C7B8FD9E81B7}" type="presOf" srcId="{30A13400-A516-487F-9864-D1F2AFA01AF0}" destId="{8E377717-58BB-427B-9580-B20072DDF6E5}" srcOrd="1" destOrd="0" presId="urn:microsoft.com/office/officeart/2026/layout/NumberedDotsVertical#1"/>
    <dgm:cxn modelId="{5E5482AF-8DE4-4ABC-8159-049E8B76FAB9}" type="presOf" srcId="{FB16A443-97BC-48CD-A3D5-3CF5B5BC97FE}" destId="{C1A9C91D-483A-4851-A2F2-6DB78BBBB0F1}" srcOrd="0" destOrd="0" presId="urn:microsoft.com/office/officeart/2026/layout/NumberedDotsVertical#1"/>
    <dgm:cxn modelId="{8618BDC7-516A-4FB0-83EA-1A4F55D98775}" srcId="{D3BBE444-CF1C-4EE2-A06D-745C645D76EF}" destId="{676C24A7-319F-43D6-BAE1-E46D33DEC514}" srcOrd="0" destOrd="0" parTransId="{F57AF2CB-6201-4AF0-BAB3-DDFDDE503E67}" sibTransId="{E64665AC-9D00-4743-9F2C-1C9674245E72}"/>
    <dgm:cxn modelId="{B38011CF-EAA1-4C74-A01E-31C81C1EC88C}" type="presOf" srcId="{3B368380-240A-4ED5-BE68-28D9BD23F525}" destId="{0B0F2BD7-C139-413C-9614-563FB34BE2E5}" srcOrd="0" destOrd="0" presId="urn:microsoft.com/office/officeart/2026/layout/NumberedDotsVertical#1"/>
    <dgm:cxn modelId="{805D02D4-F889-4A96-9F96-2FF2989AB277}" srcId="{184FCC43-3943-43B2-8DBD-6B30C61074E9}" destId="{D6F86F3B-4F89-4F5F-8ACA-291ADBE94603}" srcOrd="0" destOrd="0" parTransId="{4A64EC2A-0352-4621-BEED-6A8559BBDDA8}" sibTransId="{1126D927-FB88-449F-B30A-795588B37D41}"/>
    <dgm:cxn modelId="{4A5DDBD5-E6A4-4018-B331-D82976808269}" srcId="{3B368380-240A-4ED5-BE68-28D9BD23F525}" destId="{184FCC43-3943-43B2-8DBD-6B30C61074E9}" srcOrd="2" destOrd="0" parTransId="{9840BF1C-2752-4391-BF6B-429B87C04D75}" sibTransId="{30A13400-A516-487F-9864-D1F2AFA01AF0}"/>
    <dgm:cxn modelId="{314571D8-8D3E-4A44-9FA7-235C982601A7}" srcId="{3B368380-240A-4ED5-BE68-28D9BD23F525}" destId="{9200789E-D309-43A4-9F8C-D2A57918EAD4}" srcOrd="1" destOrd="0" parTransId="{D3E77001-9158-440F-9E78-6C3286F839E7}" sibTransId="{6BB0E8A8-9584-4018-AA71-79FAE22E9BC0}"/>
    <dgm:cxn modelId="{C129E1DD-2736-4FEB-86DC-E5FD9CECBFE2}" srcId="{C16BA247-F932-4778-B645-253F567E5419}" destId="{8BE14B9D-C0CE-457A-9212-539C03A27626}" srcOrd="0" destOrd="0" parTransId="{2314569B-622E-47EB-B1BA-3BDEE83557B3}" sibTransId="{719B994F-64C3-431C-B02C-E53021505106}"/>
    <dgm:cxn modelId="{764676FA-FF5A-463A-BECC-E0B57318262C}" type="presOf" srcId="{1810DF9E-F57A-4FAA-ACED-F235D2BA5B67}" destId="{D6B58502-3259-4BBA-B73B-03EE56023EF5}" srcOrd="0" destOrd="0" presId="urn:microsoft.com/office/officeart/2026/layout/NumberedDotsVertical#1"/>
    <dgm:cxn modelId="{E11741FE-6FCE-4C0B-BA6E-2F6CAB708C1E}" type="presOf" srcId="{30A13400-A516-487F-9864-D1F2AFA01AF0}" destId="{BB253A9B-9A36-42EB-8479-37238ED488C7}" srcOrd="0" destOrd="0" presId="urn:microsoft.com/office/officeart/2026/layout/NumberedDotsVertical#1"/>
    <dgm:cxn modelId="{13B2DB4D-D111-448A-969A-4FB7FEAAFDFD}" type="presParOf" srcId="{0B0F2BD7-C139-413C-9614-563FB34BE2E5}" destId="{F02E1592-44C3-4FBB-A2D1-382033E46D0A}" srcOrd="0" destOrd="0" presId="urn:microsoft.com/office/officeart/2026/layout/NumberedDotsVertical#1"/>
    <dgm:cxn modelId="{0FFC43E0-488D-472C-ADF1-F50C950FA04B}" type="presParOf" srcId="{F02E1592-44C3-4FBB-A2D1-382033E46D0A}" destId="{44100712-7405-495B-A03E-A76922C45438}" srcOrd="0" destOrd="0" presId="urn:microsoft.com/office/officeart/2026/layout/NumberedDotsVertical#1"/>
    <dgm:cxn modelId="{16239F74-039C-498E-94C7-7CE2FFB4E173}" type="presParOf" srcId="{44100712-7405-495B-A03E-A76922C45438}" destId="{B640BDFC-71B7-4360-A036-654F4EDB0BC3}" srcOrd="0" destOrd="0" presId="urn:microsoft.com/office/officeart/2026/layout/NumberedDotsVertical#1"/>
    <dgm:cxn modelId="{B4515FC1-86FD-436B-86DE-D616B857DEB3}" type="presParOf" srcId="{44100712-7405-495B-A03E-A76922C45438}" destId="{6315F3F4-B635-47A9-A59A-EFFB0E621816}" srcOrd="1" destOrd="0" presId="urn:microsoft.com/office/officeart/2026/layout/NumberedDotsVertical#1"/>
    <dgm:cxn modelId="{E8EB3E2F-7493-41D3-862C-B206A34EC8AA}" type="presParOf" srcId="{44100712-7405-495B-A03E-A76922C45438}" destId="{57ABC8BC-76B2-4136-B111-4181AD5FEC31}" srcOrd="2" destOrd="0" presId="urn:microsoft.com/office/officeart/2026/layout/NumberedDotsVertical#1"/>
    <dgm:cxn modelId="{7FD65A10-CD25-4AC7-BDC3-F3E8C7B1A4A7}" type="presParOf" srcId="{44100712-7405-495B-A03E-A76922C45438}" destId="{9F3417E4-A2DE-4773-B04A-8686360B425C}" srcOrd="3" destOrd="0" presId="urn:microsoft.com/office/officeart/2026/layout/NumberedDotsVertical#1"/>
    <dgm:cxn modelId="{EF8983CF-A520-4EB1-A553-8367E73823F3}" type="presParOf" srcId="{F02E1592-44C3-4FBB-A2D1-382033E46D0A}" destId="{5A65519B-B577-41EB-B3F0-12EA9AEFC926}" srcOrd="1" destOrd="0" presId="urn:microsoft.com/office/officeart/2026/layout/NumberedDotsVertical#1"/>
    <dgm:cxn modelId="{1E43E7F2-14AB-4DF4-A9FC-935A46141913}" type="presParOf" srcId="{F02E1592-44C3-4FBB-A2D1-382033E46D0A}" destId="{654DE552-3D66-49FC-A020-6CF9C5AA4978}" srcOrd="2" destOrd="0" presId="urn:microsoft.com/office/officeart/2026/layout/NumberedDotsVertical#1"/>
    <dgm:cxn modelId="{311B3A95-8BF9-42A0-B82D-D967BD9EABFA}" type="presParOf" srcId="{654DE552-3D66-49FC-A020-6CF9C5AA4978}" destId="{17483401-60DE-433A-AC6F-71378F83BF72}" srcOrd="0" destOrd="0" presId="urn:microsoft.com/office/officeart/2026/layout/NumberedDotsVertical#1"/>
    <dgm:cxn modelId="{34D1560F-BC18-4345-A671-2267A1233873}" type="presParOf" srcId="{654DE552-3D66-49FC-A020-6CF9C5AA4978}" destId="{218DDDE6-6E0F-4EFD-8347-5A3AA896F59E}" srcOrd="1" destOrd="0" presId="urn:microsoft.com/office/officeart/2026/layout/NumberedDotsVertical#1"/>
    <dgm:cxn modelId="{87C42617-D626-4FDC-802F-572CCA09932B}" type="presParOf" srcId="{654DE552-3D66-49FC-A020-6CF9C5AA4978}" destId="{62FE7F04-96CA-433F-9828-AB8A9AE7F15C}" srcOrd="2" destOrd="0" presId="urn:microsoft.com/office/officeart/2026/layout/NumberedDotsVertical#1"/>
    <dgm:cxn modelId="{289F25F8-8960-45D3-AA32-8FA70198A5FD}" type="presParOf" srcId="{654DE552-3D66-49FC-A020-6CF9C5AA4978}" destId="{C1A9C91D-483A-4851-A2F2-6DB78BBBB0F1}" srcOrd="3" destOrd="0" presId="urn:microsoft.com/office/officeart/2026/layout/NumberedDotsVertical#1"/>
    <dgm:cxn modelId="{F40DD97F-84DA-493E-96CE-BB5B36E93339}" type="presParOf" srcId="{F02E1592-44C3-4FBB-A2D1-382033E46D0A}" destId="{C9AC5CEF-0CAB-4E19-81A1-EB850B2EB181}" srcOrd="3" destOrd="0" presId="urn:microsoft.com/office/officeart/2026/layout/NumberedDotsVertical#1"/>
    <dgm:cxn modelId="{0AF821C1-126F-43CB-8D45-4EACE73F5309}" type="presParOf" srcId="{F02E1592-44C3-4FBB-A2D1-382033E46D0A}" destId="{3055BC45-51FF-40D8-B6B5-DC6EE5F0DA9D}" srcOrd="4" destOrd="0" presId="urn:microsoft.com/office/officeart/2026/layout/NumberedDotsVertical#1"/>
    <dgm:cxn modelId="{DFEC2019-B31D-49AD-9AA8-9AFCB71E7A9D}" type="presParOf" srcId="{3055BC45-51FF-40D8-B6B5-DC6EE5F0DA9D}" destId="{406403C2-3662-45C0-BEED-03C0A6FC1BA7}" srcOrd="0" destOrd="0" presId="urn:microsoft.com/office/officeart/2026/layout/NumberedDotsVertical#1"/>
    <dgm:cxn modelId="{145D8472-CA9C-4910-A722-4A14B161F8EE}" type="presParOf" srcId="{3055BC45-51FF-40D8-B6B5-DC6EE5F0DA9D}" destId="{4DA56647-0A13-455D-9B48-5138717C9B16}" srcOrd="1" destOrd="0" presId="urn:microsoft.com/office/officeart/2026/layout/NumberedDotsVertical#1"/>
    <dgm:cxn modelId="{287880FC-330D-47A3-A692-413EE8899A52}" type="presParOf" srcId="{3055BC45-51FF-40D8-B6B5-DC6EE5F0DA9D}" destId="{BB253A9B-9A36-42EB-8479-37238ED488C7}" srcOrd="2" destOrd="0" presId="urn:microsoft.com/office/officeart/2026/layout/NumberedDotsVertical#1"/>
    <dgm:cxn modelId="{B1DA527E-21E5-4D9E-BB0F-024D64F36CC8}" type="presParOf" srcId="{3055BC45-51FF-40D8-B6B5-DC6EE5F0DA9D}" destId="{06B078C8-43B0-42FC-B8F8-D96B5D8979AF}" srcOrd="3" destOrd="0" presId="urn:microsoft.com/office/officeart/2026/layout/NumberedDotsVertical#1"/>
    <dgm:cxn modelId="{7FC95142-5681-4616-AEA4-E1B93ED38293}" type="presParOf" srcId="{F02E1592-44C3-4FBB-A2D1-382033E46D0A}" destId="{8E377717-58BB-427B-9580-B20072DDF6E5}" srcOrd="5" destOrd="0" presId="urn:microsoft.com/office/officeart/2026/layout/NumberedDotsVertical#1"/>
    <dgm:cxn modelId="{9674319A-0BE0-4E07-919B-6B773C47EB27}" type="presParOf" srcId="{F02E1592-44C3-4FBB-A2D1-382033E46D0A}" destId="{07563B93-C289-4BB5-A1DE-34E8E36BEA9D}" srcOrd="6" destOrd="0" presId="urn:microsoft.com/office/officeart/2026/layout/NumberedDotsVertical#1"/>
    <dgm:cxn modelId="{D2A18258-D459-4375-8F57-9A4932313167}" type="presParOf" srcId="{07563B93-C289-4BB5-A1DE-34E8E36BEA9D}" destId="{0E100E19-98B8-47F9-914D-4FF4487BB877}" srcOrd="0" destOrd="0" presId="urn:microsoft.com/office/officeart/2026/layout/NumberedDotsVertical#1"/>
    <dgm:cxn modelId="{10EACD29-755A-4F5B-9AC1-EF1AFE3E61C5}" type="presParOf" srcId="{07563B93-C289-4BB5-A1DE-34E8E36BEA9D}" destId="{75C00102-3651-41CF-BFE0-CD18F19E2F05}" srcOrd="1" destOrd="0" presId="urn:microsoft.com/office/officeart/2026/layout/NumberedDotsVertical#1"/>
    <dgm:cxn modelId="{B9F22CF8-6B4C-463C-8853-E041553F174C}" type="presParOf" srcId="{07563B93-C289-4BB5-A1DE-34E8E36BEA9D}" destId="{D6B58502-3259-4BBA-B73B-03EE56023EF5}" srcOrd="2" destOrd="0" presId="urn:microsoft.com/office/officeart/2026/layout/NumberedDotsVertical#1"/>
    <dgm:cxn modelId="{4C74858A-F798-445B-BB03-75B857B93897}" type="presParOf" srcId="{07563B93-C289-4BB5-A1DE-34E8E36BEA9D}" destId="{89B5CBFC-CC1D-419B-B929-809221DEDF4D}" srcOrd="3" destOrd="0" presId="urn:microsoft.com/office/officeart/2026/layout/NumberedDotsVertical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15F3F4-B635-47A9-A59A-EFFB0E621816}">
      <dsp:nvSpPr>
        <dsp:cNvPr id="0" name=""/>
        <dsp:cNvSpPr/>
      </dsp:nvSpPr>
      <dsp:spPr>
        <a:xfrm>
          <a:off x="1489300" y="71"/>
          <a:ext cx="6074870" cy="432835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1430" rIns="22860" bIns="11430" numCol="1" spcCol="1270" anchor="b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it-IT" sz="1800" kern="1200" dirty="0"/>
            <a:t>Tasso di utilizzo delle ambulanze</a:t>
          </a:r>
        </a:p>
      </dsp:txBody>
      <dsp:txXfrm>
        <a:off x="1489300" y="71"/>
        <a:ext cx="6074870" cy="432835"/>
      </dsp:txXfrm>
    </dsp:sp>
    <dsp:sp modelId="{57ABC8BC-76B2-4136-B111-4181AD5FEC31}">
      <dsp:nvSpPr>
        <dsp:cNvPr id="0" name=""/>
        <dsp:cNvSpPr/>
      </dsp:nvSpPr>
      <dsp:spPr>
        <a:xfrm>
          <a:off x="479443" y="34698"/>
          <a:ext cx="796417" cy="796417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sz="3600" kern="1200"/>
            <a:t>1</a:t>
          </a:r>
        </a:p>
      </dsp:txBody>
      <dsp:txXfrm>
        <a:off x="596076" y="151331"/>
        <a:ext cx="563151" cy="563151"/>
      </dsp:txXfrm>
    </dsp:sp>
    <dsp:sp modelId="{9F3417E4-A2DE-4773-B04A-8686360B425C}">
      <dsp:nvSpPr>
        <dsp:cNvPr id="0" name=""/>
        <dsp:cNvSpPr/>
      </dsp:nvSpPr>
      <dsp:spPr>
        <a:xfrm>
          <a:off x="1489300" y="432907"/>
          <a:ext cx="6074870" cy="432835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8255" rIns="16510" bIns="8255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300" kern="1200" dirty="0">
              <a:solidFill>
                <a:srgbClr val="000000"/>
              </a:solidFill>
            </a:rPr>
            <a:t>Rapporto tra il tempo di servizio effettivo e il tempo di lavoro totale disponibile</a:t>
          </a:r>
        </a:p>
      </dsp:txBody>
      <dsp:txXfrm>
        <a:off x="1489300" y="432907"/>
        <a:ext cx="6074870" cy="432835"/>
      </dsp:txXfrm>
    </dsp:sp>
    <dsp:sp modelId="{5A65519B-B577-41EB-B3F0-12EA9AEFC926}">
      <dsp:nvSpPr>
        <dsp:cNvPr id="0" name=""/>
        <dsp:cNvSpPr/>
      </dsp:nvSpPr>
      <dsp:spPr>
        <a:xfrm rot="5400000">
          <a:off x="808398" y="889981"/>
          <a:ext cx="138507" cy="20776"/>
        </a:xfrm>
        <a:prstGeom prst="rect">
          <a:avLst/>
        </a:prstGeom>
        <a:solidFill>
          <a:schemeClr val="dk2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sz="3600" kern="1200"/>
            <a:t>1</a:t>
          </a:r>
        </a:p>
      </dsp:txBody>
      <dsp:txXfrm rot="-5400000">
        <a:off x="596076" y="151331"/>
        <a:ext cx="563151" cy="563151"/>
      </dsp:txXfrm>
    </dsp:sp>
    <dsp:sp modelId="{218DDDE6-6E0F-4EFD-8347-5A3AA896F59E}">
      <dsp:nvSpPr>
        <dsp:cNvPr id="0" name=""/>
        <dsp:cNvSpPr/>
      </dsp:nvSpPr>
      <dsp:spPr>
        <a:xfrm>
          <a:off x="1489300" y="934996"/>
          <a:ext cx="6074870" cy="432835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1430" rIns="22860" bIns="11430" numCol="1" spcCol="1270" anchor="b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it-IT" sz="1800" kern="1200" dirty="0"/>
            <a:t>Tempo di risposta medio</a:t>
          </a:r>
        </a:p>
      </dsp:txBody>
      <dsp:txXfrm>
        <a:off x="1489300" y="934996"/>
        <a:ext cx="6074870" cy="432835"/>
      </dsp:txXfrm>
    </dsp:sp>
    <dsp:sp modelId="{62FE7F04-96CA-433F-9828-AB8A9AE7F15C}">
      <dsp:nvSpPr>
        <dsp:cNvPr id="0" name=""/>
        <dsp:cNvSpPr/>
      </dsp:nvSpPr>
      <dsp:spPr>
        <a:xfrm>
          <a:off x="479443" y="969623"/>
          <a:ext cx="796417" cy="796417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sz="3600" kern="1200"/>
            <a:t>2</a:t>
          </a:r>
        </a:p>
      </dsp:txBody>
      <dsp:txXfrm>
        <a:off x="596076" y="1086256"/>
        <a:ext cx="563151" cy="563151"/>
      </dsp:txXfrm>
    </dsp:sp>
    <dsp:sp modelId="{C1A9C91D-483A-4851-A2F2-6DB78BBBB0F1}">
      <dsp:nvSpPr>
        <dsp:cNvPr id="0" name=""/>
        <dsp:cNvSpPr/>
      </dsp:nvSpPr>
      <dsp:spPr>
        <a:xfrm>
          <a:off x="1489300" y="1367831"/>
          <a:ext cx="6074870" cy="432835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8255" rIns="16510" bIns="8255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300" kern="1200" dirty="0">
              <a:solidFill>
                <a:srgbClr val="000000"/>
              </a:solidFill>
            </a:rPr>
            <a:t>Intervallo di tempo delle fasi: triage, assegnazione, partenza, viaggio sul target.</a:t>
          </a:r>
        </a:p>
      </dsp:txBody>
      <dsp:txXfrm>
        <a:off x="1489300" y="1367831"/>
        <a:ext cx="6074870" cy="432835"/>
      </dsp:txXfrm>
    </dsp:sp>
    <dsp:sp modelId="{C9AC5CEF-0CAB-4E19-81A1-EB850B2EB181}">
      <dsp:nvSpPr>
        <dsp:cNvPr id="0" name=""/>
        <dsp:cNvSpPr/>
      </dsp:nvSpPr>
      <dsp:spPr>
        <a:xfrm rot="5400000">
          <a:off x="808398" y="1824905"/>
          <a:ext cx="138507" cy="20776"/>
        </a:xfrm>
        <a:prstGeom prst="rect">
          <a:avLst/>
        </a:prstGeom>
        <a:solidFill>
          <a:schemeClr val="dk2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sz="3600" kern="1200"/>
            <a:t>2</a:t>
          </a:r>
        </a:p>
      </dsp:txBody>
      <dsp:txXfrm rot="-5400000">
        <a:off x="596076" y="1086256"/>
        <a:ext cx="563151" cy="563151"/>
      </dsp:txXfrm>
    </dsp:sp>
    <dsp:sp modelId="{4DA56647-0A13-455D-9B48-5138717C9B16}">
      <dsp:nvSpPr>
        <dsp:cNvPr id="0" name=""/>
        <dsp:cNvSpPr/>
      </dsp:nvSpPr>
      <dsp:spPr>
        <a:xfrm>
          <a:off x="1489300" y="1869920"/>
          <a:ext cx="6074870" cy="432835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1430" rIns="22860" bIns="11430" numCol="1" spcCol="1270" anchor="b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it-IT" sz="1800" kern="1200" dirty="0"/>
            <a:t>Coverage (≤ 20 minuti)</a:t>
          </a:r>
        </a:p>
      </dsp:txBody>
      <dsp:txXfrm>
        <a:off x="1489300" y="1869920"/>
        <a:ext cx="6074870" cy="432835"/>
      </dsp:txXfrm>
    </dsp:sp>
    <dsp:sp modelId="{BB253A9B-9A36-42EB-8479-37238ED488C7}">
      <dsp:nvSpPr>
        <dsp:cNvPr id="0" name=""/>
        <dsp:cNvSpPr/>
      </dsp:nvSpPr>
      <dsp:spPr>
        <a:xfrm>
          <a:off x="479443" y="1904547"/>
          <a:ext cx="796417" cy="796417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sz="3600" kern="1200"/>
            <a:t>3</a:t>
          </a:r>
        </a:p>
      </dsp:txBody>
      <dsp:txXfrm>
        <a:off x="596076" y="2021180"/>
        <a:ext cx="563151" cy="563151"/>
      </dsp:txXfrm>
    </dsp:sp>
    <dsp:sp modelId="{06B078C8-43B0-42FC-B8F8-D96B5D8979AF}">
      <dsp:nvSpPr>
        <dsp:cNvPr id="0" name=""/>
        <dsp:cNvSpPr/>
      </dsp:nvSpPr>
      <dsp:spPr>
        <a:xfrm>
          <a:off x="1489300" y="2302756"/>
          <a:ext cx="6074870" cy="432835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8255" rIns="16510" bIns="8255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300" kern="1200" dirty="0">
              <a:solidFill>
                <a:srgbClr val="000000"/>
              </a:solidFill>
            </a:rPr>
            <a:t>Percentuale di chiamate per le quali il tempo di risposta non supera i 20 minuti. </a:t>
          </a:r>
        </a:p>
      </dsp:txBody>
      <dsp:txXfrm>
        <a:off x="1489300" y="2302756"/>
        <a:ext cx="6074870" cy="432835"/>
      </dsp:txXfrm>
    </dsp:sp>
    <dsp:sp modelId="{8E377717-58BB-427B-9580-B20072DDF6E5}">
      <dsp:nvSpPr>
        <dsp:cNvPr id="0" name=""/>
        <dsp:cNvSpPr/>
      </dsp:nvSpPr>
      <dsp:spPr>
        <a:xfrm rot="5400000">
          <a:off x="808398" y="2759830"/>
          <a:ext cx="138507" cy="20776"/>
        </a:xfrm>
        <a:prstGeom prst="rect">
          <a:avLst/>
        </a:prstGeom>
        <a:solidFill>
          <a:schemeClr val="dk2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sz="3600" kern="1200"/>
            <a:t>3</a:t>
          </a:r>
        </a:p>
      </dsp:txBody>
      <dsp:txXfrm rot="-5400000">
        <a:off x="596076" y="2021180"/>
        <a:ext cx="563151" cy="563151"/>
      </dsp:txXfrm>
    </dsp:sp>
    <dsp:sp modelId="{75C00102-3651-41CF-BFE0-CD18F19E2F05}">
      <dsp:nvSpPr>
        <dsp:cNvPr id="0" name=""/>
        <dsp:cNvSpPr/>
      </dsp:nvSpPr>
      <dsp:spPr>
        <a:xfrm>
          <a:off x="1489300" y="2804845"/>
          <a:ext cx="6074870" cy="432835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1430" rIns="22860" bIns="11430" numCol="1" spcCol="1270" anchor="b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it-IT" sz="1800" kern="1200" dirty="0"/>
            <a:t>Peggiori 5% dei tempi di risposta (CVaR95%) </a:t>
          </a:r>
        </a:p>
      </dsp:txBody>
      <dsp:txXfrm>
        <a:off x="1489300" y="2804845"/>
        <a:ext cx="6074870" cy="432835"/>
      </dsp:txXfrm>
    </dsp:sp>
    <dsp:sp modelId="{D6B58502-3259-4BBA-B73B-03EE56023EF5}">
      <dsp:nvSpPr>
        <dsp:cNvPr id="0" name=""/>
        <dsp:cNvSpPr/>
      </dsp:nvSpPr>
      <dsp:spPr>
        <a:xfrm>
          <a:off x="479443" y="2839472"/>
          <a:ext cx="796417" cy="796417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sz="3600" kern="1200"/>
            <a:t>4</a:t>
          </a:r>
        </a:p>
      </dsp:txBody>
      <dsp:txXfrm>
        <a:off x="596076" y="2956105"/>
        <a:ext cx="563151" cy="563151"/>
      </dsp:txXfrm>
    </dsp:sp>
    <dsp:sp modelId="{89B5CBFC-CC1D-419B-B929-809221DEDF4D}">
      <dsp:nvSpPr>
        <dsp:cNvPr id="0" name=""/>
        <dsp:cNvSpPr/>
      </dsp:nvSpPr>
      <dsp:spPr>
        <a:xfrm>
          <a:off x="1489300" y="3237680"/>
          <a:ext cx="6074870" cy="432835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8255" rIns="16510" bIns="8255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300" kern="1200" dirty="0">
              <a:solidFill>
                <a:srgbClr val="000000"/>
              </a:solidFill>
            </a:rPr>
            <a:t>Media del 5% dei tempi di risposta peggiori registrati nella coda della distribuzione. Misura l’equità del servizio per il cittadino.</a:t>
          </a:r>
        </a:p>
      </dsp:txBody>
      <dsp:txXfrm>
        <a:off x="1489300" y="3237680"/>
        <a:ext cx="6074870" cy="4328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26/layout/NumberedDotsVertical#1">
  <dgm:title val=""/>
  <dgm:desc val=""/>
  <dgm:catLst>
    <dgm:cat type="timeline" pri="106"/>
  </dgm:catLst>
  <dgm:sampData>
    <dgm:dataModel>
      <dgm:ptLst>
        <dgm:pt modelId="0" type="doc"/>
        <dgm:pt modelId="100">
          <dgm:prSet phldrT="Add an event" phldr="1"/>
        </dgm:pt>
        <dgm:pt modelId="101">
          <dgm:prSet phldrT="Write a description of the significance of this event" phldr="1"/>
        </dgm:pt>
        <dgm:pt modelId="200">
          <dgm:prSet phldrT="Add an event" phldr="1"/>
        </dgm:pt>
        <dgm:pt modelId="201">
          <dgm:prSet phldrT="Write a description of the significance of this event" phldr="1"/>
        </dgm:pt>
        <dgm:pt modelId="300">
          <dgm:prSet phldrT="Add an event" phldr="1"/>
        </dgm:pt>
        <dgm:pt modelId="301">
          <dgm:prSet phldrT="Write a description of the significance of this event" phldr="1"/>
        </dgm:pt>
        <dgm:pt modelId="400">
          <dgm:prSet phldrT="Add an event" phldr="1"/>
        </dgm:pt>
        <dgm:pt modelId="401">
          <dgm:prSet phldrT="Write a description of the significance of this event" phldr="1"/>
        </dgm:pt>
        <dgm:pt modelId="500">
          <dgm:prSet phldrT="Add an event" phldr="1"/>
        </dgm:pt>
        <dgm:pt modelId="501">
          <dgm:prSet phldrT="Write a description of the significance of this event" phldr="1"/>
        </dgm:pt>
        <dgm:pt modelId="1100" type="sibTrans" cxnId="{390F3A6B-427B-458B-BC89-7B1C04D95223}">
          <dgm:prSet phldrT="1"/>
          <dgm:t>
            <a:bodyPr/>
            <a:lstStyle/>
            <a:p>
              <a:r>
                <a:t>1</a:t>
              </a:r>
            </a:p>
          </dgm:t>
        </dgm:pt>
        <dgm:pt modelId="1200" type="sibTrans" cxnId="{08E5065A-F54E-4836-806B-D3239D8B229D}">
          <dgm:prSet phldrT="2"/>
          <dgm:t>
            <a:bodyPr/>
            <a:lstStyle/>
            <a:p>
              <a:r>
                <a:t>2</a:t>
              </a:r>
            </a:p>
          </dgm:t>
        </dgm:pt>
        <dgm:pt modelId="1300" type="sibTrans" cxnId="{38C84925-E07B-4FAF-A9BD-748E7EEFB7A1}">
          <dgm:prSet phldrT="3"/>
          <dgm:t>
            <a:bodyPr/>
            <a:lstStyle/>
            <a:p>
              <a:r>
                <a:t>3</a:t>
              </a:r>
            </a:p>
          </dgm:t>
        </dgm:pt>
        <dgm:pt modelId="1400" type="sibTrans" cxnId="{01A6E880-2BF4-497E-8D24-4FAB994C446B}">
          <dgm:prSet phldrT="4"/>
          <dgm:t>
            <a:bodyPr/>
            <a:lstStyle/>
            <a:p>
              <a:r>
                <a:t>4</a:t>
              </a:r>
            </a:p>
          </dgm:t>
        </dgm:pt>
        <dgm:pt modelId="1500" type="sibTrans" cxnId="{5C343175-DA79-47DA-A65E-91DB04918322}">
          <dgm:prSet phldrT="5"/>
          <dgm:t>
            <a:bodyPr/>
            <a:lstStyle/>
            <a:p>
              <a:r>
                <a:t>5</a:t>
              </a:r>
            </a:p>
          </dgm:t>
        </dgm:pt>
      </dgm:ptLst>
      <dgm:cxnLst>
        <dgm:cxn modelId="1000" srcId="0" destId="100" srcOrd="0" destOrd="0" sibTransId="1100"/>
        <dgm:cxn modelId="1001" srcId="100" destId="101" srcOrd="0" destOrd="0"/>
        <dgm:cxn modelId="2000" srcId="0" destId="200" srcOrd="1" destOrd="0" sibTransId="1200"/>
        <dgm:cxn modelId="2001" srcId="200" destId="201" srcOrd="0" destOrd="0"/>
        <dgm:cxn modelId="3000" srcId="0" destId="300" srcOrd="2" destOrd="0" sibTransId="1300"/>
        <dgm:cxn modelId="3001" srcId="300" destId="301" srcOrd="0" destOrd="0"/>
        <dgm:cxn modelId="4000" srcId="0" destId="400" srcOrd="3" destOrd="0" sibTransId="1400"/>
        <dgm:cxn modelId="4001" srcId="400" destId="401" srcOrd="0" destOrd="0"/>
        <dgm:cxn modelId="5000" srcId="0" destId="500" srcOrd="4" destOrd="0" sibTransId="1500"/>
        <dgm:cxn modelId="5001" srcId="500" destId="50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l" for="ch" forName="itemsFlow"/>
      <dgm:constr type="w" for="ch" forName="itemsFlow" refType="w"/>
      <dgm:constr type="t" for="ch" forName="itemsFlow"/>
      <dgm:constr type="h" for="ch" forName="itemsFlow" refType="h"/>
    </dgm:constrLst>
    <dgm:ruleLst/>
    <dgm:layoutNode name="itemsFlow">
      <dgm:alg type="lin">
        <dgm:param type="linDir" val="fromT"/>
        <dgm:param type="fallback" val="1D"/>
      </dgm:alg>
      <dgm:shape xmlns:r="http://schemas.openxmlformats.org/officeDocument/2006/relationships" r:blip="">
        <dgm:adjLst/>
      </dgm:shape>
      <dgm:presOf/>
      <dgm:constrLst>
        <dgm:constr type="w" for="ch" forName="item" refType="w"/>
        <dgm:constr type="h" for="ch" forName="item" refType="h"/>
        <dgm:constr type="h" for="ch" forName="connector" refType="h" refFor="ch" refForName="item" fact="0.08"/>
        <dgm:constr type="w" for="ch" forName="connector" refType="w" fact="0.5"/>
        <dgm:constr type="stemThick" for="ch" forName="connector" op="lte" val="38100"/>
        <dgm:constr type="primFontSz" for="des" forName="titleText" op="equ"/>
        <dgm:constr type="primFontSz" for="des" forName="titleTextCentered" op="equ"/>
        <dgm:constr type="primFontSz" for="des" forName="descText" op="equ"/>
      </dgm:constrLst>
      <dgm:ruleLst/>
      <dgm:forEach name="nodesForEach" axis="ch" ptType="node">
        <dgm:layoutNode name="item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anchor"/>
            <dgm:constr type="t" for="ch" forName="anchor"/>
            <dgm:constr type="w" for="ch" forName="anchor" refType="w"/>
            <dgm:constr type="h" for="ch" forName="anchor" refType="h"/>
            <dgm:constr type="ctrX" for="ch" forName="numCircle" refType="h" refFor="ch" refForName="numCircle" fact="1.102"/>
            <dgm:constr type="ctrX" for="ch" forName="numCircle" refType="w" op="lte" fact="0.5"/>
            <dgm:constr type="ctrY" for="ch" forName="numCircle" refType="h" fact="0.5"/>
            <dgm:constr type="w" for="ch" forName="numCircle" refType="h" op="equ" fact="0.92"/>
            <dgm:constr type="h" for="ch" forName="numCircle" refType="h" op="equ" fact="0.92"/>
            <dgm:constr type="w" for="ch" forName="numCircle" refType="w" op="lte" fact="0.139"/>
            <dgm:constr type="h" for="ch" forName="numCircle" refType="w" op="lte" fact="0.139"/>
            <dgm:constr type="l" for="ch" forName="titleText" refType="h" refFor="ch" refForName="numCircle" fact="1.87"/>
            <dgm:constr type="t" for="ch" forName="titleText" refType="h" fact="0"/>
            <dgm:constr type="w" for="ch" forName="titleText" refType="w" fact="0.74"/>
            <dgm:constr type="h" for="ch" forName="titleText" refType="h" fact="0.5"/>
            <dgm:constr type="l" for="ch" forName="titleTextCentered" refType="h" refFor="ch" refForName="numCircle" fact="1.87"/>
            <dgm:constr type="t" for="ch" forName="titleTextCentered" refType="h" fact="0"/>
            <dgm:constr type="w" for="ch" forName="titleTextCentered" refType="w" fact="0.74"/>
            <dgm:constr type="h" for="ch" forName="titleTextCentered" refType="h"/>
            <dgm:constr type="l" for="ch" forName="descText" refType="h" refFor="ch" refForName="numCircle" fact="1.87"/>
            <dgm:constr type="t" for="ch" forName="descText" refType="h" fact="0.5"/>
            <dgm:constr type="w" for="ch" forName="descText" refType="w" fact="0.74"/>
            <dgm:constr type="h" for="ch" forName="descText" refType="h" fact="0.5"/>
            <dgm:constr type="l" for="ch" forName="descSpacer" refType="h" refFor="ch" refForName="numCircle" fact="1.87"/>
            <dgm:constr type="t" for="ch" forName="descSpacer" refType="h" fact="0.5"/>
            <dgm:constr type="w" for="ch" forName="descSpacer" refType="w" fact="0.74"/>
            <dgm:constr type="h" for="ch" forName="descSpacer" refType="h" fact="0.5"/>
          </dgm:constrLst>
          <dgm:ruleLst/>
          <dgm:layoutNode name="ancho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choose name="hasDescChoose">
            <dgm:if name="hasDesc" axis="ch" ptType="node" func="cnt" op="gte" val="1">
              <dgm:layoutNode name="titleText" styleLbl="revTx">
                <dgm:varLst>
                  <dgm:chMax val="0"/>
                  <dgm:chPref val="0"/>
                </dgm:varLst>
                <dgm:alg type="tx">
                  <dgm:param type="txAnchorVert" val="b"/>
                  <dgm:param type="parTxLTRAlign" val="l"/>
                  <dgm:param type="parTxRTLAlign" val="r"/>
                </dgm:alg>
                <dgm:shape xmlns:r="http://schemas.openxmlformats.org/officeDocument/2006/relationships" type="rect" r:blip="" hideGeom="1">
                  <dgm:adjLst/>
                </dgm:shape>
                <dgm:presOf axis="self" ptType="node"/>
                <dgm:constrLst>
                  <dgm:constr type="primFontSz" val="18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  <dgm:ruleLst>
                  <dgm:rule type="primFontSz" val="8" fact="NaN" max="NaN"/>
                </dgm:ruleLst>
              </dgm:layoutNode>
            </dgm:if>
            <dgm:else name="noDesc">
              <dgm:layoutNode name="titleTextCentered" styleLbl="revTx">
                <dgm:varLst>
                  <dgm:chMax val="0"/>
                  <dgm:chPref val="0"/>
                </dgm:varLst>
                <dgm:alg type="tx">
                  <dgm:param type="txAnchorVert" val="mid"/>
                  <dgm:param type="parTxLTRAlign" val="l"/>
                  <dgm:param type="parTxRTLAlign" val="r"/>
                </dgm:alg>
                <dgm:shape xmlns:r="http://schemas.openxmlformats.org/officeDocument/2006/relationships" type="rect" r:blip="" hideGeom="1">
                  <dgm:adjLst/>
                </dgm:shape>
                <dgm:presOf axis="self" ptType="node"/>
                <dgm:constrLst>
                  <dgm:constr type="primFontSz" val="18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  <dgm:ruleLst>
                  <dgm:rule type="primFontSz" val="8" fact="NaN" max="NaN"/>
                </dgm:ruleLst>
              </dgm:layoutNode>
            </dgm:else>
          </dgm:choose>
          <dgm:forEach name="numForEach" axis="followSib" ptType="sibTrans" hideLastTrans="0" cnt="1">
            <dgm:layoutNode name="numCircle" styleLbl="node1NoLn">
              <dgm:varLst>
                <dgm:chMax val="0"/>
                <dgm:bulletEnabled/>
              </dgm:varLst>
              <dgm:alg type="tx">
                <dgm:param type="txAnchorVert" val="mid"/>
                <dgm:param type="txAnchorHorzCh" val="ctr"/>
              </dgm:alg>
              <dgm:shape xmlns:r="http://schemas.openxmlformats.org/officeDocument/2006/relationships" type="ellipse" r:blip="">
                <dgm:adjLst/>
              </dgm:shape>
              <dgm:presOf axis="self" ptType="sibTrans"/>
              <dgm:constrLst>
                <dgm:constr type="primFontSz" val="36"/>
                <dgm:constr type="tMarg" refType="primFontSz" fact="0.05"/>
                <dgm:constr type="bMarg" refType="primFontSz" fact="0.05"/>
                <dgm:constr type="lMarg" refType="primFontSz" fact="0.05"/>
                <dgm:constr type="rMarg" refType="primFontSz" fact="0.05"/>
              </dgm:constrLst>
              <dgm:ruleLst>
                <dgm:rule type="primFontSz" val="6" fact="NaN" max="NaN"/>
              </dgm:ruleLst>
            </dgm:layoutNode>
          </dgm:forEach>
          <dgm:choose name="descChoose">
            <dgm:if name="showDesc" axis="ch" ptType="node" func="cnt" op="gte" val="1">
              <dgm:layoutNode name="descText" styleLbl="revTx">
                <dgm:varLst>
                  <dgm:chMax val="0"/>
                  <dgm:chPref val="0"/>
                </dgm:varLst>
                <dgm:alg type="tx">
                  <dgm:param type="txAnchorVert" val="t"/>
                  <dgm:param type="parTxLTRAlign" val="l"/>
                  <dgm:param type="parTxRTLAlign" val="r"/>
                </dgm:alg>
                <dgm:shape xmlns:r="http://schemas.openxmlformats.org/officeDocument/2006/relationships" type="rect" r:blip="" hideGeom="1">
                  <dgm:adjLst/>
                </dgm:shape>
                <dgm:presOf axis="des" ptType="node"/>
                <dgm:constrLst>
                  <dgm:constr type="secFontSz" val="14"/>
                  <dgm:constr type="primFontSz" refType="secFontSz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  <dgm:ruleLst>
                  <dgm:rule type="primFontSz" val="7" fact="NaN" max="NaN"/>
                </dgm:ruleLst>
              </dgm:layoutNode>
            </dgm:if>
            <dgm:else name="noDescSpacer">
              <dgm:layoutNode name="descSpacer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else>
          </dgm:choose>
        </dgm:layoutNode>
        <dgm:forEach name="sibTransForEach" axis="followSib" ptType="sibTrans" cnt="1">
          <dgm:layoutNode name="connector" styleLbl="dkBgShp">
            <dgm:alg type="conn">
              <dgm:param type="begPts" val="auto"/>
              <dgm:param type="endPts" val="auto"/>
              <dgm:param type="srcNode" val="numCircle"/>
              <dgm:param type="dstNode" val="numCircle"/>
              <dgm:param type="begSty" val="noArr"/>
              <dgm:param type="endSty" val="noArr"/>
              <dgm:param type="connRout" val="stra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connDist"/>
              <dgm:constr type="begPad"/>
              <dgm:constr type="endPad"/>
              <dgm:constr type="stemThick" refType="h" fact="0.3"/>
            </dgm:constrLst>
            <dgm:ruleLst/>
          </dgm:layoutNode>
        </dgm:forEach>
      </dgm:forEach>
    </dgm:layoutNode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lain"/>
          </dgm1611:buPr>
        </dgm1611:autoBuNodeInfo>
      </dgm1611:autoBuNodeInfoLst>
    </a:ex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3D4FB9BF-116C-56CA-370F-09BF90C8AF3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endParaRPr lang="it-IT" altLang="it-IT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47F1CDC5-636F-3768-6115-60DDAB24BC92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endParaRPr lang="it-IT" altLang="it-IT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60D7CFF5-9E46-DC48-F9C7-785DA2F99CD1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endParaRPr lang="it-IT" altLang="it-IT"/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B881BA90-FDC6-1319-E4DE-A70479856A7D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9391ECF7-36E8-4496-A16C-23B0E1D9736B}" type="slidenum">
              <a:rPr lang="it-IT" altLang="it-IT"/>
              <a:pPr/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9:08:36.6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9:08:40.9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9:08:36.6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29T09:08:40.9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FF56AF2E-F811-D733-3C40-C487B2FB725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endParaRPr lang="it-IT" altLang="it-IT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FCD5765E-1769-9C4B-D64E-303F24C9D395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endParaRPr lang="it-IT" altLang="it-IT"/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18DFAAAC-50F3-1864-02B0-957D5B51F7FD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5125" name="Rectangle 5">
            <a:extLst>
              <a:ext uri="{FF2B5EF4-FFF2-40B4-BE49-F238E27FC236}">
                <a16:creationId xmlns:a16="http://schemas.microsoft.com/office/drawing/2014/main" id="{BD9CDCE7-C5F2-084D-1FA5-99E02BE1888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gli stili del testo dello schema</a:t>
            </a:r>
          </a:p>
          <a:p>
            <a:pPr lvl="1"/>
            <a:r>
              <a:rPr lang="it-IT" altLang="it-IT"/>
              <a:t>Secondo livello</a:t>
            </a:r>
          </a:p>
          <a:p>
            <a:pPr lvl="2"/>
            <a:r>
              <a:rPr lang="it-IT" altLang="it-IT"/>
              <a:t>Terzo livello</a:t>
            </a:r>
          </a:p>
          <a:p>
            <a:pPr lvl="3"/>
            <a:r>
              <a:rPr lang="it-IT" altLang="it-IT"/>
              <a:t>Quarto livello</a:t>
            </a:r>
          </a:p>
          <a:p>
            <a:pPr lvl="4"/>
            <a:r>
              <a:rPr lang="it-IT" altLang="it-IT"/>
              <a:t>Quinto livello</a:t>
            </a:r>
          </a:p>
        </p:txBody>
      </p:sp>
      <p:sp>
        <p:nvSpPr>
          <p:cNvPr id="5126" name="Rectangle 6">
            <a:extLst>
              <a:ext uri="{FF2B5EF4-FFF2-40B4-BE49-F238E27FC236}">
                <a16:creationId xmlns:a16="http://schemas.microsoft.com/office/drawing/2014/main" id="{6E344130-A6FE-FD35-CAF1-5A70EEA7F9B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endParaRPr lang="it-IT" altLang="it-IT"/>
          </a:p>
        </p:txBody>
      </p:sp>
      <p:sp>
        <p:nvSpPr>
          <p:cNvPr id="5127" name="Rectangle 7">
            <a:extLst>
              <a:ext uri="{FF2B5EF4-FFF2-40B4-BE49-F238E27FC236}">
                <a16:creationId xmlns:a16="http://schemas.microsoft.com/office/drawing/2014/main" id="{EC72C57C-841A-2E89-6692-45A91E65249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4DA44811-E55B-4168-BFCB-8B91D5F972A4}" type="slidenum">
              <a:rPr lang="it-IT" altLang="it-IT"/>
              <a:pPr/>
              <a:t>‹N›</a:t>
            </a:fld>
            <a:endParaRPr lang="it-IT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B87C90AD-CED5-D801-498F-9A7F65D8E7C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1ED0C74-0A82-43D7-8919-12CB131594CF}" type="slidenum">
              <a:rPr lang="it-IT" altLang="it-IT"/>
              <a:pPr/>
              <a:t>1</a:t>
            </a:fld>
            <a:endParaRPr lang="it-IT" altLang="it-IT"/>
          </a:p>
        </p:txBody>
      </p:sp>
      <p:sp>
        <p:nvSpPr>
          <p:cNvPr id="35842" name="Rectangle 2">
            <a:extLst>
              <a:ext uri="{FF2B5EF4-FFF2-40B4-BE49-F238E27FC236}">
                <a16:creationId xmlns:a16="http://schemas.microsoft.com/office/drawing/2014/main" id="{87C524D3-92D5-2E5B-A03F-B158B59CDE0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it-IT"/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3AB4679D-BE1B-6E79-D32D-1107E727C1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it-IT" altLang="it-IT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259DCB93-924D-63E6-0D15-98D52C42856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0542DD4-35E7-483D-A876-8DE66A1E2055}" type="slidenum">
              <a:rPr lang="it-IT" altLang="it-IT"/>
              <a:pPr/>
              <a:t>2</a:t>
            </a:fld>
            <a:endParaRPr lang="it-IT" altLang="it-IT"/>
          </a:p>
        </p:txBody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91DACAD2-9808-D921-0A84-226A95049DB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it-IT"/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EC53F753-F900-A806-1E39-12BAE0D439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it-IT" altLang="it-IT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E348B9-9911-9023-221E-E2A3CEE09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07478079-B085-0A96-DCB1-350F02C4A38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0542DD4-35E7-483D-A876-8DE66A1E2055}" type="slidenum">
              <a:rPr lang="it-IT" altLang="it-IT"/>
              <a:pPr/>
              <a:t>3</a:t>
            </a:fld>
            <a:endParaRPr lang="it-IT" altLang="it-IT"/>
          </a:p>
        </p:txBody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F8825BDF-3716-5075-C8DA-1D875D7E869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it-IT"/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5AC8241C-9989-EFFA-3745-899CA67909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3050015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6B911-49AE-9F2D-5C3B-28FFD7617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80FECEC1-4F37-3A53-6996-57C28C24C08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0542DD4-35E7-483D-A876-8DE66A1E2055}" type="slidenum">
              <a:rPr lang="it-IT" altLang="it-IT"/>
              <a:pPr/>
              <a:t>4</a:t>
            </a:fld>
            <a:endParaRPr lang="it-IT" altLang="it-IT"/>
          </a:p>
        </p:txBody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043FD2EB-4768-331D-AA4D-F78160CB9D6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it-IT"/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70A21431-008B-B7EA-BDEF-DCB5E8F048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4339785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8D7AE2-6919-A45D-6049-5CAB0E35F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CE221750-0DD8-4B1F-0CA0-A1F9833565E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0542DD4-35E7-483D-A876-8DE66A1E2055}" type="slidenum">
              <a:rPr lang="it-IT" altLang="it-IT"/>
              <a:pPr/>
              <a:t>5</a:t>
            </a:fld>
            <a:endParaRPr lang="it-IT" altLang="it-IT"/>
          </a:p>
        </p:txBody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688FCBA4-F88C-4E70-8A54-FEB662D6FFC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it-IT"/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A54982D5-54F7-E2CC-A326-DFE50A1ADD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6408631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080AD5-AF07-4BC5-1484-13A4EE757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CBC8ECC1-327C-8D80-1A91-DEE8CFDF7D0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0542DD4-35E7-483D-A876-8DE66A1E2055}" type="slidenum">
              <a:rPr lang="it-IT" altLang="it-IT"/>
              <a:pPr/>
              <a:t>6</a:t>
            </a:fld>
            <a:endParaRPr lang="it-IT" altLang="it-IT"/>
          </a:p>
        </p:txBody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230C19A5-B9F9-A6AE-2C12-03881B493F2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it-IT"/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97C38AC5-4E1A-374A-1728-03E7AC80DB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8874163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732AC-F14F-B3A8-7B9D-CD183084A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2C6417CB-351D-FCA2-A116-160EEE6DE5D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0542DD4-35E7-483D-A876-8DE66A1E2055}" type="slidenum">
              <a:rPr lang="it-IT" altLang="it-IT"/>
              <a:pPr/>
              <a:t>7</a:t>
            </a:fld>
            <a:endParaRPr lang="it-IT" altLang="it-IT"/>
          </a:p>
        </p:txBody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A1584F7E-63C6-39C4-1545-CB8EB017AC5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it-IT"/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EF1F8135-9A7A-EB08-45CD-70237FADF3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2840829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B2E74A-D1B1-5460-C075-E0F214D51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A73937D9-08D1-2650-6A73-5E8C8E05F58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0542DD4-35E7-483D-A876-8DE66A1E2055}" type="slidenum">
              <a:rPr lang="it-IT" altLang="it-IT"/>
              <a:pPr/>
              <a:t>8</a:t>
            </a:fld>
            <a:endParaRPr lang="it-IT" altLang="it-IT"/>
          </a:p>
        </p:txBody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CDA33121-D62A-5892-FCB8-D50B1D6A32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it-IT"/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9E2D9027-EE48-6667-E8CC-5C38FE2B27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42278336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CFDD5-D626-6E3C-2B77-F09634106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77D6459F-0100-0C1E-EA35-25AE9968079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0542DD4-35E7-483D-A876-8DE66A1E2055}" type="slidenum">
              <a:rPr lang="it-IT" altLang="it-IT"/>
              <a:pPr/>
              <a:t>9</a:t>
            </a:fld>
            <a:endParaRPr lang="it-IT" altLang="it-IT"/>
          </a:p>
        </p:txBody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33FBE61C-F8E0-637C-4119-7DBD0DE8D60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it-IT"/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EFF9FDC5-4DF3-C088-C767-1EE460E4D5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4365279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E21FE-245F-6AC8-71B8-4E7CCA48E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119EDCF4-B87F-543E-A42F-9CD12D227FF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0542DD4-35E7-483D-A876-8DE66A1E2055}" type="slidenum">
              <a:rPr lang="it-IT" altLang="it-IT"/>
              <a:pPr/>
              <a:t>10</a:t>
            </a:fld>
            <a:endParaRPr lang="it-IT" altLang="it-IT"/>
          </a:p>
        </p:txBody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49F83F94-DD23-B7BA-6D4E-C1B5CF4CF25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it-IT"/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69C307D1-1CE4-F83A-AF57-22220DBFF6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5691167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8D569-17DD-1BA8-4810-EABCE8E67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BD868C28-6A6D-B6B4-F905-5E8228F7110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0542DD4-35E7-483D-A876-8DE66A1E2055}" type="slidenum">
              <a:rPr lang="it-IT" altLang="it-IT"/>
              <a:pPr/>
              <a:t>11</a:t>
            </a:fld>
            <a:endParaRPr lang="it-IT" altLang="it-IT"/>
          </a:p>
        </p:txBody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BE7D5A99-75ED-8FFA-E8DC-1CA66290A4E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it-IT"/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F72833CC-3F95-CAC1-5B89-8B2D5F5077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5928392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558EFB-C31B-642E-4E10-6FC293B26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81F05D78-56CD-2D56-9C74-43959884B92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0542DD4-35E7-483D-A876-8DE66A1E2055}" type="slidenum">
              <a:rPr lang="it-IT" altLang="it-IT"/>
              <a:pPr/>
              <a:t>12</a:t>
            </a:fld>
            <a:endParaRPr lang="it-IT" altLang="it-IT"/>
          </a:p>
        </p:txBody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83219F06-CA65-9763-87F0-11F2BA8EBD8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it-IT"/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2023652A-4E88-8716-BE30-87C1656364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7655689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EF344-34B9-4731-BD95-45D04478B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9D87A46E-DC42-7428-ECB9-AAE5E9DE0ED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0542DD4-35E7-483D-A876-8DE66A1E2055}" type="slidenum">
              <a:rPr lang="it-IT" altLang="it-IT"/>
              <a:pPr/>
              <a:t>13</a:t>
            </a:fld>
            <a:endParaRPr lang="it-IT" altLang="it-IT"/>
          </a:p>
        </p:txBody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6688A29F-CA09-AC17-5AA8-DBFF01E8151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it-IT"/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3C0B6651-83F3-B5B7-EAC7-65C4E2AFFF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903634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BA5677-57F8-D83B-9A48-E7E007D5B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FD1B8400-3694-C95C-0CEF-48BEFD6991C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0542DD4-35E7-483D-A876-8DE66A1E2055}" type="slidenum">
              <a:rPr lang="it-IT" altLang="it-IT"/>
              <a:pPr/>
              <a:t>14</a:t>
            </a:fld>
            <a:endParaRPr lang="it-IT" altLang="it-IT"/>
          </a:p>
        </p:txBody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83C7AF77-8DF1-A365-BB98-32247E3416E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it-IT"/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AFC790C3-28F9-4DAB-56B1-6F0087EC09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002921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BF352-B3B6-9C3F-0F2D-DFFD4DC34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D8CBFDC4-0502-D79F-0202-BF5ADDA7B6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0542DD4-35E7-483D-A876-8DE66A1E2055}" type="slidenum">
              <a:rPr lang="it-IT" altLang="it-IT"/>
              <a:pPr/>
              <a:t>15</a:t>
            </a:fld>
            <a:endParaRPr lang="it-IT" altLang="it-IT"/>
          </a:p>
        </p:txBody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6784D6CA-EA39-268F-4E90-21D0540B2CB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it-IT"/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FC28190A-A515-18BD-47BC-774CE8C45A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71569555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6D5678-14CD-3F5B-E784-AB4182530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9DE93B5B-C56C-C92E-DD39-AE9099E82EB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0542DD4-35E7-483D-A876-8DE66A1E2055}" type="slidenum">
              <a:rPr lang="it-IT" altLang="it-IT"/>
              <a:pPr/>
              <a:t>16</a:t>
            </a:fld>
            <a:endParaRPr lang="it-IT" altLang="it-IT"/>
          </a:p>
        </p:txBody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9416DFD1-535A-6731-DA6B-F5289C9BFF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it-IT"/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CEC78AAE-B036-76EA-FCF4-FA93E9F140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89657064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CEBF3-408E-0B17-D92D-7123FB4BC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28866D20-9C76-BE8D-8279-5CD7BDD1B8D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0542DD4-35E7-483D-A876-8DE66A1E2055}" type="slidenum">
              <a:rPr lang="it-IT" altLang="it-IT"/>
              <a:pPr/>
              <a:t>17</a:t>
            </a:fld>
            <a:endParaRPr lang="it-IT" altLang="it-IT"/>
          </a:p>
        </p:txBody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E8BFB84F-84CC-6351-7EAE-F454BBB1A8A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it-IT"/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77D77E44-5864-22FF-BEA6-3442A09B32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42300149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4BF5E-7A9A-022F-65B5-31DF2A324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F4A6EB55-324E-4195-76CC-6A03F78D2A6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1ED0C74-0A82-43D7-8919-12CB131594CF}" type="slidenum">
              <a:rPr lang="it-IT" altLang="it-IT"/>
              <a:pPr/>
              <a:t>18</a:t>
            </a:fld>
            <a:endParaRPr lang="it-IT" altLang="it-IT"/>
          </a:p>
        </p:txBody>
      </p:sp>
      <p:sp>
        <p:nvSpPr>
          <p:cNvPr id="35842" name="Rectangle 2">
            <a:extLst>
              <a:ext uri="{FF2B5EF4-FFF2-40B4-BE49-F238E27FC236}">
                <a16:creationId xmlns:a16="http://schemas.microsoft.com/office/drawing/2014/main" id="{6328797B-9A8E-F6C3-7F57-6ADFDF0AF67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it-IT"/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B8977D2C-69BD-7891-CCFE-314DA6A714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1960072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3DFF817-F1A8-1C67-560C-518347401C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C1BDBF3C-EE62-6D05-DE1F-C488E28F46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1EF4A12-FF5E-1F32-9C21-904518F42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46A9971-3699-4FCF-80FB-E51976167E07}" type="datetime1">
              <a:rPr lang="it-IT" altLang="it-IT"/>
              <a:pPr/>
              <a:t>20/10/2026</a:t>
            </a:fld>
            <a:endParaRPr lang="it-IT" alt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B2BAF99-9565-606A-EB7D-23028230E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altLang="it-IT"/>
              <a:t>Titolo Presentazione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CA20E6D-705F-758F-7809-40F147609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altLang="it-IT"/>
              <a:t>Pagina </a:t>
            </a:r>
            <a:fld id="{4CF32426-D91A-4007-8D2A-33E270682AAB}" type="slidenum">
              <a:rPr lang="it-IT" altLang="it-IT"/>
              <a:pPr/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90309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7732736-EED1-A605-A729-37D97880C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991D9B6-E87C-8A4B-43EB-423FB1882F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7C156EF-47CB-9889-E633-BA17D8F6F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A433E05-AE80-4FE0-82D9-90C54560B278}" type="datetime1">
              <a:rPr lang="it-IT" altLang="it-IT"/>
              <a:pPr/>
              <a:t>20/10/2026</a:t>
            </a:fld>
            <a:endParaRPr lang="it-IT" alt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D6E35AA-84CB-DFE8-BB77-D8320B4A7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altLang="it-IT"/>
              <a:t>Titolo Presentazione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10414BE-CAD0-4F37-1427-9AC707FDC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altLang="it-IT"/>
              <a:t>Pagina </a:t>
            </a:r>
            <a:fld id="{1EA9A0FE-F8CB-4BA3-9D86-C8AC324CF7B9}" type="slidenum">
              <a:rPr lang="it-IT" altLang="it-IT"/>
              <a:pPr/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847878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E1121E2-9224-AF6E-6112-4C9EC1C68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3B5AF6D-9D9B-D720-2412-F99218BF41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71749AD-6C80-BE56-C4D9-95750DCC0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AD2663E-B236-42CE-B9FC-F7C48D13F978}" type="datetime1">
              <a:rPr lang="it-IT" altLang="it-IT"/>
              <a:pPr/>
              <a:t>20/10/2026</a:t>
            </a:fld>
            <a:endParaRPr lang="it-IT" alt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8FBE8E5-BCE3-1BFB-83D2-46C9CED5C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altLang="it-IT"/>
              <a:t>Titolo Presentazione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1949023-3784-AE62-ACCF-A0C7E1EDD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altLang="it-IT"/>
              <a:t>Pagina </a:t>
            </a:r>
            <a:fld id="{796BBA7C-631D-4D6C-A917-EFC5EDFECD76}" type="slidenum">
              <a:rPr lang="it-IT" altLang="it-IT"/>
              <a:pPr/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6047730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4C4C2A7-B88B-6C26-F38A-3FEB11CE4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E664E4D-48D9-4744-5EB1-C0AD9D8DF7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6013" y="1752600"/>
            <a:ext cx="3703637" cy="411480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838A4F08-B110-782A-1536-3D9DD2A1BF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972050" y="1752600"/>
            <a:ext cx="3703638" cy="411480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90F3B4B-3C3D-36A4-D4A8-AC4F6833E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35C14FC-D11A-4045-824F-E3469AEA53C9}" type="datetime1">
              <a:rPr lang="it-IT" altLang="it-IT"/>
              <a:pPr/>
              <a:t>20/10/2026</a:t>
            </a:fld>
            <a:endParaRPr lang="it-IT" alt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833F1EA2-3981-F7D2-2727-6321E2B4D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altLang="it-IT"/>
              <a:t>Titolo Presentazione</a:t>
            </a:r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4B04E51C-E350-02DC-3857-21E0D9C44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altLang="it-IT"/>
              <a:t>Pagina </a:t>
            </a:r>
            <a:fld id="{1D6A122E-74F6-4B18-9683-E5A26CC4856E}" type="slidenum">
              <a:rPr lang="it-IT" altLang="it-IT"/>
              <a:pPr/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310960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C8F2379-2A63-5A15-FF66-7CAE01252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D5803E8-EB09-F1AB-26B7-719A403306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2B7D57AD-03B5-B3BC-243C-87FD0B04D2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8ED9CE2C-1053-D96C-F1BF-CB2FDD57DB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D381C9EC-E7E2-5562-5DED-12D05EE887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2C10B17D-560B-2E46-1E4B-B6F666C0E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FC51055-DEE8-4BFB-ADAD-CE47507D4B21}" type="datetime1">
              <a:rPr lang="it-IT" altLang="it-IT"/>
              <a:pPr/>
              <a:t>20/10/2026</a:t>
            </a:fld>
            <a:endParaRPr lang="it-IT" alt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6A88A316-8F16-32A8-EB83-4084B63E6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altLang="it-IT"/>
              <a:t>Titolo Presentazione</a:t>
            </a:r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88149902-7217-252B-5D59-DF3BE1F42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altLang="it-IT"/>
              <a:t>Pagina </a:t>
            </a:r>
            <a:fld id="{8C82CA31-A833-4681-809F-A63E60A0F04E}" type="slidenum">
              <a:rPr lang="it-IT" altLang="it-IT"/>
              <a:pPr/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4161824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B1DDD4F-CCA2-4EFF-3026-76DAA90AE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F45C6EE2-CF40-214A-CE41-F35B663CA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423718A-E8EC-4C2D-84B8-53D19D94E4E4}" type="datetime1">
              <a:rPr lang="it-IT" altLang="it-IT"/>
              <a:pPr/>
              <a:t>20/10/2026</a:t>
            </a:fld>
            <a:endParaRPr lang="it-IT" alt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F3F5DA0B-FA91-3496-84A2-5BD244A5D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altLang="it-IT"/>
              <a:t>Titolo Presentazione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8A7C9849-7AF6-871F-66C1-52D0CCBB5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altLang="it-IT"/>
              <a:t>Pagina </a:t>
            </a:r>
            <a:fld id="{86A51EE2-13D1-4792-B68D-838B3ED9003F}" type="slidenum">
              <a:rPr lang="it-IT" altLang="it-IT"/>
              <a:pPr/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492228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6AC83BE9-29EF-8CA8-3EA8-F6B7A4B43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ADE2CE1-4C9F-4A7E-BC60-997676E267FD}" type="datetime1">
              <a:rPr lang="it-IT" altLang="it-IT"/>
              <a:pPr/>
              <a:t>20/10/2026</a:t>
            </a:fld>
            <a:endParaRPr lang="it-IT" alt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6A10269D-C696-8181-3893-3683390CB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altLang="it-IT"/>
              <a:t>Titolo Presentazione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3F52A8D-4094-D29D-2713-AA8B5E9DD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altLang="it-IT"/>
              <a:t>Pagina </a:t>
            </a:r>
            <a:fld id="{3359CBDF-2EAA-452A-BC2E-7214F5963C3B}" type="slidenum">
              <a:rPr lang="it-IT" altLang="it-IT"/>
              <a:pPr/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0607580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699E570-3B7B-D518-7886-C4C30D7B1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EB3D4C9-9421-5A8C-0E3C-3BA5632866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63D3DC35-F753-8B57-D50A-51FC67F366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BB5F528-C511-E0E2-0BF4-C85735A56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4C01F70-BB34-4CDB-8D9F-67B962B2D147}" type="datetime1">
              <a:rPr lang="it-IT" altLang="it-IT"/>
              <a:pPr/>
              <a:t>20/10/2026</a:t>
            </a:fld>
            <a:endParaRPr lang="it-IT" alt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96CEB31-FF9F-AD91-504A-462A3A9C0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altLang="it-IT"/>
              <a:t>Titolo Presentazione</a:t>
            </a:r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A769A693-CE37-ABDB-4F4A-F7E6B2711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altLang="it-IT"/>
              <a:t>Pagina </a:t>
            </a:r>
            <a:fld id="{4AE12820-B4BD-433F-BE7D-C6C932DBB600}" type="slidenum">
              <a:rPr lang="it-IT" altLang="it-IT"/>
              <a:pPr/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977141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E94D21E-F4EB-5F0E-3DF7-62C8DB8B9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1ACA0452-5676-38FB-7C07-4DDB5108D3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696AAF31-53E0-9DD7-30AA-1F08D6E55E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A82EF4B1-661B-048C-79F9-25033A4CF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2544F3E-F0B0-4B72-A6A2-B730FD7EF5E6}" type="datetime1">
              <a:rPr lang="it-IT" altLang="it-IT"/>
              <a:pPr/>
              <a:t>20/10/2026</a:t>
            </a:fld>
            <a:endParaRPr lang="it-IT" alt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DB51D945-96D7-9488-26D9-F2A727A78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altLang="it-IT"/>
              <a:t>Titolo Presentazione</a:t>
            </a:r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17986B0-D694-C68C-6F50-A88A7C697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altLang="it-IT"/>
              <a:t>Pagina </a:t>
            </a:r>
            <a:fld id="{C26615AC-136A-459F-AA3D-AA631D0BD23B}" type="slidenum">
              <a:rPr lang="it-IT" altLang="it-IT"/>
              <a:pPr/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4135015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E255EAE-C270-2D7E-08AD-B4BCB4337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6430669E-AEDD-26B2-1346-C2F1200972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B1B82B2-CD00-6C7D-E1AF-59247451F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73DE500-23A9-484D-9275-F9EC7C271F5F}" type="datetime1">
              <a:rPr lang="it-IT" altLang="it-IT"/>
              <a:pPr/>
              <a:t>20/10/2026</a:t>
            </a:fld>
            <a:endParaRPr lang="it-IT" alt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EF76232-86B9-CA8A-6BE8-B96BF6056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altLang="it-IT"/>
              <a:t>Titolo Presentazione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94EF234-7320-6E0A-F768-A59099975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altLang="it-IT"/>
              <a:t>Pagina </a:t>
            </a:r>
            <a:fld id="{4B38A3FC-E2EE-4FE7-96DC-F21A8EA9254C}" type="slidenum">
              <a:rPr lang="it-IT" altLang="it-IT"/>
              <a:pPr/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4009977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54C8A427-45C5-A483-C966-9BDA29B6D6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786563" y="409575"/>
            <a:ext cx="1889125" cy="5457825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F8D9837F-8049-B60A-F175-2F36F69D52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16013" y="409575"/>
            <a:ext cx="5518150" cy="5457825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9660A38-0034-B025-6D97-67E0189AA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83F785C-14AF-4353-859F-837CE3056DB8}" type="datetime1">
              <a:rPr lang="it-IT" altLang="it-IT"/>
              <a:pPr/>
              <a:t>20/10/2026</a:t>
            </a:fld>
            <a:endParaRPr lang="it-IT" alt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D6E0C1A-6BCE-4A20-423D-34A55D3B3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altLang="it-IT"/>
              <a:t>Titolo Presentazione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2811989-EDA1-33FA-B3E0-CAC63DBDA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altLang="it-IT"/>
              <a:t>Pagina </a:t>
            </a:r>
            <a:fld id="{02EE3C98-E182-4BEF-ADB8-D83FD6063C83}" type="slidenum">
              <a:rPr lang="it-IT" altLang="it-IT"/>
              <a:pPr/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42584965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olo, test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8AF5951-1F51-E72A-FE3D-FE591DD71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6013" y="409575"/>
            <a:ext cx="7559675" cy="504825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F19D3B8-2A8F-A6F8-CDB8-58ED2A3F45A1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1116013" y="1752600"/>
            <a:ext cx="3703637" cy="411480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5A919C39-8272-2A49-E8DD-435AF3E510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972050" y="1752600"/>
            <a:ext cx="3703638" cy="411480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CCAE48F-4DAF-F6ED-FEB3-1F8C588706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43400" y="61468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2C5E1DD6-A7C8-4F97-BCF0-512AF882E8E3}" type="datetime1">
              <a:rPr lang="it-IT" altLang="it-IT"/>
              <a:pPr/>
              <a:t>20/10/2026</a:t>
            </a:fld>
            <a:endParaRPr lang="it-IT" alt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F4F63C20-009F-773F-A897-0036F554A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19200" y="61468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it-IT" altLang="it-IT"/>
              <a:t>Titolo Presentazione</a:t>
            </a:r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D488BF7-64F6-E1AE-A4F8-FA16063FF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1468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it-IT" altLang="it-IT"/>
              <a:t>Pagina </a:t>
            </a:r>
            <a:fld id="{E3A3500B-3C0F-4D2F-B004-0D215DEA1599}" type="slidenum">
              <a:rPr lang="it-IT" altLang="it-IT"/>
              <a:pPr/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6932383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olo e tabel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CB5FA44-C81F-41D5-E3F8-A87B67060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6013" y="409575"/>
            <a:ext cx="7559675" cy="504825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abella 2">
            <a:extLst>
              <a:ext uri="{FF2B5EF4-FFF2-40B4-BE49-F238E27FC236}">
                <a16:creationId xmlns:a16="http://schemas.microsoft.com/office/drawing/2014/main" id="{93104B09-0D69-28CF-3D53-D881F61E872B}"/>
              </a:ext>
            </a:extLst>
          </p:cNvPr>
          <p:cNvSpPr>
            <a:spLocks noGrp="1"/>
          </p:cNvSpPr>
          <p:nvPr>
            <p:ph type="tbl" idx="1"/>
          </p:nvPr>
        </p:nvSpPr>
        <p:spPr>
          <a:xfrm>
            <a:off x="1116013" y="1752600"/>
            <a:ext cx="7559675" cy="4114800"/>
          </a:xfrm>
        </p:spPr>
        <p:txBody>
          <a:bodyPr/>
          <a:lstStyle/>
          <a:p>
            <a:endParaRPr lang="it-IT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66CF2ED-6230-D721-4015-9162F35B7E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43400" y="61468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89E47708-627F-4069-B670-893DBFAD71A1}" type="datetime1">
              <a:rPr lang="it-IT" altLang="it-IT"/>
              <a:pPr/>
              <a:t>20/10/2026</a:t>
            </a:fld>
            <a:endParaRPr lang="it-IT" alt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FFBB794-7310-B6A3-736A-CA3E961D7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19200" y="61468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it-IT" altLang="it-IT"/>
              <a:t>Titolo Presentazione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1085D41-444E-4F1E-38EF-42FF8B171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1468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it-IT" altLang="it-IT"/>
              <a:t>Pagina </a:t>
            </a:r>
            <a:fld id="{1F459D1F-A1EF-405C-9C67-EC0C4C5C414A}" type="slidenum">
              <a:rPr lang="it-IT" altLang="it-IT"/>
              <a:pPr/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4115002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Titolo e gra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FEDAC1F-A917-834A-6DC9-B9AB7DB74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6013" y="409575"/>
            <a:ext cx="7559675" cy="504825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grafico 2">
            <a:extLst>
              <a:ext uri="{FF2B5EF4-FFF2-40B4-BE49-F238E27FC236}">
                <a16:creationId xmlns:a16="http://schemas.microsoft.com/office/drawing/2014/main" id="{405613ED-917E-1C4C-25DE-FE1FFDA5E812}"/>
              </a:ext>
            </a:extLst>
          </p:cNvPr>
          <p:cNvSpPr>
            <a:spLocks noGrp="1"/>
          </p:cNvSpPr>
          <p:nvPr>
            <p:ph type="chart" idx="1"/>
          </p:nvPr>
        </p:nvSpPr>
        <p:spPr>
          <a:xfrm>
            <a:off x="1116013" y="1752600"/>
            <a:ext cx="7559675" cy="4114800"/>
          </a:xfrm>
        </p:spPr>
        <p:txBody>
          <a:bodyPr/>
          <a:lstStyle/>
          <a:p>
            <a:endParaRPr lang="it-IT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73998F8-4A1E-C8C6-F2C2-DE2F1B1F31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43400" y="61468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0D894F2C-3B91-4AB1-8724-82EDED52E87C}" type="datetime1">
              <a:rPr lang="it-IT" altLang="it-IT"/>
              <a:pPr/>
              <a:t>20/10/2026</a:t>
            </a:fld>
            <a:endParaRPr lang="it-IT" alt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8E32438-42F2-86D8-2804-886701FD3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19200" y="61468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it-IT" altLang="it-IT"/>
              <a:t>Titolo Presentazione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FC59273-37F9-C223-1012-A8C3B496A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1468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it-IT" altLang="it-IT"/>
              <a:t>Pagina </a:t>
            </a:r>
            <a:fld id="{BD3FDC78-2B36-45E2-BE59-321D760BCDF1}" type="slidenum">
              <a:rPr lang="it-IT" altLang="it-IT"/>
              <a:pPr/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6767109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9" name="Group 15">
            <a:extLst>
              <a:ext uri="{FF2B5EF4-FFF2-40B4-BE49-F238E27FC236}">
                <a16:creationId xmlns:a16="http://schemas.microsoft.com/office/drawing/2014/main" id="{5EDA8459-FC7B-E76D-BE3B-5716C9C2C283}"/>
              </a:ext>
            </a:extLst>
          </p:cNvPr>
          <p:cNvGrpSpPr>
            <a:grpSpLocks/>
          </p:cNvGrpSpPr>
          <p:nvPr/>
        </p:nvGrpSpPr>
        <p:grpSpPr bwMode="auto">
          <a:xfrm>
            <a:off x="0" y="6096000"/>
            <a:ext cx="9144000" cy="762000"/>
            <a:chOff x="0" y="3840"/>
            <a:chExt cx="5760" cy="480"/>
          </a:xfrm>
        </p:grpSpPr>
        <p:sp>
          <p:nvSpPr>
            <p:cNvPr id="1037" name="Rectangle 13">
              <a:extLst>
                <a:ext uri="{FF2B5EF4-FFF2-40B4-BE49-F238E27FC236}">
                  <a16:creationId xmlns:a16="http://schemas.microsoft.com/office/drawing/2014/main" id="{A22437E9-915F-8DD6-9CCD-FC3D40E5179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0" y="3984"/>
              <a:ext cx="5760" cy="336"/>
            </a:xfrm>
            <a:prstGeom prst="rect">
              <a:avLst/>
            </a:prstGeom>
            <a:solidFill>
              <a:srgbClr val="8224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  <p:sp>
          <p:nvSpPr>
            <p:cNvPr id="1038" name="Rectangle 14">
              <a:extLst>
                <a:ext uri="{FF2B5EF4-FFF2-40B4-BE49-F238E27FC236}">
                  <a16:creationId xmlns:a16="http://schemas.microsoft.com/office/drawing/2014/main" id="{8E576B80-5D32-D656-F2A6-1A10449F670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768" y="3840"/>
              <a:ext cx="4992" cy="480"/>
            </a:xfrm>
            <a:prstGeom prst="rect">
              <a:avLst/>
            </a:prstGeom>
            <a:solidFill>
              <a:srgbClr val="8224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it-IT"/>
            </a:p>
          </p:txBody>
        </p:sp>
      </p:grpSp>
      <p:sp>
        <p:nvSpPr>
          <p:cNvPr id="1026" name="Rectangle 2">
            <a:extLst>
              <a:ext uri="{FF2B5EF4-FFF2-40B4-BE49-F238E27FC236}">
                <a16:creationId xmlns:a16="http://schemas.microsoft.com/office/drawing/2014/main" id="{622C8C9A-BE31-DEE0-8EE4-A35DF977B5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16013" y="409575"/>
            <a:ext cx="7559675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stile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12CBF28-882C-0B49-5181-8F2885A2F6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16013" y="1752600"/>
            <a:ext cx="7559675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gli stili del testo dello schema</a:t>
            </a:r>
          </a:p>
          <a:p>
            <a:pPr lvl="1"/>
            <a:r>
              <a:rPr lang="it-IT" altLang="it-IT"/>
              <a:t>Secondo livello</a:t>
            </a:r>
          </a:p>
          <a:p>
            <a:pPr lvl="2"/>
            <a:r>
              <a:rPr lang="it-IT" altLang="it-IT"/>
              <a:t>Terzo livello</a:t>
            </a:r>
          </a:p>
          <a:p>
            <a:pPr lvl="3"/>
            <a:r>
              <a:rPr lang="it-IT" altLang="it-IT"/>
              <a:t>Quarto livello</a:t>
            </a:r>
          </a:p>
          <a:p>
            <a:pPr lvl="4"/>
            <a:r>
              <a:rPr lang="it-IT" altLang="it-IT"/>
              <a:t>Quinto livello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D8752E63-3FBA-757E-DC38-57355052987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343400" y="6146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100"/>
            </a:lvl1pPr>
          </a:lstStyle>
          <a:p>
            <a:fld id="{1901F1C5-B098-4320-BAC5-EEEC9D38E831}" type="datetime1">
              <a:rPr lang="it-IT" altLang="it-IT"/>
              <a:pPr/>
              <a:t>20/10/2026</a:t>
            </a:fld>
            <a:endParaRPr lang="it-IT" altLang="it-IT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959B40BB-5837-F603-C4ED-6059ED4B52D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219200" y="61468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100"/>
            </a:lvl1pPr>
          </a:lstStyle>
          <a:p>
            <a:r>
              <a:rPr lang="it-IT" altLang="it-IT"/>
              <a:t>Titolo Presentazione</a:t>
            </a: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F0F3DF4F-DDFB-5AC7-6B01-1D1BCD88BED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1468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r>
              <a:rPr lang="it-IT" altLang="it-IT"/>
              <a:t>Pagina </a:t>
            </a:r>
            <a:fld id="{6B2B16E5-C492-4F7C-9A9F-DD2577FBB4DB}" type="slidenum">
              <a:rPr lang="it-IT" altLang="it-IT"/>
              <a:pPr/>
              <a:t>‹N›</a:t>
            </a:fld>
            <a:endParaRPr lang="it-IT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hdr="0"/>
  <p:txStyles>
    <p:titleStyle>
      <a:lvl1pPr algn="l" rtl="0" fontAlgn="base">
        <a:spcBef>
          <a:spcPct val="0"/>
        </a:spcBef>
        <a:spcAft>
          <a:spcPct val="0"/>
        </a:spcAft>
        <a:defRPr sz="2400" b="1" kern="1200">
          <a:solidFill>
            <a:srgbClr val="822433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2400" b="1">
          <a:solidFill>
            <a:srgbClr val="822433"/>
          </a:solidFill>
          <a:latin typeface="Arial" panose="020B0604020202020204" pitchFamily="34" charset="0"/>
          <a:ea typeface="ＭＳ Ｐゴシック" panose="020B0600070205080204" pitchFamily="34" charset="-128"/>
        </a:defRPr>
      </a:lvl2pPr>
      <a:lvl3pPr algn="l" rtl="0" fontAlgn="base">
        <a:spcBef>
          <a:spcPct val="0"/>
        </a:spcBef>
        <a:spcAft>
          <a:spcPct val="0"/>
        </a:spcAft>
        <a:defRPr sz="2400" b="1">
          <a:solidFill>
            <a:srgbClr val="822433"/>
          </a:solidFill>
          <a:latin typeface="Arial" panose="020B0604020202020204" pitchFamily="34" charset="0"/>
          <a:ea typeface="ＭＳ Ｐゴシック" panose="020B0600070205080204" pitchFamily="34" charset="-128"/>
        </a:defRPr>
      </a:lvl3pPr>
      <a:lvl4pPr algn="l" rtl="0" fontAlgn="base">
        <a:spcBef>
          <a:spcPct val="0"/>
        </a:spcBef>
        <a:spcAft>
          <a:spcPct val="0"/>
        </a:spcAft>
        <a:defRPr sz="2400" b="1">
          <a:solidFill>
            <a:srgbClr val="822433"/>
          </a:solidFill>
          <a:latin typeface="Arial" panose="020B0604020202020204" pitchFamily="34" charset="0"/>
          <a:ea typeface="ＭＳ Ｐゴシック" panose="020B0600070205080204" pitchFamily="34" charset="-128"/>
        </a:defRPr>
      </a:lvl4pPr>
      <a:lvl5pPr algn="l" rtl="0" fontAlgn="base">
        <a:spcBef>
          <a:spcPct val="0"/>
        </a:spcBef>
        <a:spcAft>
          <a:spcPct val="0"/>
        </a:spcAft>
        <a:defRPr sz="2400" b="1">
          <a:solidFill>
            <a:srgbClr val="822433"/>
          </a:solidFill>
          <a:latin typeface="Arial" panose="020B0604020202020204" pitchFamily="34" charset="0"/>
          <a:ea typeface="ＭＳ Ｐゴシック" panose="020B0600070205080204" pitchFamily="34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2400" b="1">
          <a:solidFill>
            <a:srgbClr val="822433"/>
          </a:solidFill>
          <a:latin typeface="Arial" panose="020B0604020202020204" pitchFamily="34" charset="0"/>
          <a:ea typeface="ＭＳ Ｐゴシック" panose="020B0600070205080204" pitchFamily="34" charset="-128"/>
        </a:defRPr>
      </a:lvl6pPr>
      <a:lvl7pPr marL="914400" algn="l" rtl="0" fontAlgn="base">
        <a:spcBef>
          <a:spcPct val="0"/>
        </a:spcBef>
        <a:spcAft>
          <a:spcPct val="0"/>
        </a:spcAft>
        <a:defRPr sz="2400" b="1">
          <a:solidFill>
            <a:srgbClr val="822433"/>
          </a:solidFill>
          <a:latin typeface="Arial" panose="020B0604020202020204" pitchFamily="34" charset="0"/>
          <a:ea typeface="ＭＳ Ｐゴシック" panose="020B0600070205080204" pitchFamily="34" charset="-128"/>
        </a:defRPr>
      </a:lvl7pPr>
      <a:lvl8pPr marL="1371600" algn="l" rtl="0" fontAlgn="base">
        <a:spcBef>
          <a:spcPct val="0"/>
        </a:spcBef>
        <a:spcAft>
          <a:spcPct val="0"/>
        </a:spcAft>
        <a:defRPr sz="2400" b="1">
          <a:solidFill>
            <a:srgbClr val="822433"/>
          </a:solidFill>
          <a:latin typeface="Arial" panose="020B0604020202020204" pitchFamily="34" charset="0"/>
          <a:ea typeface="ＭＳ Ｐゴシック" panose="020B0600070205080204" pitchFamily="34" charset="-128"/>
        </a:defRPr>
      </a:lvl8pPr>
      <a:lvl9pPr marL="1828800" algn="l" rtl="0" fontAlgn="base">
        <a:spcBef>
          <a:spcPct val="0"/>
        </a:spcBef>
        <a:spcAft>
          <a:spcPct val="0"/>
        </a:spcAft>
        <a:defRPr sz="2400" b="1">
          <a:solidFill>
            <a:srgbClr val="822433"/>
          </a:solidFill>
          <a:latin typeface="Arial" panose="020B0604020202020204" pitchFamily="34" charset="0"/>
          <a:ea typeface="ＭＳ Ｐゴシック" panose="020B0600070205080204" pitchFamily="34" charset="-128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rgbClr val="822433"/>
        </a:buClr>
        <a:buChar char="•"/>
        <a:defRPr sz="2400" kern="1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1600" kern="1200">
          <a:solidFill>
            <a:srgbClr val="000000"/>
          </a:solidFill>
          <a:latin typeface="+mn-lt"/>
          <a:ea typeface="+mn-ea"/>
          <a:cs typeface="+mn-cs"/>
        </a:defRPr>
      </a:lvl3pPr>
      <a:lvl4pPr marL="1562100" indent="-228600" algn="l" rtl="0" fontAlgn="base">
        <a:spcBef>
          <a:spcPct val="20000"/>
        </a:spcBef>
        <a:spcAft>
          <a:spcPct val="0"/>
        </a:spcAft>
        <a:buChar char="–"/>
        <a:defRPr sz="1400" kern="1200">
          <a:solidFill>
            <a:srgbClr val="000000"/>
          </a:solidFill>
          <a:latin typeface="+mn-lt"/>
          <a:ea typeface="+mn-ea"/>
          <a:cs typeface="+mn-cs"/>
        </a:defRPr>
      </a:lvl4pPr>
      <a:lvl5pPr marL="1981200" indent="-228600" algn="l" rtl="0" fontAlgn="base">
        <a:spcBef>
          <a:spcPct val="20000"/>
        </a:spcBef>
        <a:spcAft>
          <a:spcPct val="0"/>
        </a:spcAft>
        <a:buChar char="»"/>
        <a:defRPr sz="1200" kern="12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5" Type="http://schemas.openxmlformats.org/officeDocument/2006/relationships/image" Target="../media/image16.png"/><Relationship Id="rId4" Type="http://schemas.openxmlformats.org/officeDocument/2006/relationships/customXml" Target="../ink/ink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customXml" Target="../ink/ink4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833" name="Group 17">
            <a:extLst>
              <a:ext uri="{FF2B5EF4-FFF2-40B4-BE49-F238E27FC236}">
                <a16:creationId xmlns:a16="http://schemas.microsoft.com/office/drawing/2014/main" id="{DD5A362C-4427-733A-094E-ED018C808139}"/>
              </a:ext>
            </a:extLst>
          </p:cNvPr>
          <p:cNvGrpSpPr>
            <a:grpSpLocks/>
          </p:cNvGrpSpPr>
          <p:nvPr/>
        </p:nvGrpSpPr>
        <p:grpSpPr bwMode="auto">
          <a:xfrm>
            <a:off x="-107992" y="-243408"/>
            <a:ext cx="9360512" cy="7200799"/>
            <a:chOff x="3425" y="1135"/>
            <a:chExt cx="5828" cy="4334"/>
          </a:xfrm>
        </p:grpSpPr>
        <p:pic>
          <p:nvPicPr>
            <p:cNvPr id="34832" name="Picture 16">
              <a:extLst>
                <a:ext uri="{FF2B5EF4-FFF2-40B4-BE49-F238E27FC236}">
                  <a16:creationId xmlns:a16="http://schemas.microsoft.com/office/drawing/2014/main" id="{AE8F3209-DFC9-4315-F74D-881540F1781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8635" r="9143"/>
            <a:stretch>
              <a:fillRect/>
            </a:stretch>
          </p:blipFill>
          <p:spPr bwMode="auto">
            <a:xfrm>
              <a:off x="3425" y="1135"/>
              <a:ext cx="5828" cy="43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4829" name="Picture 13">
              <a:extLst>
                <a:ext uri="{FF2B5EF4-FFF2-40B4-BE49-F238E27FC236}">
                  <a16:creationId xmlns:a16="http://schemas.microsoft.com/office/drawing/2014/main" id="{573E2100-532B-C835-B5E1-A122AA7F260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377" r="53554"/>
            <a:stretch>
              <a:fillRect/>
            </a:stretch>
          </p:blipFill>
          <p:spPr bwMode="auto">
            <a:xfrm>
              <a:off x="5386" y="1415"/>
              <a:ext cx="1905" cy="7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4819" name="Rectangle 3">
            <a:extLst>
              <a:ext uri="{FF2B5EF4-FFF2-40B4-BE49-F238E27FC236}">
                <a16:creationId xmlns:a16="http://schemas.microsoft.com/office/drawing/2014/main" id="{410AE8FD-024C-816F-A3E3-217B968DE10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917176" y="1755131"/>
            <a:ext cx="7309648" cy="1651273"/>
          </a:xfrm>
        </p:spPr>
        <p:txBody>
          <a:bodyPr anchor="t"/>
          <a:lstStyle/>
          <a:p>
            <a:pPr algn="l"/>
            <a:r>
              <a:rPr lang="it-IT" altLang="it-IT" sz="2800" dirty="0">
                <a:solidFill>
                  <a:schemeClr val="bg1"/>
                </a:solidFill>
              </a:rPr>
              <a:t>Un approccio </a:t>
            </a:r>
            <a:r>
              <a:rPr lang="it-IT" sz="2800" dirty="0">
                <a:solidFill>
                  <a:schemeClr val="bg1">
                    <a:lumMod val="95000"/>
                  </a:schemeClr>
                </a:solidFill>
              </a:rPr>
              <a:t>integrato di </a:t>
            </a:r>
            <a:r>
              <a:rPr lang="it-IT" sz="2800" dirty="0" err="1">
                <a:solidFill>
                  <a:schemeClr val="bg1">
                    <a:lumMod val="95000"/>
                  </a:schemeClr>
                </a:solidFill>
              </a:rPr>
              <a:t>process</a:t>
            </a:r>
            <a:r>
              <a:rPr lang="it-IT" sz="2800" dirty="0">
                <a:solidFill>
                  <a:schemeClr val="bg1">
                    <a:lumMod val="95000"/>
                  </a:schemeClr>
                </a:solidFill>
              </a:rPr>
              <a:t> mining e </a:t>
            </a:r>
            <a:r>
              <a:rPr lang="it-IT" sz="2800" dirty="0" err="1">
                <a:solidFill>
                  <a:schemeClr val="bg1">
                    <a:lumMod val="95000"/>
                  </a:schemeClr>
                </a:solidFill>
              </a:rPr>
              <a:t>simulation</a:t>
            </a:r>
            <a:r>
              <a:rPr lang="it-IT" sz="2800" dirty="0">
                <a:solidFill>
                  <a:schemeClr val="bg1">
                    <a:lumMod val="95000"/>
                  </a:schemeClr>
                </a:solidFill>
              </a:rPr>
              <a:t> per l’analisi del soccorso </a:t>
            </a:r>
            <a:r>
              <a:rPr lang="it-IT" sz="2800" dirty="0" err="1">
                <a:solidFill>
                  <a:schemeClr val="bg1">
                    <a:lumMod val="95000"/>
                  </a:schemeClr>
                </a:solidFill>
              </a:rPr>
              <a:t>pre</a:t>
            </a:r>
            <a:r>
              <a:rPr lang="it-IT" sz="2800" dirty="0">
                <a:solidFill>
                  <a:schemeClr val="bg1">
                    <a:lumMod val="95000"/>
                  </a:schemeClr>
                </a:solidFill>
              </a:rPr>
              <a:t>-ospedaliero: un caso di studio reale</a:t>
            </a:r>
            <a:endParaRPr lang="it-IT" altLang="it-IT" sz="28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4820" name="Rectangle 4">
            <a:extLst>
              <a:ext uri="{FF2B5EF4-FFF2-40B4-BE49-F238E27FC236}">
                <a16:creationId xmlns:a16="http://schemas.microsoft.com/office/drawing/2014/main" id="{512E0D8B-4A17-4ED5-2197-B26BCCCC6C9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800908" y="5474875"/>
            <a:ext cx="3024188" cy="692979"/>
          </a:xfrm>
        </p:spPr>
        <p:txBody>
          <a:bodyPr/>
          <a:lstStyle/>
          <a:p>
            <a:pPr algn="l"/>
            <a:r>
              <a:rPr lang="it-IT" altLang="it-IT" sz="1600" dirty="0">
                <a:solidFill>
                  <a:schemeClr val="bg1"/>
                </a:solidFill>
              </a:rPr>
              <a:t>Candidata: Sharon Zaccagnino</a:t>
            </a:r>
          </a:p>
          <a:p>
            <a:pPr algn="l"/>
            <a:r>
              <a:rPr lang="it-IT" altLang="it-IT" sz="1600" dirty="0">
                <a:solidFill>
                  <a:schemeClr val="bg1"/>
                </a:solidFill>
              </a:rPr>
              <a:t>Matricola: 2001171</a:t>
            </a:r>
          </a:p>
          <a:p>
            <a:pPr algn="l"/>
            <a:endParaRPr lang="it-IT" altLang="it-IT" sz="1800" dirty="0">
              <a:solidFill>
                <a:schemeClr val="bg1"/>
              </a:solidFill>
            </a:endParaRP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231FD31C-B86D-3E66-B5B5-AF213CC6EF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8064" y="5474874"/>
            <a:ext cx="3277531" cy="692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fontAlgn="base">
              <a:spcBef>
                <a:spcPct val="20000"/>
              </a:spcBef>
              <a:spcAft>
                <a:spcPct val="0"/>
              </a:spcAft>
              <a:buClr>
                <a:srgbClr val="822433"/>
              </a:buClr>
              <a:buNone/>
              <a:defRPr sz="2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eaLnBrk="1" hangingPunct="1"/>
            <a:r>
              <a:rPr lang="it-IT" altLang="it-IT" sz="1600" dirty="0">
                <a:solidFill>
                  <a:schemeClr val="bg1"/>
                </a:solidFill>
              </a:rPr>
              <a:t>Relatore: Prof. Andrea Marrella</a:t>
            </a:r>
          </a:p>
          <a:p>
            <a:pPr algn="l" eaLnBrk="1" hangingPunct="1"/>
            <a:r>
              <a:rPr lang="it-IT" altLang="it-IT" sz="1600" dirty="0">
                <a:solidFill>
                  <a:schemeClr val="bg1"/>
                </a:solidFill>
              </a:rPr>
              <a:t>Correlatore: Prof. Massimo Roma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0CC12F5F-683C-A5DA-D741-717138CC87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23677" y="3789040"/>
            <a:ext cx="5896645" cy="7527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fontAlgn="base">
              <a:spcBef>
                <a:spcPct val="20000"/>
              </a:spcBef>
              <a:spcAft>
                <a:spcPct val="0"/>
              </a:spcAft>
              <a:buClr>
                <a:srgbClr val="822433"/>
              </a:buClr>
              <a:buNone/>
              <a:defRPr sz="2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fontAlgn="base">
              <a:spcBef>
                <a:spcPct val="20000"/>
              </a:spcBef>
              <a:spcAft>
                <a:spcPct val="0"/>
              </a:spcAft>
              <a:buNone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it-IT" sz="1600" dirty="0">
                <a:solidFill>
                  <a:schemeClr val="bg1"/>
                </a:solidFill>
              </a:rPr>
              <a:t>Facoltà di Ingegneria dell'Informazione, Informatica e Statistica</a:t>
            </a:r>
          </a:p>
          <a:p>
            <a:pPr eaLnBrk="1" hangingPunct="1"/>
            <a:endParaRPr lang="it-IT" sz="1600" dirty="0">
              <a:solidFill>
                <a:schemeClr val="bg1"/>
              </a:solidFill>
            </a:endParaRPr>
          </a:p>
          <a:p>
            <a:pPr eaLnBrk="1" hangingPunct="1"/>
            <a:r>
              <a:rPr lang="it-IT" sz="1600" dirty="0">
                <a:solidFill>
                  <a:schemeClr val="bg1"/>
                </a:solidFill>
              </a:rPr>
              <a:t>Laurea Magistrale in Ingegneria Gestionale</a:t>
            </a:r>
            <a:endParaRPr lang="it-IT" altLang="it-IT" sz="1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tangolo con angoli arrotondati 12">
            <a:extLst>
              <a:ext uri="{FF2B5EF4-FFF2-40B4-BE49-F238E27FC236}">
                <a16:creationId xmlns:a16="http://schemas.microsoft.com/office/drawing/2014/main" id="{D86BF7B9-E39A-2842-4CDE-6BDCA2609DC9}"/>
              </a:ext>
            </a:extLst>
          </p:cNvPr>
          <p:cNvSpPr/>
          <p:nvPr/>
        </p:nvSpPr>
        <p:spPr bwMode="auto">
          <a:xfrm>
            <a:off x="6245147" y="1469600"/>
            <a:ext cx="2457462" cy="4335664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9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5" name="Rettangolo con angoli arrotondati 14">
            <a:extLst>
              <a:ext uri="{FF2B5EF4-FFF2-40B4-BE49-F238E27FC236}">
                <a16:creationId xmlns:a16="http://schemas.microsoft.com/office/drawing/2014/main" id="{7DE88B3F-1A92-1D2B-3539-83ABD138F4EE}"/>
              </a:ext>
            </a:extLst>
          </p:cNvPr>
          <p:cNvSpPr/>
          <p:nvPr/>
        </p:nvSpPr>
        <p:spPr bwMode="auto">
          <a:xfrm>
            <a:off x="3351750" y="1469600"/>
            <a:ext cx="2457463" cy="4335664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9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" name="Segnaposto data 3">
            <a:extLst>
              <a:ext uri="{FF2B5EF4-FFF2-40B4-BE49-F238E27FC236}">
                <a16:creationId xmlns:a16="http://schemas.microsoft.com/office/drawing/2014/main" id="{9514D1F7-2E6A-E207-A6A7-7B2260EA2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86434-D0AF-4D9A-80D0-6AFCF79FCC5B}" type="datetime1">
              <a:rPr lang="it-IT" altLang="it-IT"/>
              <a:pPr/>
              <a:t>20/10/2026</a:t>
            </a:fld>
            <a:endParaRPr lang="it-IT" altLang="it-IT"/>
          </a:p>
        </p:txBody>
      </p:sp>
      <p:sp>
        <p:nvSpPr>
          <p:cNvPr id="4" name="Segnaposto numero diapositiva 5">
            <a:extLst>
              <a:ext uri="{FF2B5EF4-FFF2-40B4-BE49-F238E27FC236}">
                <a16:creationId xmlns:a16="http://schemas.microsoft.com/office/drawing/2014/main" id="{2657F8FF-CCB4-D641-9ABE-1339AB461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it-IT" altLang="it-IT"/>
              <a:t>Pagina </a:t>
            </a:r>
            <a:fld id="{6272AF97-468E-4D39-BCD0-38003E2F838C}" type="slidenum">
              <a:rPr lang="it-IT" altLang="it-IT"/>
              <a:pPr/>
              <a:t>2</a:t>
            </a:fld>
            <a:endParaRPr lang="it-IT" altLang="it-IT"/>
          </a:p>
        </p:txBody>
      </p:sp>
      <p:sp>
        <p:nvSpPr>
          <p:cNvPr id="9218" name="Rectangle 2">
            <a:extLst>
              <a:ext uri="{FF2B5EF4-FFF2-40B4-BE49-F238E27FC236}">
                <a16:creationId xmlns:a16="http://schemas.microsoft.com/office/drawing/2014/main" id="{E6A66852-B1B5-C754-944E-3E477AC83E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16013" y="409575"/>
            <a:ext cx="7416800" cy="504825"/>
          </a:xfrm>
        </p:spPr>
        <p:txBody>
          <a:bodyPr/>
          <a:lstStyle/>
          <a:p>
            <a:r>
              <a:rPr lang="it-IT" altLang="it-IT" dirty="0"/>
              <a:t>Introduzione</a:t>
            </a:r>
          </a:p>
        </p:txBody>
      </p:sp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CC7E0CB3-7C02-622D-DBCA-396A4F0857F5}"/>
              </a:ext>
            </a:extLst>
          </p:cNvPr>
          <p:cNvSpPr/>
          <p:nvPr/>
        </p:nvSpPr>
        <p:spPr bwMode="auto">
          <a:xfrm>
            <a:off x="458353" y="1469600"/>
            <a:ext cx="2457463" cy="4335664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9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pic>
        <p:nvPicPr>
          <p:cNvPr id="9" name="Elemento grafico 8" descr="Tiro a segno con riempimento a tinta unita">
            <a:extLst>
              <a:ext uri="{FF2B5EF4-FFF2-40B4-BE49-F238E27FC236}">
                <a16:creationId xmlns:a16="http://schemas.microsoft.com/office/drawing/2014/main" id="{885572AA-F2B5-1302-4D31-B944DC9E8C8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16678" y="1602736"/>
            <a:ext cx="914400" cy="914400"/>
          </a:xfrm>
          <a:prstGeom prst="rect">
            <a:avLst/>
          </a:prstGeom>
        </p:spPr>
      </p:pic>
      <p:pic>
        <p:nvPicPr>
          <p:cNvPr id="11" name="Elemento grafico 10" descr="Ricerca con riempimento a tinta unita">
            <a:extLst>
              <a:ext uri="{FF2B5EF4-FFF2-40B4-BE49-F238E27FC236}">
                <a16:creationId xmlns:a16="http://schemas.microsoft.com/office/drawing/2014/main" id="{328D9CE3-DCFA-99A5-1452-16D997E56E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14800" y="1662520"/>
            <a:ext cx="914400" cy="914400"/>
          </a:xfrm>
          <a:prstGeom prst="rect">
            <a:avLst/>
          </a:prstGeom>
        </p:spPr>
      </p:pic>
      <p:sp>
        <p:nvSpPr>
          <p:cNvPr id="12" name="Rectangle 5">
            <a:extLst>
              <a:ext uri="{FF2B5EF4-FFF2-40B4-BE49-F238E27FC236}">
                <a16:creationId xmlns:a16="http://schemas.microsoft.com/office/drawing/2014/main" id="{9B103B4D-02C9-351C-9959-4B9CB4689F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1749" y="2721064"/>
            <a:ext cx="2457463" cy="26673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822433"/>
              </a:buClr>
              <a:buChar char="•"/>
              <a:defRPr sz="2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1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buFontTx/>
              <a:buNone/>
            </a:pPr>
            <a:r>
              <a:rPr lang="it-IT" sz="1600" b="1" dirty="0">
                <a:solidFill>
                  <a:schemeClr val="tx1"/>
                </a:solidFill>
              </a:rPr>
              <a:t>   METODOLOGIA</a:t>
            </a:r>
          </a:p>
          <a:p>
            <a:pPr marL="0" indent="0" eaLnBrk="1" hangingPunct="1">
              <a:buNone/>
            </a:pPr>
            <a:endParaRPr lang="it-IT" sz="1600" dirty="0"/>
          </a:p>
          <a:p>
            <a:pPr eaLnBrk="1" hangingPunct="1"/>
            <a:r>
              <a:rPr lang="it-IT" sz="1600" dirty="0"/>
              <a:t>Approccio integrato basato su tecniche di Process Mining e </a:t>
            </a:r>
            <a:r>
              <a:rPr lang="it-IT" sz="1600" dirty="0" err="1"/>
              <a:t>Simulation</a:t>
            </a:r>
            <a:r>
              <a:rPr lang="it-IT" sz="1600" dirty="0"/>
              <a:t> su dati reali</a:t>
            </a:r>
          </a:p>
        </p:txBody>
      </p:sp>
      <p:sp>
        <p:nvSpPr>
          <p:cNvPr id="9221" name="Rectangle 5">
            <a:extLst>
              <a:ext uri="{FF2B5EF4-FFF2-40B4-BE49-F238E27FC236}">
                <a16:creationId xmlns:a16="http://schemas.microsoft.com/office/drawing/2014/main" id="{F5FF38CB-27E2-D112-4816-E9ECEA9FB5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245147" y="2520772"/>
            <a:ext cx="2457462" cy="3323264"/>
          </a:xfrm>
        </p:spPr>
        <p:txBody>
          <a:bodyPr/>
          <a:lstStyle/>
          <a:p>
            <a:pPr algn="ctr">
              <a:buFontTx/>
              <a:buNone/>
            </a:pPr>
            <a:r>
              <a:rPr lang="it-IT" sz="1600" b="1" dirty="0">
                <a:solidFill>
                  <a:schemeClr val="tx1"/>
                </a:solidFill>
              </a:rPr>
              <a:t>OBIETTIVI</a:t>
            </a:r>
            <a:r>
              <a:rPr lang="it-IT" sz="1600" dirty="0"/>
              <a:t> </a:t>
            </a:r>
          </a:p>
          <a:p>
            <a:pPr algn="ctr">
              <a:buFontTx/>
              <a:buNone/>
            </a:pPr>
            <a:endParaRPr lang="it-IT" sz="1600" dirty="0"/>
          </a:p>
          <a:p>
            <a:pPr lvl="0"/>
            <a:r>
              <a:rPr lang="it-IT" sz="1600" dirty="0"/>
              <a:t>Mappare il flusso effettivo (</a:t>
            </a:r>
            <a:r>
              <a:rPr lang="it-IT" sz="1600" i="1" dirty="0" err="1"/>
              <a:t>as-is</a:t>
            </a:r>
            <a:r>
              <a:rPr lang="it-IT" sz="1600" dirty="0"/>
              <a:t>) ed evidenziare i colli di bottiglia</a:t>
            </a:r>
          </a:p>
          <a:p>
            <a:pPr marL="0" lvl="0" indent="0">
              <a:buNone/>
            </a:pPr>
            <a:endParaRPr lang="it-IT" sz="1600" dirty="0"/>
          </a:p>
          <a:p>
            <a:pPr lvl="0"/>
            <a:r>
              <a:rPr lang="it-IT" sz="1600" dirty="0"/>
              <a:t>Valutare tramite scenari </a:t>
            </a:r>
            <a:r>
              <a:rPr lang="it-IT" sz="1600" i="1" dirty="0" err="1"/>
              <a:t>what-if</a:t>
            </a:r>
            <a:r>
              <a:rPr lang="it-IT" sz="1600" dirty="0"/>
              <a:t> l'ottimizzazione dell'assetto operativo</a:t>
            </a:r>
          </a:p>
        </p:txBody>
      </p:sp>
      <p:sp>
        <p:nvSpPr>
          <p:cNvPr id="8" name="Text Box 6">
            <a:extLst>
              <a:ext uri="{FF2B5EF4-FFF2-40B4-BE49-F238E27FC236}">
                <a16:creationId xmlns:a16="http://schemas.microsoft.com/office/drawing/2014/main" id="{B5B03C4B-FCEA-4844-B15B-1437488EF8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776288"/>
            <a:ext cx="740410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altLang="it-IT" sz="2200" dirty="0">
                <a:solidFill>
                  <a:srgbClr val="000000"/>
                </a:solidFill>
              </a:rPr>
              <a:t>Contesto, metodologia e obiettivi</a:t>
            </a:r>
            <a:endParaRPr lang="it-IT" altLang="it-IT" sz="2200" dirty="0">
              <a:solidFill>
                <a:schemeClr val="tx1"/>
              </a:solidFill>
            </a:endParaRPr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8593C10C-0123-1FA0-CFA3-B01EFEB701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8353" y="2721064"/>
            <a:ext cx="2457462" cy="26673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822433"/>
              </a:buClr>
              <a:buChar char="•"/>
              <a:defRPr sz="2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1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buFontTx/>
              <a:buNone/>
            </a:pPr>
            <a:r>
              <a:rPr lang="it-IT" sz="1600" b="1" dirty="0">
                <a:solidFill>
                  <a:schemeClr val="tx1"/>
                </a:solidFill>
              </a:rPr>
              <a:t>   CONTESTO</a:t>
            </a:r>
          </a:p>
          <a:p>
            <a:pPr algn="ctr" eaLnBrk="1" hangingPunct="1">
              <a:buFontTx/>
              <a:buNone/>
            </a:pPr>
            <a:endParaRPr lang="it-IT" sz="1600" b="1" dirty="0">
              <a:solidFill>
                <a:schemeClr val="tx1"/>
              </a:solidFill>
            </a:endParaRPr>
          </a:p>
          <a:p>
            <a:pPr eaLnBrk="1" hangingPunct="1"/>
            <a:r>
              <a:rPr lang="it-IT" sz="1600" dirty="0"/>
              <a:t>Processo di soccorso </a:t>
            </a:r>
            <a:r>
              <a:rPr lang="it-IT" sz="1600" dirty="0" err="1"/>
              <a:t>pre</a:t>
            </a:r>
            <a:r>
              <a:rPr lang="it-IT" sz="1600" dirty="0"/>
              <a:t>-ospedaliero</a:t>
            </a:r>
          </a:p>
          <a:p>
            <a:pPr marL="0" indent="0" eaLnBrk="1" hangingPunct="1">
              <a:buNone/>
            </a:pPr>
            <a:endParaRPr lang="it-IT" sz="1600" dirty="0"/>
          </a:p>
          <a:p>
            <a:pPr eaLnBrk="1" hangingPunct="1"/>
            <a:r>
              <a:rPr lang="it-IT" sz="1600" dirty="0"/>
              <a:t>Ottimizzazione logistica della flotta di ambulanze</a:t>
            </a:r>
          </a:p>
        </p:txBody>
      </p:sp>
      <p:pic>
        <p:nvPicPr>
          <p:cNvPr id="19" name="Elemento grafico 18" descr="Valigetta con riempimento a tinta unita">
            <a:extLst>
              <a:ext uri="{FF2B5EF4-FFF2-40B4-BE49-F238E27FC236}">
                <a16:creationId xmlns:a16="http://schemas.microsoft.com/office/drawing/2014/main" id="{81F0B038-A159-CB56-07F6-9A1FD44F3A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29885" y="166252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7E9B5-7BE6-7AD5-C8EC-982D51847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3">
            <a:extLst>
              <a:ext uri="{FF2B5EF4-FFF2-40B4-BE49-F238E27FC236}">
                <a16:creationId xmlns:a16="http://schemas.microsoft.com/office/drawing/2014/main" id="{32E63461-0A0C-01CE-6F0D-6B3D030A4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86434-D0AF-4D9A-80D0-6AFCF79FCC5B}" type="datetime1">
              <a:rPr lang="it-IT" altLang="it-IT"/>
              <a:pPr/>
              <a:t>20/10/2026</a:t>
            </a:fld>
            <a:endParaRPr lang="it-IT" altLang="it-IT"/>
          </a:p>
        </p:txBody>
      </p:sp>
      <p:sp>
        <p:nvSpPr>
          <p:cNvPr id="4" name="Segnaposto numero diapositiva 5">
            <a:extLst>
              <a:ext uri="{FF2B5EF4-FFF2-40B4-BE49-F238E27FC236}">
                <a16:creationId xmlns:a16="http://schemas.microsoft.com/office/drawing/2014/main" id="{BD59FCD5-FB26-3CE2-459D-1D63C57BD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it-IT" altLang="it-IT"/>
              <a:t>Pagina </a:t>
            </a:r>
            <a:fld id="{6272AF97-468E-4D39-BCD0-38003E2F838C}" type="slidenum">
              <a:rPr lang="it-IT" altLang="it-IT"/>
              <a:pPr/>
              <a:t>3</a:t>
            </a:fld>
            <a:endParaRPr lang="it-IT" altLang="it-IT"/>
          </a:p>
        </p:txBody>
      </p:sp>
      <p:sp>
        <p:nvSpPr>
          <p:cNvPr id="9218" name="Rectangle 2">
            <a:extLst>
              <a:ext uri="{FF2B5EF4-FFF2-40B4-BE49-F238E27FC236}">
                <a16:creationId xmlns:a16="http://schemas.microsoft.com/office/drawing/2014/main" id="{35FB9BDD-9669-585A-9C55-01B51B762F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16013" y="409575"/>
            <a:ext cx="7416800" cy="504825"/>
          </a:xfrm>
        </p:spPr>
        <p:txBody>
          <a:bodyPr/>
          <a:lstStyle/>
          <a:p>
            <a:r>
              <a:rPr lang="it-IT" altLang="it-IT" dirty="0"/>
              <a:t>Processo di soccorso </a:t>
            </a:r>
            <a:r>
              <a:rPr lang="it-IT" altLang="it-IT" dirty="0" err="1"/>
              <a:t>pre</a:t>
            </a:r>
            <a:r>
              <a:rPr lang="it-IT" altLang="it-IT" dirty="0"/>
              <a:t>-ospedaliero</a:t>
            </a:r>
          </a:p>
        </p:txBody>
      </p:sp>
      <p:sp>
        <p:nvSpPr>
          <p:cNvPr id="9222" name="Text Box 6">
            <a:extLst>
              <a:ext uri="{FF2B5EF4-FFF2-40B4-BE49-F238E27FC236}">
                <a16:creationId xmlns:a16="http://schemas.microsoft.com/office/drawing/2014/main" id="{EB6F696E-6AE0-03C9-5E45-A3B8D202D2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776288"/>
            <a:ext cx="740410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altLang="it-IT" sz="2200" dirty="0">
                <a:solidFill>
                  <a:srgbClr val="000000"/>
                </a:solidFill>
              </a:rPr>
              <a:t>Macro-fasi del processo</a:t>
            </a:r>
            <a:endParaRPr lang="it-IT" altLang="it-IT" sz="2200" dirty="0">
              <a:solidFill>
                <a:schemeClr val="tx1"/>
              </a:solidFill>
            </a:endParaRPr>
          </a:p>
        </p:txBody>
      </p:sp>
      <p:grpSp>
        <p:nvGrpSpPr>
          <p:cNvPr id="3" name="Gruppo 2">
            <a:extLst>
              <a:ext uri="{FF2B5EF4-FFF2-40B4-BE49-F238E27FC236}">
                <a16:creationId xmlns:a16="http://schemas.microsoft.com/office/drawing/2014/main" id="{2E3A868B-D100-59E7-41DF-EAA5E022256B}"/>
              </a:ext>
            </a:extLst>
          </p:cNvPr>
          <p:cNvGrpSpPr/>
          <p:nvPr/>
        </p:nvGrpSpPr>
        <p:grpSpPr>
          <a:xfrm>
            <a:off x="955093" y="1315272"/>
            <a:ext cx="7361324" cy="3178291"/>
            <a:chOff x="819721" y="1412842"/>
            <a:chExt cx="7874638" cy="3406787"/>
          </a:xfrm>
        </p:grpSpPr>
        <p:sp>
          <p:nvSpPr>
            <p:cNvPr id="6" name="Figura a mano libera: forma 5">
              <a:extLst>
                <a:ext uri="{FF2B5EF4-FFF2-40B4-BE49-F238E27FC236}">
                  <a16:creationId xmlns:a16="http://schemas.microsoft.com/office/drawing/2014/main" id="{71DA91C3-4029-3A55-8482-9C12CA45C7BB}"/>
                </a:ext>
              </a:extLst>
            </p:cNvPr>
            <p:cNvSpPr/>
            <p:nvPr/>
          </p:nvSpPr>
          <p:spPr>
            <a:xfrm>
              <a:off x="1757038" y="1412842"/>
              <a:ext cx="6937321" cy="803486"/>
            </a:xfrm>
            <a:custGeom>
              <a:avLst/>
              <a:gdLst>
                <a:gd name="csX0" fmla="*/ 0 w 6090000"/>
                <a:gd name="csY0" fmla="*/ 0 h 803487"/>
                <a:gd name="csX1" fmla="*/ 6090000 w 6090000"/>
                <a:gd name="csY1" fmla="*/ 0 h 803487"/>
                <a:gd name="csX2" fmla="*/ 6090000 w 6090000"/>
                <a:gd name="csY2" fmla="*/ 803487 h 803487"/>
                <a:gd name="csX3" fmla="*/ 0 w 6090000"/>
                <a:gd name="csY3" fmla="*/ 803487 h 803487"/>
                <a:gd name="csX4" fmla="*/ 0 w 6090000"/>
                <a:gd name="csY4" fmla="*/ 0 h 8034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090000" h="803487">
                  <a:moveTo>
                    <a:pt x="0" y="0"/>
                  </a:moveTo>
                  <a:lnTo>
                    <a:pt x="6090000" y="0"/>
                  </a:lnTo>
                  <a:lnTo>
                    <a:pt x="6090000" y="803487"/>
                  </a:lnTo>
                  <a:lnTo>
                    <a:pt x="0" y="803487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10160" rIns="20320" bIns="10160" numCol="1" spcCol="1270" anchor="ctr" anchorCtr="0">
              <a:noAutofit/>
            </a:bodyPr>
            <a:lstStyle/>
            <a:p>
              <a:pPr marL="0" lvl="0" indent="0" algn="l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  <a:defRPr b="1"/>
              </a:pPr>
              <a:r>
                <a:rPr lang="it-IT" sz="1600" kern="1200" dirty="0"/>
                <a:t>Ricezione della chiamata e triage telefonico con codice di gravità</a:t>
              </a:r>
            </a:p>
          </p:txBody>
        </p:sp>
        <p:sp>
          <p:nvSpPr>
            <p:cNvPr id="7" name="Figura a mano libera: forma 6">
              <a:extLst>
                <a:ext uri="{FF2B5EF4-FFF2-40B4-BE49-F238E27FC236}">
                  <a16:creationId xmlns:a16="http://schemas.microsoft.com/office/drawing/2014/main" id="{62A253E7-7C49-2FCD-FB4D-ECF7D10E0F0B}"/>
                </a:ext>
              </a:extLst>
            </p:cNvPr>
            <p:cNvSpPr/>
            <p:nvPr/>
          </p:nvSpPr>
          <p:spPr>
            <a:xfrm>
              <a:off x="819721" y="1444982"/>
              <a:ext cx="739208" cy="739208"/>
            </a:xfrm>
            <a:custGeom>
              <a:avLst/>
              <a:gdLst>
                <a:gd name="csX0" fmla="*/ 0 w 739208"/>
                <a:gd name="csY0" fmla="*/ 369604 h 739208"/>
                <a:gd name="csX1" fmla="*/ 369604 w 739208"/>
                <a:gd name="csY1" fmla="*/ 0 h 739208"/>
                <a:gd name="csX2" fmla="*/ 739208 w 739208"/>
                <a:gd name="csY2" fmla="*/ 369604 h 739208"/>
                <a:gd name="csX3" fmla="*/ 369604 w 739208"/>
                <a:gd name="csY3" fmla="*/ 739208 h 739208"/>
                <a:gd name="csX4" fmla="*/ 0 w 739208"/>
                <a:gd name="csY4" fmla="*/ 369604 h 73920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39208" h="739208">
                  <a:moveTo>
                    <a:pt x="0" y="369604"/>
                  </a:moveTo>
                  <a:cubicBezTo>
                    <a:pt x="0" y="165477"/>
                    <a:pt x="165477" y="0"/>
                    <a:pt x="369604" y="0"/>
                  </a:cubicBezTo>
                  <a:cubicBezTo>
                    <a:pt x="573731" y="0"/>
                    <a:pt x="739208" y="165477"/>
                    <a:pt x="739208" y="369604"/>
                  </a:cubicBezTo>
                  <a:cubicBezTo>
                    <a:pt x="739208" y="573731"/>
                    <a:pt x="573731" y="739208"/>
                    <a:pt x="369604" y="739208"/>
                  </a:cubicBezTo>
                  <a:cubicBezTo>
                    <a:pt x="165477" y="739208"/>
                    <a:pt x="0" y="573731"/>
                    <a:pt x="0" y="369604"/>
                  </a:cubicBezTo>
                  <a:close/>
                </a:path>
              </a:pathLst>
            </a:custGeom>
            <a:solidFill>
              <a:schemeClr val="tx1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31115" tIns="131115" rIns="131115" bIns="131115" numCol="1" spcCol="1270" anchor="ctr" anchorCtr="0">
              <a:noAutofit/>
            </a:bodyPr>
            <a:lstStyle/>
            <a:p>
              <a:pPr marL="0" lvl="0" indent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  <a:defRPr b="1"/>
              </a:pPr>
              <a:r>
                <a:rPr sz="3600" kern="1200"/>
                <a:t>1</a:t>
              </a:r>
              <a:endParaRPr sz="3600" kern="1200" dirty="0"/>
            </a:p>
          </p:txBody>
        </p:sp>
        <p:sp>
          <p:nvSpPr>
            <p:cNvPr id="8" name="Figura a mano libera: forma 7">
              <a:extLst>
                <a:ext uri="{FF2B5EF4-FFF2-40B4-BE49-F238E27FC236}">
                  <a16:creationId xmlns:a16="http://schemas.microsoft.com/office/drawing/2014/main" id="{0A21E203-F69D-DB7F-0CC6-7E241A1EBD57}"/>
                </a:ext>
              </a:extLst>
            </p:cNvPr>
            <p:cNvSpPr/>
            <p:nvPr/>
          </p:nvSpPr>
          <p:spPr>
            <a:xfrm>
              <a:off x="1179683" y="2184189"/>
              <a:ext cx="19284" cy="128559"/>
            </a:xfrm>
            <a:custGeom>
              <a:avLst/>
              <a:gdLst>
                <a:gd name="csX0" fmla="*/ 0 w 128558"/>
                <a:gd name="csY0" fmla="*/ 0 h 19283"/>
                <a:gd name="csX1" fmla="*/ 128558 w 128558"/>
                <a:gd name="csY1" fmla="*/ 0 h 19283"/>
                <a:gd name="csX2" fmla="*/ 128558 w 128558"/>
                <a:gd name="csY2" fmla="*/ 19283 h 19283"/>
                <a:gd name="csX3" fmla="*/ 0 w 128558"/>
                <a:gd name="csY3" fmla="*/ 19283 h 19283"/>
                <a:gd name="csX4" fmla="*/ 0 w 128558"/>
                <a:gd name="csY4" fmla="*/ 0 h 192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28558" h="19283">
                  <a:moveTo>
                    <a:pt x="128555" y="0"/>
                  </a:moveTo>
                  <a:lnTo>
                    <a:pt x="128555" y="19283"/>
                  </a:lnTo>
                  <a:lnTo>
                    <a:pt x="3" y="19283"/>
                  </a:lnTo>
                  <a:lnTo>
                    <a:pt x="3" y="0"/>
                  </a:lnTo>
                  <a:lnTo>
                    <a:pt x="128555" y="0"/>
                  </a:lnTo>
                  <a:close/>
                </a:path>
              </a:pathLst>
            </a:custGeom>
            <a:solidFill>
              <a:schemeClr val="tx1"/>
            </a:solidFill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shade val="8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-228847" tIns="-608092" rIns="-228847" bIns="259673" numCol="1" spcCol="1270" anchor="ctr" anchorCtr="0">
              <a:noAutofit/>
            </a:bodyPr>
            <a:lstStyle/>
            <a:p>
              <a:pPr marL="0" lvl="0" indent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  <a:defRPr b="1"/>
              </a:pPr>
              <a:r>
                <a:rPr sz="3600" kern="1200" dirty="0"/>
                <a:t>1</a:t>
              </a:r>
            </a:p>
          </p:txBody>
        </p:sp>
        <p:sp>
          <p:nvSpPr>
            <p:cNvPr id="9" name="Figura a mano libera: forma 8">
              <a:extLst>
                <a:ext uri="{FF2B5EF4-FFF2-40B4-BE49-F238E27FC236}">
                  <a16:creationId xmlns:a16="http://schemas.microsoft.com/office/drawing/2014/main" id="{C6989E47-FD1F-D023-DBF1-2FA3EA437545}"/>
                </a:ext>
              </a:extLst>
            </p:cNvPr>
            <p:cNvSpPr/>
            <p:nvPr/>
          </p:nvSpPr>
          <p:spPr>
            <a:xfrm>
              <a:off x="1757038" y="2280609"/>
              <a:ext cx="6762352" cy="803486"/>
            </a:xfrm>
            <a:custGeom>
              <a:avLst/>
              <a:gdLst>
                <a:gd name="csX0" fmla="*/ 0 w 6090000"/>
                <a:gd name="csY0" fmla="*/ 0 h 803487"/>
                <a:gd name="csX1" fmla="*/ 6090000 w 6090000"/>
                <a:gd name="csY1" fmla="*/ 0 h 803487"/>
                <a:gd name="csX2" fmla="*/ 6090000 w 6090000"/>
                <a:gd name="csY2" fmla="*/ 803487 h 803487"/>
                <a:gd name="csX3" fmla="*/ 0 w 6090000"/>
                <a:gd name="csY3" fmla="*/ 803487 h 803487"/>
                <a:gd name="csX4" fmla="*/ 0 w 6090000"/>
                <a:gd name="csY4" fmla="*/ 0 h 8034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090000" h="803487">
                  <a:moveTo>
                    <a:pt x="0" y="0"/>
                  </a:moveTo>
                  <a:lnTo>
                    <a:pt x="6090000" y="0"/>
                  </a:lnTo>
                  <a:lnTo>
                    <a:pt x="6090000" y="803487"/>
                  </a:lnTo>
                  <a:lnTo>
                    <a:pt x="0" y="803487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10160" rIns="20320" bIns="10160" numCol="1" spcCol="1270" anchor="ctr" anchorCtr="0">
              <a:noAutofit/>
            </a:bodyPr>
            <a:lstStyle/>
            <a:p>
              <a:pPr marL="0" lvl="0" indent="0" algn="l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  <a:defRPr b="1"/>
              </a:pPr>
              <a:r>
                <a:rPr lang="it-IT" sz="1600" kern="1200" dirty="0"/>
                <a:t>Assegnazione del mezzo e instradamento verso il paziente</a:t>
              </a:r>
            </a:p>
          </p:txBody>
        </p:sp>
        <p:sp>
          <p:nvSpPr>
            <p:cNvPr id="10" name="Figura a mano libera: forma 9">
              <a:extLst>
                <a:ext uri="{FF2B5EF4-FFF2-40B4-BE49-F238E27FC236}">
                  <a16:creationId xmlns:a16="http://schemas.microsoft.com/office/drawing/2014/main" id="{8D86D82C-390D-79A9-8C39-918A90919ECD}"/>
                </a:ext>
              </a:extLst>
            </p:cNvPr>
            <p:cNvSpPr/>
            <p:nvPr/>
          </p:nvSpPr>
          <p:spPr>
            <a:xfrm>
              <a:off x="819721" y="2312748"/>
              <a:ext cx="739208" cy="739208"/>
            </a:xfrm>
            <a:custGeom>
              <a:avLst/>
              <a:gdLst>
                <a:gd name="csX0" fmla="*/ 0 w 739208"/>
                <a:gd name="csY0" fmla="*/ 369604 h 739208"/>
                <a:gd name="csX1" fmla="*/ 369604 w 739208"/>
                <a:gd name="csY1" fmla="*/ 0 h 739208"/>
                <a:gd name="csX2" fmla="*/ 739208 w 739208"/>
                <a:gd name="csY2" fmla="*/ 369604 h 739208"/>
                <a:gd name="csX3" fmla="*/ 369604 w 739208"/>
                <a:gd name="csY3" fmla="*/ 739208 h 739208"/>
                <a:gd name="csX4" fmla="*/ 0 w 739208"/>
                <a:gd name="csY4" fmla="*/ 369604 h 73920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39208" h="739208">
                  <a:moveTo>
                    <a:pt x="0" y="369604"/>
                  </a:moveTo>
                  <a:cubicBezTo>
                    <a:pt x="0" y="165477"/>
                    <a:pt x="165477" y="0"/>
                    <a:pt x="369604" y="0"/>
                  </a:cubicBezTo>
                  <a:cubicBezTo>
                    <a:pt x="573731" y="0"/>
                    <a:pt x="739208" y="165477"/>
                    <a:pt x="739208" y="369604"/>
                  </a:cubicBezTo>
                  <a:cubicBezTo>
                    <a:pt x="739208" y="573731"/>
                    <a:pt x="573731" y="739208"/>
                    <a:pt x="369604" y="739208"/>
                  </a:cubicBezTo>
                  <a:cubicBezTo>
                    <a:pt x="165477" y="739208"/>
                    <a:pt x="0" y="573731"/>
                    <a:pt x="0" y="369604"/>
                  </a:cubicBezTo>
                  <a:close/>
                </a:path>
              </a:pathLst>
            </a:custGeom>
            <a:solidFill>
              <a:schemeClr val="tx1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31115" tIns="131115" rIns="131115" bIns="131115" numCol="1" spcCol="1270" anchor="ctr" anchorCtr="0">
              <a:noAutofit/>
            </a:bodyPr>
            <a:lstStyle/>
            <a:p>
              <a:pPr marL="0" lvl="0" indent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  <a:defRPr b="1"/>
              </a:pPr>
              <a:r>
                <a:rPr sz="3600" kern="1200"/>
                <a:t>2</a:t>
              </a:r>
            </a:p>
          </p:txBody>
        </p:sp>
        <p:sp>
          <p:nvSpPr>
            <p:cNvPr id="11" name="Figura a mano libera: forma 10">
              <a:extLst>
                <a:ext uri="{FF2B5EF4-FFF2-40B4-BE49-F238E27FC236}">
                  <a16:creationId xmlns:a16="http://schemas.microsoft.com/office/drawing/2014/main" id="{4CD1F759-DDCC-23CF-AC50-590AB75E9D4F}"/>
                </a:ext>
              </a:extLst>
            </p:cNvPr>
            <p:cNvSpPr/>
            <p:nvPr/>
          </p:nvSpPr>
          <p:spPr>
            <a:xfrm>
              <a:off x="1179683" y="3051956"/>
              <a:ext cx="19284" cy="128559"/>
            </a:xfrm>
            <a:custGeom>
              <a:avLst/>
              <a:gdLst>
                <a:gd name="csX0" fmla="*/ 0 w 128558"/>
                <a:gd name="csY0" fmla="*/ 0 h 19283"/>
                <a:gd name="csX1" fmla="*/ 128558 w 128558"/>
                <a:gd name="csY1" fmla="*/ 0 h 19283"/>
                <a:gd name="csX2" fmla="*/ 128558 w 128558"/>
                <a:gd name="csY2" fmla="*/ 19283 h 19283"/>
                <a:gd name="csX3" fmla="*/ 0 w 128558"/>
                <a:gd name="csY3" fmla="*/ 19283 h 19283"/>
                <a:gd name="csX4" fmla="*/ 0 w 128558"/>
                <a:gd name="csY4" fmla="*/ 0 h 192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28558" h="19283">
                  <a:moveTo>
                    <a:pt x="128555" y="0"/>
                  </a:moveTo>
                  <a:lnTo>
                    <a:pt x="128555" y="19283"/>
                  </a:lnTo>
                  <a:lnTo>
                    <a:pt x="3" y="19283"/>
                  </a:lnTo>
                  <a:lnTo>
                    <a:pt x="3" y="0"/>
                  </a:lnTo>
                  <a:lnTo>
                    <a:pt x="128555" y="0"/>
                  </a:lnTo>
                  <a:close/>
                </a:path>
              </a:pathLst>
            </a:custGeom>
            <a:solidFill>
              <a:schemeClr val="tx1"/>
            </a:solidFill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shade val="8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-228847" tIns="-608093" rIns="-228847" bIns="259674" numCol="1" spcCol="1270" anchor="ctr" anchorCtr="0">
              <a:noAutofit/>
            </a:bodyPr>
            <a:lstStyle/>
            <a:p>
              <a:pPr marL="0" lvl="0" indent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  <a:defRPr b="1"/>
              </a:pPr>
              <a:r>
                <a:rPr sz="3600" kern="1200" dirty="0"/>
                <a:t>2</a:t>
              </a:r>
            </a:p>
          </p:txBody>
        </p:sp>
        <p:sp>
          <p:nvSpPr>
            <p:cNvPr id="12" name="Figura a mano libera: forma 11">
              <a:extLst>
                <a:ext uri="{FF2B5EF4-FFF2-40B4-BE49-F238E27FC236}">
                  <a16:creationId xmlns:a16="http://schemas.microsoft.com/office/drawing/2014/main" id="{78D4017B-9CA9-2117-1113-91A8394C9A85}"/>
                </a:ext>
              </a:extLst>
            </p:cNvPr>
            <p:cNvSpPr/>
            <p:nvPr/>
          </p:nvSpPr>
          <p:spPr>
            <a:xfrm>
              <a:off x="1757038" y="3148376"/>
              <a:ext cx="6090000" cy="803487"/>
            </a:xfrm>
            <a:custGeom>
              <a:avLst/>
              <a:gdLst>
                <a:gd name="csX0" fmla="*/ 0 w 6090000"/>
                <a:gd name="csY0" fmla="*/ 0 h 803487"/>
                <a:gd name="csX1" fmla="*/ 6090000 w 6090000"/>
                <a:gd name="csY1" fmla="*/ 0 h 803487"/>
                <a:gd name="csX2" fmla="*/ 6090000 w 6090000"/>
                <a:gd name="csY2" fmla="*/ 803487 h 803487"/>
                <a:gd name="csX3" fmla="*/ 0 w 6090000"/>
                <a:gd name="csY3" fmla="*/ 803487 h 803487"/>
                <a:gd name="csX4" fmla="*/ 0 w 6090000"/>
                <a:gd name="csY4" fmla="*/ 0 h 8034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090000" h="803487">
                  <a:moveTo>
                    <a:pt x="0" y="0"/>
                  </a:moveTo>
                  <a:lnTo>
                    <a:pt x="6090000" y="0"/>
                  </a:lnTo>
                  <a:lnTo>
                    <a:pt x="6090000" y="803487"/>
                  </a:lnTo>
                  <a:lnTo>
                    <a:pt x="0" y="803487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10160" rIns="20320" bIns="10160" numCol="1" spcCol="1270" anchor="ctr" anchorCtr="0">
              <a:noAutofit/>
            </a:bodyPr>
            <a:lstStyle/>
            <a:p>
              <a:pPr marL="0" lvl="0" indent="0" algn="l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  <a:defRPr b="1"/>
              </a:pPr>
              <a:r>
                <a:rPr lang="it-IT" sz="1600" kern="1200" dirty="0"/>
                <a:t>Valutazione clinica e primo trattamento sul posto</a:t>
              </a:r>
            </a:p>
          </p:txBody>
        </p:sp>
        <p:sp>
          <p:nvSpPr>
            <p:cNvPr id="13" name="Figura a mano libera: forma 12">
              <a:extLst>
                <a:ext uri="{FF2B5EF4-FFF2-40B4-BE49-F238E27FC236}">
                  <a16:creationId xmlns:a16="http://schemas.microsoft.com/office/drawing/2014/main" id="{D4EA1C0F-C26B-CE23-B5C5-D112CCD04E43}"/>
                </a:ext>
              </a:extLst>
            </p:cNvPr>
            <p:cNvSpPr/>
            <p:nvPr/>
          </p:nvSpPr>
          <p:spPr>
            <a:xfrm>
              <a:off x="819721" y="3180515"/>
              <a:ext cx="739208" cy="739208"/>
            </a:xfrm>
            <a:custGeom>
              <a:avLst/>
              <a:gdLst>
                <a:gd name="csX0" fmla="*/ 0 w 739208"/>
                <a:gd name="csY0" fmla="*/ 369604 h 739208"/>
                <a:gd name="csX1" fmla="*/ 369604 w 739208"/>
                <a:gd name="csY1" fmla="*/ 0 h 739208"/>
                <a:gd name="csX2" fmla="*/ 739208 w 739208"/>
                <a:gd name="csY2" fmla="*/ 369604 h 739208"/>
                <a:gd name="csX3" fmla="*/ 369604 w 739208"/>
                <a:gd name="csY3" fmla="*/ 739208 h 739208"/>
                <a:gd name="csX4" fmla="*/ 0 w 739208"/>
                <a:gd name="csY4" fmla="*/ 369604 h 73920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39208" h="739208">
                  <a:moveTo>
                    <a:pt x="0" y="369604"/>
                  </a:moveTo>
                  <a:cubicBezTo>
                    <a:pt x="0" y="165477"/>
                    <a:pt x="165477" y="0"/>
                    <a:pt x="369604" y="0"/>
                  </a:cubicBezTo>
                  <a:cubicBezTo>
                    <a:pt x="573731" y="0"/>
                    <a:pt x="739208" y="165477"/>
                    <a:pt x="739208" y="369604"/>
                  </a:cubicBezTo>
                  <a:cubicBezTo>
                    <a:pt x="739208" y="573731"/>
                    <a:pt x="573731" y="739208"/>
                    <a:pt x="369604" y="739208"/>
                  </a:cubicBezTo>
                  <a:cubicBezTo>
                    <a:pt x="165477" y="739208"/>
                    <a:pt x="0" y="573731"/>
                    <a:pt x="0" y="369604"/>
                  </a:cubicBezTo>
                  <a:close/>
                </a:path>
              </a:pathLst>
            </a:custGeom>
            <a:solidFill>
              <a:schemeClr val="tx1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31115" tIns="131115" rIns="131115" bIns="131115" numCol="1" spcCol="1270" anchor="ctr" anchorCtr="0">
              <a:noAutofit/>
            </a:bodyPr>
            <a:lstStyle/>
            <a:p>
              <a:pPr marL="0" lvl="0" indent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  <a:defRPr b="1"/>
              </a:pPr>
              <a:r>
                <a:rPr sz="3600" kern="1200"/>
                <a:t>3</a:t>
              </a:r>
            </a:p>
          </p:txBody>
        </p:sp>
        <p:sp>
          <p:nvSpPr>
            <p:cNvPr id="14" name="Figura a mano libera: forma 13">
              <a:extLst>
                <a:ext uri="{FF2B5EF4-FFF2-40B4-BE49-F238E27FC236}">
                  <a16:creationId xmlns:a16="http://schemas.microsoft.com/office/drawing/2014/main" id="{DA9FC406-6B55-70BE-8BC4-ABAD70E94D8D}"/>
                </a:ext>
              </a:extLst>
            </p:cNvPr>
            <p:cNvSpPr/>
            <p:nvPr/>
          </p:nvSpPr>
          <p:spPr>
            <a:xfrm>
              <a:off x="1179683" y="3919723"/>
              <a:ext cx="19284" cy="128559"/>
            </a:xfrm>
            <a:custGeom>
              <a:avLst/>
              <a:gdLst>
                <a:gd name="csX0" fmla="*/ 0 w 128558"/>
                <a:gd name="csY0" fmla="*/ 0 h 19283"/>
                <a:gd name="csX1" fmla="*/ 128558 w 128558"/>
                <a:gd name="csY1" fmla="*/ 0 h 19283"/>
                <a:gd name="csX2" fmla="*/ 128558 w 128558"/>
                <a:gd name="csY2" fmla="*/ 19283 h 19283"/>
                <a:gd name="csX3" fmla="*/ 0 w 128558"/>
                <a:gd name="csY3" fmla="*/ 19283 h 19283"/>
                <a:gd name="csX4" fmla="*/ 0 w 128558"/>
                <a:gd name="csY4" fmla="*/ 0 h 192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28558" h="19283">
                  <a:moveTo>
                    <a:pt x="128555" y="0"/>
                  </a:moveTo>
                  <a:lnTo>
                    <a:pt x="128555" y="19283"/>
                  </a:lnTo>
                  <a:lnTo>
                    <a:pt x="3" y="19283"/>
                  </a:lnTo>
                  <a:lnTo>
                    <a:pt x="3" y="0"/>
                  </a:lnTo>
                  <a:lnTo>
                    <a:pt x="128555" y="0"/>
                  </a:lnTo>
                  <a:close/>
                </a:path>
              </a:pathLst>
            </a:custGeom>
            <a:solidFill>
              <a:schemeClr val="tx1"/>
            </a:solidFill>
          </p:spPr>
          <p:style>
            <a:lnRef idx="0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shade val="8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-228847" tIns="-608093" rIns="-228847" bIns="259674" numCol="1" spcCol="1270" anchor="ctr" anchorCtr="0">
              <a:noAutofit/>
            </a:bodyPr>
            <a:lstStyle/>
            <a:p>
              <a:pPr marL="0" lvl="0" indent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  <a:defRPr b="1"/>
              </a:pPr>
              <a:r>
                <a:rPr sz="3600" kern="1200"/>
                <a:t>3</a:t>
              </a:r>
            </a:p>
          </p:txBody>
        </p:sp>
        <p:sp>
          <p:nvSpPr>
            <p:cNvPr id="15" name="Figura a mano libera: forma 14">
              <a:extLst>
                <a:ext uri="{FF2B5EF4-FFF2-40B4-BE49-F238E27FC236}">
                  <a16:creationId xmlns:a16="http://schemas.microsoft.com/office/drawing/2014/main" id="{15AFD185-7BEF-184D-ABE6-64AAC9E08173}"/>
                </a:ext>
              </a:extLst>
            </p:cNvPr>
            <p:cNvSpPr/>
            <p:nvPr/>
          </p:nvSpPr>
          <p:spPr>
            <a:xfrm>
              <a:off x="1757038" y="4016143"/>
              <a:ext cx="6762352" cy="803486"/>
            </a:xfrm>
            <a:custGeom>
              <a:avLst/>
              <a:gdLst>
                <a:gd name="csX0" fmla="*/ 0 w 6090000"/>
                <a:gd name="csY0" fmla="*/ 0 h 803487"/>
                <a:gd name="csX1" fmla="*/ 6090000 w 6090000"/>
                <a:gd name="csY1" fmla="*/ 0 h 803487"/>
                <a:gd name="csX2" fmla="*/ 6090000 w 6090000"/>
                <a:gd name="csY2" fmla="*/ 803487 h 803487"/>
                <a:gd name="csX3" fmla="*/ 0 w 6090000"/>
                <a:gd name="csY3" fmla="*/ 803487 h 803487"/>
                <a:gd name="csX4" fmla="*/ 0 w 6090000"/>
                <a:gd name="csY4" fmla="*/ 0 h 8034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6090000" h="803487">
                  <a:moveTo>
                    <a:pt x="0" y="0"/>
                  </a:moveTo>
                  <a:lnTo>
                    <a:pt x="6090000" y="0"/>
                  </a:lnTo>
                  <a:lnTo>
                    <a:pt x="6090000" y="803487"/>
                  </a:lnTo>
                  <a:lnTo>
                    <a:pt x="0" y="803487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10160" rIns="20320" bIns="10160" numCol="1" spcCol="1270" anchor="ctr" anchorCtr="0">
              <a:noAutofit/>
            </a:bodyPr>
            <a:lstStyle/>
            <a:p>
              <a:pPr marL="0" lvl="0" indent="0" algn="l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  <a:defRPr b="1"/>
              </a:pPr>
              <a:r>
                <a:rPr lang="it-IT" sz="1600" kern="1200" dirty="0"/>
                <a:t>Eventuale trasporto sanitario e ripristino dell'ambulanza in sede</a:t>
              </a:r>
            </a:p>
          </p:txBody>
        </p:sp>
        <p:sp>
          <p:nvSpPr>
            <p:cNvPr id="16" name="Figura a mano libera: forma 15">
              <a:extLst>
                <a:ext uri="{FF2B5EF4-FFF2-40B4-BE49-F238E27FC236}">
                  <a16:creationId xmlns:a16="http://schemas.microsoft.com/office/drawing/2014/main" id="{66F8C1C6-37F9-FE2A-31B2-58FA984E3893}"/>
                </a:ext>
              </a:extLst>
            </p:cNvPr>
            <p:cNvSpPr/>
            <p:nvPr/>
          </p:nvSpPr>
          <p:spPr>
            <a:xfrm>
              <a:off x="819721" y="4048282"/>
              <a:ext cx="739208" cy="739208"/>
            </a:xfrm>
            <a:custGeom>
              <a:avLst/>
              <a:gdLst>
                <a:gd name="csX0" fmla="*/ 0 w 739208"/>
                <a:gd name="csY0" fmla="*/ 369604 h 739208"/>
                <a:gd name="csX1" fmla="*/ 369604 w 739208"/>
                <a:gd name="csY1" fmla="*/ 0 h 739208"/>
                <a:gd name="csX2" fmla="*/ 739208 w 739208"/>
                <a:gd name="csY2" fmla="*/ 369604 h 739208"/>
                <a:gd name="csX3" fmla="*/ 369604 w 739208"/>
                <a:gd name="csY3" fmla="*/ 739208 h 739208"/>
                <a:gd name="csX4" fmla="*/ 0 w 739208"/>
                <a:gd name="csY4" fmla="*/ 369604 h 73920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39208" h="739208">
                  <a:moveTo>
                    <a:pt x="0" y="369604"/>
                  </a:moveTo>
                  <a:cubicBezTo>
                    <a:pt x="0" y="165477"/>
                    <a:pt x="165477" y="0"/>
                    <a:pt x="369604" y="0"/>
                  </a:cubicBezTo>
                  <a:cubicBezTo>
                    <a:pt x="573731" y="0"/>
                    <a:pt x="739208" y="165477"/>
                    <a:pt x="739208" y="369604"/>
                  </a:cubicBezTo>
                  <a:cubicBezTo>
                    <a:pt x="739208" y="573731"/>
                    <a:pt x="573731" y="739208"/>
                    <a:pt x="369604" y="739208"/>
                  </a:cubicBezTo>
                  <a:cubicBezTo>
                    <a:pt x="165477" y="739208"/>
                    <a:pt x="0" y="573731"/>
                    <a:pt x="0" y="369604"/>
                  </a:cubicBezTo>
                  <a:close/>
                </a:path>
              </a:pathLst>
            </a:custGeom>
            <a:solidFill>
              <a:schemeClr val="tx1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31115" tIns="131115" rIns="131115" bIns="131115" numCol="1" spcCol="1270" anchor="ctr" anchorCtr="0">
              <a:noAutofit/>
            </a:bodyPr>
            <a:lstStyle/>
            <a:p>
              <a:pPr marL="0" lvl="0" indent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  <a:defRPr b="1"/>
              </a:pPr>
              <a:r>
                <a:rPr sz="3600" kern="1200"/>
                <a:t>4</a:t>
              </a:r>
            </a:p>
          </p:txBody>
        </p:sp>
      </p:grpSp>
      <p:sp>
        <p:nvSpPr>
          <p:cNvPr id="24" name="Rettangolo con angoli arrotondati 23">
            <a:extLst>
              <a:ext uri="{FF2B5EF4-FFF2-40B4-BE49-F238E27FC236}">
                <a16:creationId xmlns:a16="http://schemas.microsoft.com/office/drawing/2014/main" id="{E1A9D6A3-5792-FBFA-5CB4-078D7E64BD7D}"/>
              </a:ext>
            </a:extLst>
          </p:cNvPr>
          <p:cNvSpPr/>
          <p:nvPr/>
        </p:nvSpPr>
        <p:spPr bwMode="auto">
          <a:xfrm rot="16200000">
            <a:off x="3923928" y="2103095"/>
            <a:ext cx="1296144" cy="6408314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9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8" name="Rectangle 5">
            <a:extLst>
              <a:ext uri="{FF2B5EF4-FFF2-40B4-BE49-F238E27FC236}">
                <a16:creationId xmlns:a16="http://schemas.microsoft.com/office/drawing/2014/main" id="{6A111952-B9AE-68AC-4686-002E6D6604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9651" y="4705654"/>
            <a:ext cx="6264697" cy="9933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822433"/>
              </a:buClr>
              <a:buChar char="•"/>
              <a:defRPr sz="2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1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buFontTx/>
              <a:buNone/>
            </a:pPr>
            <a:r>
              <a:rPr lang="it-IT" sz="1400" b="1" dirty="0">
                <a:solidFill>
                  <a:schemeClr val="tx1"/>
                </a:solidFill>
              </a:rPr>
              <a:t>POSSIBILI ESITI</a:t>
            </a:r>
          </a:p>
          <a:p>
            <a:pPr lvl="0"/>
            <a:r>
              <a:rPr lang="it-IT" sz="1400" dirty="0"/>
              <a:t>Conclusione della missione direttamente sul posto</a:t>
            </a:r>
          </a:p>
          <a:p>
            <a:pPr lvl="0"/>
            <a:r>
              <a:rPr lang="it-IT" sz="1400" dirty="0"/>
              <a:t>Trattamento ed eventuale ospedalizzazione</a:t>
            </a:r>
          </a:p>
          <a:p>
            <a:pPr lvl="0"/>
            <a:r>
              <a:rPr lang="it-IT" sz="1400" dirty="0"/>
              <a:t>Annullamento della missione prima o durante la partenza dell’ambulanza</a:t>
            </a:r>
          </a:p>
          <a:p>
            <a:pPr eaLnBrk="1" hangingPunct="1">
              <a:buFontTx/>
              <a:buNone/>
            </a:pPr>
            <a:endParaRPr lang="it-IT" sz="1400" dirty="0"/>
          </a:p>
        </p:txBody>
      </p:sp>
    </p:spTree>
    <p:extLst>
      <p:ext uri="{BB962C8B-B14F-4D97-AF65-F5344CB8AC3E}">
        <p14:creationId xmlns:p14="http://schemas.microsoft.com/office/powerpoint/2010/main" val="32053789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A6CD3-6F4C-EB4D-4FFA-D2CAA11CB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3">
            <a:extLst>
              <a:ext uri="{FF2B5EF4-FFF2-40B4-BE49-F238E27FC236}">
                <a16:creationId xmlns:a16="http://schemas.microsoft.com/office/drawing/2014/main" id="{7D117E3F-2C25-19E0-7A91-66B4E8AF8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86434-D0AF-4D9A-80D0-6AFCF79FCC5B}" type="datetime1">
              <a:rPr lang="it-IT" altLang="it-IT"/>
              <a:pPr/>
              <a:t>20/10/2026</a:t>
            </a:fld>
            <a:endParaRPr lang="it-IT" altLang="it-IT"/>
          </a:p>
        </p:txBody>
      </p:sp>
      <p:sp>
        <p:nvSpPr>
          <p:cNvPr id="4" name="Segnaposto numero diapositiva 5">
            <a:extLst>
              <a:ext uri="{FF2B5EF4-FFF2-40B4-BE49-F238E27FC236}">
                <a16:creationId xmlns:a16="http://schemas.microsoft.com/office/drawing/2014/main" id="{99D784D1-9BBE-6E95-EE58-885CCA8BF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it-IT" altLang="it-IT"/>
              <a:t>Pagina </a:t>
            </a:r>
            <a:fld id="{6272AF97-468E-4D39-BCD0-38003E2F838C}" type="slidenum">
              <a:rPr lang="it-IT" altLang="it-IT"/>
              <a:pPr/>
              <a:t>4</a:t>
            </a:fld>
            <a:endParaRPr lang="it-IT" altLang="it-IT"/>
          </a:p>
        </p:txBody>
      </p:sp>
      <p:sp>
        <p:nvSpPr>
          <p:cNvPr id="9218" name="Rectangle 2">
            <a:extLst>
              <a:ext uri="{FF2B5EF4-FFF2-40B4-BE49-F238E27FC236}">
                <a16:creationId xmlns:a16="http://schemas.microsoft.com/office/drawing/2014/main" id="{27D54DA5-ED41-B786-F028-2734C9755B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16013" y="409575"/>
            <a:ext cx="7416800" cy="504825"/>
          </a:xfrm>
        </p:spPr>
        <p:txBody>
          <a:bodyPr/>
          <a:lstStyle/>
          <a:p>
            <a:r>
              <a:rPr lang="it-IT" altLang="it-IT" dirty="0"/>
              <a:t>Contesto d’indagine</a:t>
            </a:r>
          </a:p>
        </p:txBody>
      </p:sp>
      <p:sp>
        <p:nvSpPr>
          <p:cNvPr id="9222" name="Text Box 6">
            <a:extLst>
              <a:ext uri="{FF2B5EF4-FFF2-40B4-BE49-F238E27FC236}">
                <a16:creationId xmlns:a16="http://schemas.microsoft.com/office/drawing/2014/main" id="{BA3E1E70-D65C-6E5B-7730-B3A0CAF3C2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776288"/>
            <a:ext cx="740410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altLang="it-IT" sz="2200" dirty="0">
                <a:solidFill>
                  <a:srgbClr val="000000"/>
                </a:solidFill>
              </a:rPr>
              <a:t>Informazioni generali</a:t>
            </a:r>
            <a:endParaRPr lang="it-IT" altLang="it-IT" sz="2200" dirty="0">
              <a:solidFill>
                <a:schemeClr val="tx1"/>
              </a:solidFill>
            </a:endParaRP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B6C30ECF-C767-DF47-8B58-0E5A258750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840" y="1361523"/>
            <a:ext cx="3244011" cy="316178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5">
                <a:extLst>
                  <a:ext uri="{FF2B5EF4-FFF2-40B4-BE49-F238E27FC236}">
                    <a16:creationId xmlns:a16="http://schemas.microsoft.com/office/drawing/2014/main" id="{2D70464D-A323-FAE7-5E9D-1B575152145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9840" y="4677651"/>
                <a:ext cx="3717430" cy="8041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822433"/>
                  </a:buClr>
                  <a:buChar char="•"/>
                  <a:defRPr sz="24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16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3pPr>
                <a:lvl4pPr marL="15621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14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4pPr>
                <a:lvl5pPr marL="1981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12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eaLnBrk="1" hangingPunct="1">
                  <a:buFontTx/>
                  <a:buNone/>
                </a:pPr>
                <a:r>
                  <a:rPr lang="it-IT" sz="1200" dirty="0"/>
                  <a:t>Estensione geografica: 2.749,16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t-IT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sz="1200" b="0" i="1" smtClean="0">
                            <a:latin typeface="Cambria Math" panose="02040503050406030204" pitchFamily="18" charset="0"/>
                          </a:rPr>
                          <m:t>𝑘𝑚</m:t>
                        </m:r>
                      </m:e>
                      <m:sup>
                        <m:r>
                          <a:rPr lang="it-IT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it-IT" sz="1200" dirty="0"/>
                  <a:t> </a:t>
                </a:r>
              </a:p>
              <a:p>
                <a:pPr eaLnBrk="1" hangingPunct="1">
                  <a:buFontTx/>
                  <a:buNone/>
                </a:pPr>
                <a:r>
                  <a:rPr lang="it-IT" sz="1200" dirty="0"/>
                  <a:t>Popolazione: 150.000 residenti ripartiti su 73 comuni</a:t>
                </a:r>
              </a:p>
              <a:p>
                <a:pPr eaLnBrk="1" hangingPunct="1">
                  <a:buFontTx/>
                  <a:buNone/>
                </a:pPr>
                <a:r>
                  <a:rPr lang="it-IT" sz="1200" dirty="0"/>
                  <a:t>Densità abitativa media: 55 abitanti/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t-IT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sz="1200" b="0" i="1" smtClean="0">
                            <a:latin typeface="Cambria Math" panose="02040503050406030204" pitchFamily="18" charset="0"/>
                          </a:rPr>
                          <m:t>𝑘𝑚</m:t>
                        </m:r>
                      </m:e>
                      <m:sup>
                        <m:r>
                          <a:rPr lang="it-IT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it-IT" altLang="it-IT" sz="1200" dirty="0"/>
              </a:p>
            </p:txBody>
          </p:sp>
        </mc:Choice>
        <mc:Fallback xmlns="">
          <p:sp>
            <p:nvSpPr>
              <p:cNvPr id="7" name="Rectangle 5">
                <a:extLst>
                  <a:ext uri="{FF2B5EF4-FFF2-40B4-BE49-F238E27FC236}">
                    <a16:creationId xmlns:a16="http://schemas.microsoft.com/office/drawing/2014/main" id="{2D70464D-A323-FAE7-5E9D-1B57515214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9840" y="4677651"/>
                <a:ext cx="3717430" cy="804168"/>
              </a:xfrm>
              <a:prstGeom prst="rect">
                <a:avLst/>
              </a:prstGeom>
              <a:blipFill>
                <a:blip r:embed="rId4"/>
                <a:stretch>
                  <a:fillRect t="-758" r="-16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uppo 9">
            <a:extLst>
              <a:ext uri="{FF2B5EF4-FFF2-40B4-BE49-F238E27FC236}">
                <a16:creationId xmlns:a16="http://schemas.microsoft.com/office/drawing/2014/main" id="{0F02DDBC-EAA7-943A-1347-50604BEE3C32}"/>
              </a:ext>
            </a:extLst>
          </p:cNvPr>
          <p:cNvGrpSpPr/>
          <p:nvPr/>
        </p:nvGrpSpPr>
        <p:grpSpPr>
          <a:xfrm>
            <a:off x="4343400" y="1346121"/>
            <a:ext cx="4500668" cy="4507904"/>
            <a:chOff x="4112920" y="1153344"/>
            <a:chExt cx="4500931" cy="4507904"/>
          </a:xfrm>
        </p:grpSpPr>
        <p:sp>
          <p:nvSpPr>
            <p:cNvPr id="11" name="Figura a mano libera: forma 10">
              <a:extLst>
                <a:ext uri="{FF2B5EF4-FFF2-40B4-BE49-F238E27FC236}">
                  <a16:creationId xmlns:a16="http://schemas.microsoft.com/office/drawing/2014/main" id="{D98CA21E-C3F4-6164-DCE7-C15417585835}"/>
                </a:ext>
              </a:extLst>
            </p:cNvPr>
            <p:cNvSpPr/>
            <p:nvPr/>
          </p:nvSpPr>
          <p:spPr>
            <a:xfrm>
              <a:off x="5558714" y="1153344"/>
              <a:ext cx="3055137" cy="1347556"/>
            </a:xfrm>
            <a:custGeom>
              <a:avLst/>
              <a:gdLst>
                <a:gd name="csX0" fmla="*/ 177845 w 1067047"/>
                <a:gd name="csY0" fmla="*/ 0 h 3012341"/>
                <a:gd name="csX1" fmla="*/ 889202 w 1067047"/>
                <a:gd name="csY1" fmla="*/ 0 h 3012341"/>
                <a:gd name="csX2" fmla="*/ 1067047 w 1067047"/>
                <a:gd name="csY2" fmla="*/ 177845 h 3012341"/>
                <a:gd name="csX3" fmla="*/ 1067047 w 1067047"/>
                <a:gd name="csY3" fmla="*/ 3012341 h 3012341"/>
                <a:gd name="csX4" fmla="*/ 1067047 w 1067047"/>
                <a:gd name="csY4" fmla="*/ 3012341 h 3012341"/>
                <a:gd name="csX5" fmla="*/ 0 w 1067047"/>
                <a:gd name="csY5" fmla="*/ 3012341 h 3012341"/>
                <a:gd name="csX6" fmla="*/ 0 w 1067047"/>
                <a:gd name="csY6" fmla="*/ 3012341 h 3012341"/>
                <a:gd name="csX7" fmla="*/ 0 w 1067047"/>
                <a:gd name="csY7" fmla="*/ 177845 h 3012341"/>
                <a:gd name="csX8" fmla="*/ 177845 w 1067047"/>
                <a:gd name="csY8" fmla="*/ 0 h 30123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067047" h="3012341">
                  <a:moveTo>
                    <a:pt x="1067047" y="502069"/>
                  </a:moveTo>
                  <a:lnTo>
                    <a:pt x="1067047" y="2510272"/>
                  </a:lnTo>
                  <a:cubicBezTo>
                    <a:pt x="1067047" y="2787556"/>
                    <a:pt x="1038842" y="3012340"/>
                    <a:pt x="1004050" y="3012340"/>
                  </a:cubicBezTo>
                  <a:lnTo>
                    <a:pt x="0" y="3012340"/>
                  </a:lnTo>
                  <a:lnTo>
                    <a:pt x="0" y="3012340"/>
                  </a:lnTo>
                  <a:lnTo>
                    <a:pt x="0" y="1"/>
                  </a:lnTo>
                  <a:lnTo>
                    <a:pt x="0" y="1"/>
                  </a:lnTo>
                  <a:lnTo>
                    <a:pt x="1004050" y="1"/>
                  </a:lnTo>
                  <a:cubicBezTo>
                    <a:pt x="1038842" y="1"/>
                    <a:pt x="1067047" y="224785"/>
                    <a:pt x="1067047" y="502069"/>
                  </a:cubicBezTo>
                  <a:close/>
                </a:path>
              </a:pathLst>
            </a:custGeom>
            <a:solidFill>
              <a:schemeClr val="tx1">
                <a:lumMod val="20000"/>
                <a:lumOff val="80000"/>
                <a:alpha val="90000"/>
              </a:schemeClr>
            </a:solidFill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1911" tIns="73043" rIns="93998" bIns="73045" numCol="1" spcCol="1270" anchor="ctr" anchorCtr="0">
              <a:noAutofit/>
            </a:bodyPr>
            <a:lstStyle/>
            <a:p>
              <a:pPr marL="57150" lvl="1" indent="-57150" algn="l" defTabSz="4889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it-IT" sz="1300" dirty="0"/>
                <a:t> </a:t>
              </a:r>
              <a:r>
                <a:rPr lang="it-IT" sz="1300" kern="1200" dirty="0"/>
                <a:t>Provincia di Rieti;</a:t>
              </a:r>
            </a:p>
            <a:p>
              <a:pPr marL="57150" lvl="1" indent="-57150" algn="l" defTabSz="4889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it-IT" sz="1300" kern="1200" dirty="0"/>
                <a:t> Prevalenza di zone montuose;</a:t>
              </a:r>
            </a:p>
            <a:p>
              <a:pPr marL="57150" lvl="1" indent="-57150" defTabSz="488950">
                <a:lnSpc>
                  <a:spcPct val="90000"/>
                </a:lnSpc>
                <a:spcAft>
                  <a:spcPct val="15000"/>
                </a:spcAft>
                <a:buChar char="•"/>
              </a:pPr>
              <a:r>
                <a:rPr lang="it-IT" sz="1300" kern="1200" dirty="0"/>
                <a:t> Distribuzione eterogenea della popolazione.</a:t>
              </a:r>
            </a:p>
          </p:txBody>
        </p:sp>
        <p:sp>
          <p:nvSpPr>
            <p:cNvPr id="13" name="Figura a mano libera: forma 12">
              <a:extLst>
                <a:ext uri="{FF2B5EF4-FFF2-40B4-BE49-F238E27FC236}">
                  <a16:creationId xmlns:a16="http://schemas.microsoft.com/office/drawing/2014/main" id="{CA56E31B-0015-FF93-0E05-A0B81A162F32}"/>
                </a:ext>
              </a:extLst>
            </p:cNvPr>
            <p:cNvSpPr/>
            <p:nvPr/>
          </p:nvSpPr>
          <p:spPr>
            <a:xfrm>
              <a:off x="5580112" y="2809473"/>
              <a:ext cx="3012341" cy="1067047"/>
            </a:xfrm>
            <a:custGeom>
              <a:avLst/>
              <a:gdLst>
                <a:gd name="csX0" fmla="*/ 177845 w 1067047"/>
                <a:gd name="csY0" fmla="*/ 0 h 3012341"/>
                <a:gd name="csX1" fmla="*/ 889202 w 1067047"/>
                <a:gd name="csY1" fmla="*/ 0 h 3012341"/>
                <a:gd name="csX2" fmla="*/ 1067047 w 1067047"/>
                <a:gd name="csY2" fmla="*/ 177845 h 3012341"/>
                <a:gd name="csX3" fmla="*/ 1067047 w 1067047"/>
                <a:gd name="csY3" fmla="*/ 3012341 h 3012341"/>
                <a:gd name="csX4" fmla="*/ 1067047 w 1067047"/>
                <a:gd name="csY4" fmla="*/ 3012341 h 3012341"/>
                <a:gd name="csX5" fmla="*/ 0 w 1067047"/>
                <a:gd name="csY5" fmla="*/ 3012341 h 3012341"/>
                <a:gd name="csX6" fmla="*/ 0 w 1067047"/>
                <a:gd name="csY6" fmla="*/ 3012341 h 3012341"/>
                <a:gd name="csX7" fmla="*/ 0 w 1067047"/>
                <a:gd name="csY7" fmla="*/ 177845 h 3012341"/>
                <a:gd name="csX8" fmla="*/ 177845 w 1067047"/>
                <a:gd name="csY8" fmla="*/ 0 h 30123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067047" h="3012341">
                  <a:moveTo>
                    <a:pt x="1067047" y="502069"/>
                  </a:moveTo>
                  <a:lnTo>
                    <a:pt x="1067047" y="2510272"/>
                  </a:lnTo>
                  <a:cubicBezTo>
                    <a:pt x="1067047" y="2787556"/>
                    <a:pt x="1038842" y="3012340"/>
                    <a:pt x="1004050" y="3012340"/>
                  </a:cubicBezTo>
                  <a:lnTo>
                    <a:pt x="0" y="3012340"/>
                  </a:lnTo>
                  <a:lnTo>
                    <a:pt x="0" y="3012340"/>
                  </a:lnTo>
                  <a:lnTo>
                    <a:pt x="0" y="1"/>
                  </a:lnTo>
                  <a:lnTo>
                    <a:pt x="0" y="1"/>
                  </a:lnTo>
                  <a:lnTo>
                    <a:pt x="1004050" y="1"/>
                  </a:lnTo>
                  <a:cubicBezTo>
                    <a:pt x="1038842" y="1"/>
                    <a:pt x="1067047" y="224785"/>
                    <a:pt x="1067047" y="502069"/>
                  </a:cubicBezTo>
                  <a:close/>
                </a:path>
              </a:pathLst>
            </a:custGeom>
            <a:solidFill>
              <a:schemeClr val="tx1">
                <a:lumMod val="20000"/>
                <a:lumOff val="80000"/>
                <a:alpha val="90000"/>
              </a:schemeClr>
            </a:solidFill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1911" tIns="73044" rIns="93998" bIns="73044" numCol="1" spcCol="1270" anchor="ctr" anchorCtr="0">
              <a:noAutofit/>
            </a:bodyPr>
            <a:lstStyle/>
            <a:p>
              <a:pPr marL="57150" lvl="1" indent="-57150" algn="l" defTabSz="4889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it-IT" sz="1300" kern="1200" dirty="0"/>
                <a:t> Dal 01/01/2023 al 31/12/2023.</a:t>
              </a:r>
            </a:p>
          </p:txBody>
        </p:sp>
        <p:sp>
          <p:nvSpPr>
            <p:cNvPr id="14" name="Figura a mano libera: forma 13">
              <a:extLst>
                <a:ext uri="{FF2B5EF4-FFF2-40B4-BE49-F238E27FC236}">
                  <a16:creationId xmlns:a16="http://schemas.microsoft.com/office/drawing/2014/main" id="{DA8FDA4F-A132-0D2C-8C20-28F6F9BD083D}"/>
                </a:ext>
              </a:extLst>
            </p:cNvPr>
            <p:cNvSpPr/>
            <p:nvPr/>
          </p:nvSpPr>
          <p:spPr>
            <a:xfrm>
              <a:off x="4112920" y="2597251"/>
              <a:ext cx="1467192" cy="1498654"/>
            </a:xfrm>
            <a:custGeom>
              <a:avLst/>
              <a:gdLst>
                <a:gd name="csX0" fmla="*/ 0 w 1694442"/>
                <a:gd name="csY0" fmla="*/ 222306 h 1333809"/>
                <a:gd name="csX1" fmla="*/ 222306 w 1694442"/>
                <a:gd name="csY1" fmla="*/ 0 h 1333809"/>
                <a:gd name="csX2" fmla="*/ 1472136 w 1694442"/>
                <a:gd name="csY2" fmla="*/ 0 h 1333809"/>
                <a:gd name="csX3" fmla="*/ 1694442 w 1694442"/>
                <a:gd name="csY3" fmla="*/ 222306 h 1333809"/>
                <a:gd name="csX4" fmla="*/ 1694442 w 1694442"/>
                <a:gd name="csY4" fmla="*/ 1111503 h 1333809"/>
                <a:gd name="csX5" fmla="*/ 1472136 w 1694442"/>
                <a:gd name="csY5" fmla="*/ 1333809 h 1333809"/>
                <a:gd name="csX6" fmla="*/ 222306 w 1694442"/>
                <a:gd name="csY6" fmla="*/ 1333809 h 1333809"/>
                <a:gd name="csX7" fmla="*/ 0 w 1694442"/>
                <a:gd name="csY7" fmla="*/ 1111503 h 1333809"/>
                <a:gd name="csX8" fmla="*/ 0 w 1694442"/>
                <a:gd name="csY8" fmla="*/ 222306 h 133380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694442" h="1333809">
                  <a:moveTo>
                    <a:pt x="0" y="222306"/>
                  </a:moveTo>
                  <a:cubicBezTo>
                    <a:pt x="0" y="99530"/>
                    <a:pt x="99530" y="0"/>
                    <a:pt x="222306" y="0"/>
                  </a:cubicBezTo>
                  <a:lnTo>
                    <a:pt x="1472136" y="0"/>
                  </a:lnTo>
                  <a:cubicBezTo>
                    <a:pt x="1594912" y="0"/>
                    <a:pt x="1694442" y="99530"/>
                    <a:pt x="1694442" y="222306"/>
                  </a:cubicBezTo>
                  <a:lnTo>
                    <a:pt x="1694442" y="1111503"/>
                  </a:lnTo>
                  <a:cubicBezTo>
                    <a:pt x="1694442" y="1234279"/>
                    <a:pt x="1594912" y="1333809"/>
                    <a:pt x="1472136" y="1333809"/>
                  </a:cubicBezTo>
                  <a:lnTo>
                    <a:pt x="222306" y="1333809"/>
                  </a:lnTo>
                  <a:cubicBezTo>
                    <a:pt x="99530" y="1333809"/>
                    <a:pt x="0" y="1234279"/>
                    <a:pt x="0" y="1111503"/>
                  </a:cubicBezTo>
                  <a:lnTo>
                    <a:pt x="0" y="222306"/>
                  </a:lnTo>
                  <a:close/>
                </a:path>
              </a:pathLst>
            </a:custGeom>
            <a:solidFill>
              <a:schemeClr val="tx1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64171" tIns="114641" rIns="164171" bIns="114641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it-IT" sz="2000" kern="1200" dirty="0"/>
                <a:t>Periodo d’analisi</a:t>
              </a:r>
            </a:p>
          </p:txBody>
        </p:sp>
        <p:sp>
          <p:nvSpPr>
            <p:cNvPr id="15" name="Figura a mano libera: forma 14">
              <a:extLst>
                <a:ext uri="{FF2B5EF4-FFF2-40B4-BE49-F238E27FC236}">
                  <a16:creationId xmlns:a16="http://schemas.microsoft.com/office/drawing/2014/main" id="{5BE81C59-4754-032B-6A00-8F55CA50B1C6}"/>
                </a:ext>
              </a:extLst>
            </p:cNvPr>
            <p:cNvSpPr/>
            <p:nvPr/>
          </p:nvSpPr>
          <p:spPr>
            <a:xfrm>
              <a:off x="5544935" y="4246716"/>
              <a:ext cx="3047517" cy="1347556"/>
            </a:xfrm>
            <a:custGeom>
              <a:avLst/>
              <a:gdLst>
                <a:gd name="csX0" fmla="*/ 177845 w 1067047"/>
                <a:gd name="csY0" fmla="*/ 0 h 3012341"/>
                <a:gd name="csX1" fmla="*/ 889202 w 1067047"/>
                <a:gd name="csY1" fmla="*/ 0 h 3012341"/>
                <a:gd name="csX2" fmla="*/ 1067047 w 1067047"/>
                <a:gd name="csY2" fmla="*/ 177845 h 3012341"/>
                <a:gd name="csX3" fmla="*/ 1067047 w 1067047"/>
                <a:gd name="csY3" fmla="*/ 3012341 h 3012341"/>
                <a:gd name="csX4" fmla="*/ 1067047 w 1067047"/>
                <a:gd name="csY4" fmla="*/ 3012341 h 3012341"/>
                <a:gd name="csX5" fmla="*/ 0 w 1067047"/>
                <a:gd name="csY5" fmla="*/ 3012341 h 3012341"/>
                <a:gd name="csX6" fmla="*/ 0 w 1067047"/>
                <a:gd name="csY6" fmla="*/ 3012341 h 3012341"/>
                <a:gd name="csX7" fmla="*/ 0 w 1067047"/>
                <a:gd name="csY7" fmla="*/ 177845 h 3012341"/>
                <a:gd name="csX8" fmla="*/ 177845 w 1067047"/>
                <a:gd name="csY8" fmla="*/ 0 h 30123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067047" h="3012341">
                  <a:moveTo>
                    <a:pt x="1067047" y="502069"/>
                  </a:moveTo>
                  <a:lnTo>
                    <a:pt x="1067047" y="2510272"/>
                  </a:lnTo>
                  <a:cubicBezTo>
                    <a:pt x="1067047" y="2787556"/>
                    <a:pt x="1038842" y="3012340"/>
                    <a:pt x="1004050" y="3012340"/>
                  </a:cubicBezTo>
                  <a:lnTo>
                    <a:pt x="0" y="3012340"/>
                  </a:lnTo>
                  <a:lnTo>
                    <a:pt x="0" y="3012340"/>
                  </a:lnTo>
                  <a:lnTo>
                    <a:pt x="0" y="1"/>
                  </a:lnTo>
                  <a:lnTo>
                    <a:pt x="0" y="1"/>
                  </a:lnTo>
                  <a:lnTo>
                    <a:pt x="1004050" y="1"/>
                  </a:lnTo>
                  <a:cubicBezTo>
                    <a:pt x="1038842" y="1"/>
                    <a:pt x="1067047" y="224785"/>
                    <a:pt x="1067047" y="502069"/>
                  </a:cubicBezTo>
                  <a:close/>
                </a:path>
              </a:pathLst>
            </a:custGeom>
            <a:solidFill>
              <a:schemeClr val="tx1">
                <a:lumMod val="20000"/>
                <a:lumOff val="80000"/>
                <a:alpha val="90000"/>
              </a:schemeClr>
            </a:solidFill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1911" tIns="73044" rIns="93998" bIns="73045" numCol="1" spcCol="1270" anchor="ctr" anchorCtr="0">
              <a:noAutofit/>
            </a:bodyPr>
            <a:lstStyle/>
            <a:p>
              <a:pPr marL="57150" lvl="1" indent="-57150" algn="l" defTabSz="4889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r>
                <a:rPr lang="it-IT" sz="1300" kern="1200" dirty="0"/>
                <a:t> Copertura H24; </a:t>
              </a:r>
            </a:p>
            <a:p>
              <a:pPr marL="57150" lvl="1" indent="-57150" defTabSz="488950">
                <a:spcAft>
                  <a:spcPct val="15000"/>
                </a:spcAft>
                <a:buChar char="•"/>
              </a:pPr>
              <a:r>
                <a:rPr lang="it-IT" sz="1300" dirty="0"/>
                <a:t> 13 ambulanze su 12 postazioni (2 mezzi presso Rieti);</a:t>
              </a:r>
            </a:p>
            <a:p>
              <a:pPr marL="57150" lvl="1" indent="-57150" defTabSz="488950">
                <a:spcAft>
                  <a:spcPct val="15000"/>
                </a:spcAft>
                <a:buChar char="•"/>
              </a:pPr>
              <a:r>
                <a:rPr lang="it-IT" sz="1300" dirty="0"/>
                <a:t> D</a:t>
              </a:r>
              <a:r>
                <a:rPr lang="it-IT" sz="1300" kern="1200" dirty="0"/>
                <a:t>isloca</a:t>
              </a:r>
              <a:r>
                <a:rPr lang="it-IT" sz="1300" dirty="0"/>
                <a:t>zion</a:t>
              </a:r>
              <a:r>
                <a:rPr lang="it-IT" sz="1300" kern="1200" dirty="0"/>
                <a:t>e secondo criteri di opportunità di immobili</a:t>
              </a:r>
              <a:r>
                <a:rPr lang="it-IT" sz="1300" dirty="0"/>
                <a:t>.</a:t>
              </a:r>
              <a:endParaRPr lang="it-IT" sz="1300" kern="1200" dirty="0"/>
            </a:p>
          </p:txBody>
        </p:sp>
        <p:sp>
          <p:nvSpPr>
            <p:cNvPr id="16" name="Figura a mano libera: forma 15">
              <a:extLst>
                <a:ext uri="{FF2B5EF4-FFF2-40B4-BE49-F238E27FC236}">
                  <a16:creationId xmlns:a16="http://schemas.microsoft.com/office/drawing/2014/main" id="{3D3455BD-07A4-A592-1FD6-455E42A790BF}"/>
                </a:ext>
              </a:extLst>
            </p:cNvPr>
            <p:cNvSpPr/>
            <p:nvPr/>
          </p:nvSpPr>
          <p:spPr>
            <a:xfrm>
              <a:off x="4112920" y="4162594"/>
              <a:ext cx="1467192" cy="1498654"/>
            </a:xfrm>
            <a:custGeom>
              <a:avLst/>
              <a:gdLst>
                <a:gd name="csX0" fmla="*/ 0 w 1694442"/>
                <a:gd name="csY0" fmla="*/ 222306 h 1333809"/>
                <a:gd name="csX1" fmla="*/ 222306 w 1694442"/>
                <a:gd name="csY1" fmla="*/ 0 h 1333809"/>
                <a:gd name="csX2" fmla="*/ 1472136 w 1694442"/>
                <a:gd name="csY2" fmla="*/ 0 h 1333809"/>
                <a:gd name="csX3" fmla="*/ 1694442 w 1694442"/>
                <a:gd name="csY3" fmla="*/ 222306 h 1333809"/>
                <a:gd name="csX4" fmla="*/ 1694442 w 1694442"/>
                <a:gd name="csY4" fmla="*/ 1111503 h 1333809"/>
                <a:gd name="csX5" fmla="*/ 1472136 w 1694442"/>
                <a:gd name="csY5" fmla="*/ 1333809 h 1333809"/>
                <a:gd name="csX6" fmla="*/ 222306 w 1694442"/>
                <a:gd name="csY6" fmla="*/ 1333809 h 1333809"/>
                <a:gd name="csX7" fmla="*/ 0 w 1694442"/>
                <a:gd name="csY7" fmla="*/ 1111503 h 1333809"/>
                <a:gd name="csX8" fmla="*/ 0 w 1694442"/>
                <a:gd name="csY8" fmla="*/ 222306 h 133380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694442" h="1333809">
                  <a:moveTo>
                    <a:pt x="0" y="222306"/>
                  </a:moveTo>
                  <a:cubicBezTo>
                    <a:pt x="0" y="99530"/>
                    <a:pt x="99530" y="0"/>
                    <a:pt x="222306" y="0"/>
                  </a:cubicBezTo>
                  <a:lnTo>
                    <a:pt x="1472136" y="0"/>
                  </a:lnTo>
                  <a:cubicBezTo>
                    <a:pt x="1594912" y="0"/>
                    <a:pt x="1694442" y="99530"/>
                    <a:pt x="1694442" y="222306"/>
                  </a:cubicBezTo>
                  <a:lnTo>
                    <a:pt x="1694442" y="1111503"/>
                  </a:lnTo>
                  <a:cubicBezTo>
                    <a:pt x="1694442" y="1234279"/>
                    <a:pt x="1594912" y="1333809"/>
                    <a:pt x="1472136" y="1333809"/>
                  </a:cubicBezTo>
                  <a:lnTo>
                    <a:pt x="222306" y="1333809"/>
                  </a:lnTo>
                  <a:cubicBezTo>
                    <a:pt x="99530" y="1333809"/>
                    <a:pt x="0" y="1234279"/>
                    <a:pt x="0" y="1111503"/>
                  </a:cubicBezTo>
                  <a:lnTo>
                    <a:pt x="0" y="222306"/>
                  </a:lnTo>
                  <a:close/>
                </a:path>
              </a:pathLst>
            </a:custGeom>
            <a:solidFill>
              <a:schemeClr val="tx1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64171" tIns="114641" rIns="164171" bIns="114641" numCol="1" spcCol="1270" anchor="ctr" anchorCtr="0">
              <a:noAutofit/>
            </a:bodyPr>
            <a:lstStyle/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it-IT" sz="2000" kern="1200" dirty="0"/>
                <a:t>Servizio</a:t>
              </a:r>
            </a:p>
          </p:txBody>
        </p:sp>
      </p:grpSp>
      <p:sp>
        <p:nvSpPr>
          <p:cNvPr id="18" name="Figura a mano libera: forma 17">
            <a:extLst>
              <a:ext uri="{FF2B5EF4-FFF2-40B4-BE49-F238E27FC236}">
                <a16:creationId xmlns:a16="http://schemas.microsoft.com/office/drawing/2014/main" id="{A8BDF803-6CF8-A51E-6D08-019957B69198}"/>
              </a:ext>
            </a:extLst>
          </p:cNvPr>
          <p:cNvSpPr/>
          <p:nvPr/>
        </p:nvSpPr>
        <p:spPr>
          <a:xfrm>
            <a:off x="4343400" y="1258030"/>
            <a:ext cx="1467106" cy="1498654"/>
          </a:xfrm>
          <a:custGeom>
            <a:avLst/>
            <a:gdLst>
              <a:gd name="csX0" fmla="*/ 0 w 1694442"/>
              <a:gd name="csY0" fmla="*/ 222306 h 1333809"/>
              <a:gd name="csX1" fmla="*/ 222306 w 1694442"/>
              <a:gd name="csY1" fmla="*/ 0 h 1333809"/>
              <a:gd name="csX2" fmla="*/ 1472136 w 1694442"/>
              <a:gd name="csY2" fmla="*/ 0 h 1333809"/>
              <a:gd name="csX3" fmla="*/ 1694442 w 1694442"/>
              <a:gd name="csY3" fmla="*/ 222306 h 1333809"/>
              <a:gd name="csX4" fmla="*/ 1694442 w 1694442"/>
              <a:gd name="csY4" fmla="*/ 1111503 h 1333809"/>
              <a:gd name="csX5" fmla="*/ 1472136 w 1694442"/>
              <a:gd name="csY5" fmla="*/ 1333809 h 1333809"/>
              <a:gd name="csX6" fmla="*/ 222306 w 1694442"/>
              <a:gd name="csY6" fmla="*/ 1333809 h 1333809"/>
              <a:gd name="csX7" fmla="*/ 0 w 1694442"/>
              <a:gd name="csY7" fmla="*/ 1111503 h 1333809"/>
              <a:gd name="csX8" fmla="*/ 0 w 1694442"/>
              <a:gd name="csY8" fmla="*/ 222306 h 133380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694442" h="1333809">
                <a:moveTo>
                  <a:pt x="0" y="222306"/>
                </a:moveTo>
                <a:cubicBezTo>
                  <a:pt x="0" y="99530"/>
                  <a:pt x="99530" y="0"/>
                  <a:pt x="222306" y="0"/>
                </a:cubicBezTo>
                <a:lnTo>
                  <a:pt x="1472136" y="0"/>
                </a:lnTo>
                <a:cubicBezTo>
                  <a:pt x="1594912" y="0"/>
                  <a:pt x="1694442" y="99530"/>
                  <a:pt x="1694442" y="222306"/>
                </a:cubicBezTo>
                <a:lnTo>
                  <a:pt x="1694442" y="1111503"/>
                </a:lnTo>
                <a:cubicBezTo>
                  <a:pt x="1694442" y="1234279"/>
                  <a:pt x="1594912" y="1333809"/>
                  <a:pt x="1472136" y="1333809"/>
                </a:cubicBezTo>
                <a:lnTo>
                  <a:pt x="222306" y="1333809"/>
                </a:lnTo>
                <a:cubicBezTo>
                  <a:pt x="99530" y="1333809"/>
                  <a:pt x="0" y="1234279"/>
                  <a:pt x="0" y="1111503"/>
                </a:cubicBezTo>
                <a:lnTo>
                  <a:pt x="0" y="222306"/>
                </a:lnTo>
                <a:close/>
              </a:path>
            </a:pathLst>
          </a:custGeom>
          <a:solidFill>
            <a:schemeClr val="tx1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4171" tIns="114641" rIns="164171" bIns="114641" numCol="1" spcCol="1270" anchor="ctr" anchorCtr="0">
            <a:noAutofit/>
          </a:bodyPr>
          <a:lstStyle/>
          <a:p>
            <a:pPr marL="0" lvl="0" indent="0" algn="ctr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it-IT" sz="2000" kern="1200" dirty="0"/>
              <a:t>Territorio</a:t>
            </a:r>
          </a:p>
        </p:txBody>
      </p:sp>
    </p:spTree>
    <p:extLst>
      <p:ext uri="{BB962C8B-B14F-4D97-AF65-F5344CB8AC3E}">
        <p14:creationId xmlns:p14="http://schemas.microsoft.com/office/powerpoint/2010/main" val="42379020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8012A-84F5-53EB-8B7A-6F10B5A16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3">
            <a:extLst>
              <a:ext uri="{FF2B5EF4-FFF2-40B4-BE49-F238E27FC236}">
                <a16:creationId xmlns:a16="http://schemas.microsoft.com/office/drawing/2014/main" id="{EBFE6A45-618F-BC8A-5E42-63E95D9A2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86434-D0AF-4D9A-80D0-6AFCF79FCC5B}" type="datetime1">
              <a:rPr lang="it-IT" altLang="it-IT"/>
              <a:pPr/>
              <a:t>20/10/2026</a:t>
            </a:fld>
            <a:endParaRPr lang="it-IT" altLang="it-IT"/>
          </a:p>
        </p:txBody>
      </p:sp>
      <p:sp>
        <p:nvSpPr>
          <p:cNvPr id="4" name="Segnaposto numero diapositiva 5">
            <a:extLst>
              <a:ext uri="{FF2B5EF4-FFF2-40B4-BE49-F238E27FC236}">
                <a16:creationId xmlns:a16="http://schemas.microsoft.com/office/drawing/2014/main" id="{9C5473F8-81C2-0E75-BD86-675821938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it-IT" altLang="it-IT"/>
              <a:t>Pagina </a:t>
            </a:r>
            <a:fld id="{6272AF97-468E-4D39-BCD0-38003E2F838C}" type="slidenum">
              <a:rPr lang="it-IT" altLang="it-IT"/>
              <a:pPr/>
              <a:t>5</a:t>
            </a:fld>
            <a:endParaRPr lang="it-IT" altLang="it-IT"/>
          </a:p>
        </p:txBody>
      </p:sp>
      <p:sp>
        <p:nvSpPr>
          <p:cNvPr id="9218" name="Rectangle 2">
            <a:extLst>
              <a:ext uri="{FF2B5EF4-FFF2-40B4-BE49-F238E27FC236}">
                <a16:creationId xmlns:a16="http://schemas.microsoft.com/office/drawing/2014/main" id="{45A0F33E-4797-8259-2A45-E99B139A09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16013" y="409575"/>
            <a:ext cx="7416800" cy="504825"/>
          </a:xfrm>
        </p:spPr>
        <p:txBody>
          <a:bodyPr/>
          <a:lstStyle/>
          <a:p>
            <a:r>
              <a:rPr lang="it-IT" altLang="it-IT" dirty="0"/>
              <a:t>Contesto d’indagine</a:t>
            </a:r>
          </a:p>
        </p:txBody>
      </p:sp>
      <p:sp>
        <p:nvSpPr>
          <p:cNvPr id="9222" name="Text Box 6">
            <a:extLst>
              <a:ext uri="{FF2B5EF4-FFF2-40B4-BE49-F238E27FC236}">
                <a16:creationId xmlns:a16="http://schemas.microsoft.com/office/drawing/2014/main" id="{57C7495D-07A8-6313-D46A-A953A155BF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776288"/>
            <a:ext cx="740410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altLang="it-IT" sz="2200" dirty="0">
                <a:solidFill>
                  <a:srgbClr val="000000"/>
                </a:solidFill>
              </a:rPr>
              <a:t>Distribuzione della domanda sul territorio</a:t>
            </a:r>
            <a:endParaRPr lang="it-IT" altLang="it-IT" sz="2200" dirty="0">
              <a:solidFill>
                <a:schemeClr val="tx1"/>
              </a:solidFill>
            </a:endParaRP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01CE8A6D-62C8-D93C-EA30-02CD2EEDD5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209" y="1373842"/>
            <a:ext cx="3053373" cy="2487206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F6148E55-1434-3803-7B2B-CAA8DEDEC7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4634" y="3409545"/>
            <a:ext cx="2808312" cy="2489186"/>
          </a:xfrm>
          <a:prstGeom prst="rect">
            <a:avLst/>
          </a:prstGeom>
        </p:spPr>
      </p:pic>
      <p:grpSp>
        <p:nvGrpSpPr>
          <p:cNvPr id="17" name="Gruppo 16">
            <a:extLst>
              <a:ext uri="{FF2B5EF4-FFF2-40B4-BE49-F238E27FC236}">
                <a16:creationId xmlns:a16="http://schemas.microsoft.com/office/drawing/2014/main" id="{4BA6D0E1-F112-8F2F-3CA5-0CBDB2C0B620}"/>
              </a:ext>
            </a:extLst>
          </p:cNvPr>
          <p:cNvGrpSpPr/>
          <p:nvPr/>
        </p:nvGrpSpPr>
        <p:grpSpPr>
          <a:xfrm>
            <a:off x="908847" y="1389166"/>
            <a:ext cx="7404099" cy="4555599"/>
            <a:chOff x="-3197851" y="1424305"/>
            <a:chExt cx="8379450" cy="4555599"/>
          </a:xfrm>
        </p:grpSpPr>
        <p:sp>
          <p:nvSpPr>
            <p:cNvPr id="18" name="Figura a mano libera: forma 17">
              <a:extLst>
                <a:ext uri="{FF2B5EF4-FFF2-40B4-BE49-F238E27FC236}">
                  <a16:creationId xmlns:a16="http://schemas.microsoft.com/office/drawing/2014/main" id="{7F9A1214-2D95-5B97-C47F-D282C923F26B}"/>
                </a:ext>
              </a:extLst>
            </p:cNvPr>
            <p:cNvSpPr/>
            <p:nvPr/>
          </p:nvSpPr>
          <p:spPr>
            <a:xfrm rot="10800000">
              <a:off x="459748" y="1424305"/>
              <a:ext cx="4721851" cy="1934765"/>
            </a:xfrm>
            <a:custGeom>
              <a:avLst/>
              <a:gdLst>
                <a:gd name="csX0" fmla="*/ 0 w 3657600"/>
                <a:gd name="csY0" fmla="*/ 241846 h 1934765"/>
                <a:gd name="csX1" fmla="*/ 2690218 w 3657600"/>
                <a:gd name="csY1" fmla="*/ 241846 h 1934765"/>
                <a:gd name="csX2" fmla="*/ 2690218 w 3657600"/>
                <a:gd name="csY2" fmla="*/ 0 h 1934765"/>
                <a:gd name="csX3" fmla="*/ 3657600 w 3657600"/>
                <a:gd name="csY3" fmla="*/ 967383 h 1934765"/>
                <a:gd name="csX4" fmla="*/ 2690218 w 3657600"/>
                <a:gd name="csY4" fmla="*/ 1934765 h 1934765"/>
                <a:gd name="csX5" fmla="*/ 2690218 w 3657600"/>
                <a:gd name="csY5" fmla="*/ 1692919 h 1934765"/>
                <a:gd name="csX6" fmla="*/ 0 w 3657600"/>
                <a:gd name="csY6" fmla="*/ 1692919 h 1934765"/>
                <a:gd name="csX7" fmla="*/ 0 w 3657600"/>
                <a:gd name="csY7" fmla="*/ 241846 h 19347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3657600" h="1934765">
                  <a:moveTo>
                    <a:pt x="0" y="241846"/>
                  </a:moveTo>
                  <a:lnTo>
                    <a:pt x="2690218" y="241846"/>
                  </a:lnTo>
                  <a:lnTo>
                    <a:pt x="2690218" y="0"/>
                  </a:lnTo>
                  <a:lnTo>
                    <a:pt x="3657600" y="967383"/>
                  </a:lnTo>
                  <a:lnTo>
                    <a:pt x="2690218" y="1934765"/>
                  </a:lnTo>
                  <a:lnTo>
                    <a:pt x="2690218" y="1692919"/>
                  </a:lnTo>
                  <a:lnTo>
                    <a:pt x="0" y="1692919"/>
                  </a:lnTo>
                  <a:lnTo>
                    <a:pt x="0" y="241846"/>
                  </a:lnTo>
                  <a:close/>
                </a:path>
              </a:pathLst>
            </a:custGeom>
            <a:solidFill>
              <a:schemeClr val="tx1">
                <a:lumMod val="20000"/>
                <a:lumOff val="80000"/>
                <a:alpha val="90000"/>
              </a:schemeClr>
            </a:solidFill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30480" tIns="272326" rIns="756017" bIns="272326" numCol="1" spcCol="1270" anchor="t" anchorCtr="0">
              <a:noAutofit/>
            </a:bodyPr>
            <a:lstStyle/>
            <a:p>
              <a:pPr marL="285750" lvl="1" indent="-285750" algn="l" defTabSz="21336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endParaRPr lang="it-IT" sz="4800" kern="1200" dirty="0"/>
            </a:p>
            <a:p>
              <a:pPr marL="285750" lvl="1" indent="-285750" algn="l" defTabSz="21336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endParaRPr lang="it-IT" sz="4800" kern="1200" dirty="0"/>
            </a:p>
          </p:txBody>
        </p:sp>
        <p:sp>
          <p:nvSpPr>
            <p:cNvPr id="20" name="Figura a mano libera: forma 19">
              <a:extLst>
                <a:ext uri="{FF2B5EF4-FFF2-40B4-BE49-F238E27FC236}">
                  <a16:creationId xmlns:a16="http://schemas.microsoft.com/office/drawing/2014/main" id="{22DB075E-3F24-5EEE-D49E-8AF8E80BA6BE}"/>
                </a:ext>
              </a:extLst>
            </p:cNvPr>
            <p:cNvSpPr/>
            <p:nvPr/>
          </p:nvSpPr>
          <p:spPr>
            <a:xfrm>
              <a:off x="-3197851" y="4045139"/>
              <a:ext cx="4721851" cy="1934765"/>
            </a:xfrm>
            <a:custGeom>
              <a:avLst/>
              <a:gdLst>
                <a:gd name="csX0" fmla="*/ 0 w 3657600"/>
                <a:gd name="csY0" fmla="*/ 241846 h 1934765"/>
                <a:gd name="csX1" fmla="*/ 2690218 w 3657600"/>
                <a:gd name="csY1" fmla="*/ 241846 h 1934765"/>
                <a:gd name="csX2" fmla="*/ 2690218 w 3657600"/>
                <a:gd name="csY2" fmla="*/ 0 h 1934765"/>
                <a:gd name="csX3" fmla="*/ 3657600 w 3657600"/>
                <a:gd name="csY3" fmla="*/ 967383 h 1934765"/>
                <a:gd name="csX4" fmla="*/ 2690218 w 3657600"/>
                <a:gd name="csY4" fmla="*/ 1934765 h 1934765"/>
                <a:gd name="csX5" fmla="*/ 2690218 w 3657600"/>
                <a:gd name="csY5" fmla="*/ 1692919 h 1934765"/>
                <a:gd name="csX6" fmla="*/ 0 w 3657600"/>
                <a:gd name="csY6" fmla="*/ 1692919 h 1934765"/>
                <a:gd name="csX7" fmla="*/ 0 w 3657600"/>
                <a:gd name="csY7" fmla="*/ 241846 h 19347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3657600" h="1934765">
                  <a:moveTo>
                    <a:pt x="0" y="241846"/>
                  </a:moveTo>
                  <a:lnTo>
                    <a:pt x="2690218" y="241846"/>
                  </a:lnTo>
                  <a:lnTo>
                    <a:pt x="2690218" y="0"/>
                  </a:lnTo>
                  <a:lnTo>
                    <a:pt x="3657600" y="967383"/>
                  </a:lnTo>
                  <a:lnTo>
                    <a:pt x="2690218" y="1934765"/>
                  </a:lnTo>
                  <a:lnTo>
                    <a:pt x="2690218" y="1692919"/>
                  </a:lnTo>
                  <a:lnTo>
                    <a:pt x="0" y="1692919"/>
                  </a:lnTo>
                  <a:lnTo>
                    <a:pt x="0" y="241846"/>
                  </a:lnTo>
                  <a:close/>
                </a:path>
              </a:pathLst>
            </a:custGeom>
            <a:solidFill>
              <a:schemeClr val="tx1">
                <a:lumMod val="20000"/>
                <a:lumOff val="80000"/>
                <a:alpha val="90000"/>
              </a:schemeClr>
            </a:solidFill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30480" tIns="272326" rIns="756017" bIns="272326" numCol="1" spcCol="1270" anchor="t" anchorCtr="0">
              <a:noAutofit/>
            </a:bodyPr>
            <a:lstStyle/>
            <a:p>
              <a:pPr marL="285750" lvl="1" indent="-285750" algn="l" defTabSz="21336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endParaRPr lang="it-IT" sz="4800" kern="1200" dirty="0"/>
            </a:p>
            <a:p>
              <a:pPr marL="285750" lvl="1" indent="-285750" algn="l" defTabSz="21336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endParaRPr lang="it-IT" sz="4800" kern="1200" dirty="0"/>
            </a:p>
          </p:txBody>
        </p:sp>
      </p:grpSp>
      <p:sp>
        <p:nvSpPr>
          <p:cNvPr id="24" name="Rectangle 5">
            <a:extLst>
              <a:ext uri="{FF2B5EF4-FFF2-40B4-BE49-F238E27FC236}">
                <a16:creationId xmlns:a16="http://schemas.microsoft.com/office/drawing/2014/main" id="{87EDCA04-3E01-19D0-7114-C134D0635B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65587" y="1631136"/>
            <a:ext cx="3447359" cy="1508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822433"/>
              </a:buClr>
              <a:buChar char="•"/>
              <a:defRPr sz="2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1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buFontTx/>
              <a:buNone/>
            </a:pPr>
            <a:r>
              <a:rPr lang="it-IT" sz="1300" dirty="0"/>
              <a:t>        L’area è stata suddivisa in </a:t>
            </a:r>
            <a:r>
              <a:rPr lang="it-IT" sz="1300" b="1" dirty="0"/>
              <a:t>cinque zone</a:t>
            </a:r>
            <a:r>
              <a:rPr lang="it-IT" sz="1300" dirty="0"/>
              <a:t>: Antrodoco, Mirtense, Rieti, S. Elpidio, Salario. </a:t>
            </a:r>
          </a:p>
          <a:p>
            <a:pPr eaLnBrk="1" hangingPunct="1">
              <a:buFontTx/>
              <a:buNone/>
            </a:pPr>
            <a:endParaRPr lang="it-IT" sz="1300" dirty="0"/>
          </a:p>
          <a:p>
            <a:pPr eaLnBrk="1" hangingPunct="1">
              <a:buFontTx/>
              <a:buNone/>
            </a:pPr>
            <a:r>
              <a:rPr lang="it-IT" sz="1300" dirty="0"/>
              <a:t>	La </a:t>
            </a:r>
            <a:r>
              <a:rPr lang="it-IT" sz="1300" b="1" dirty="0"/>
              <a:t>concentrazione</a:t>
            </a:r>
            <a:r>
              <a:rPr lang="it-IT" sz="1300" dirty="0"/>
              <a:t> è maggiore presso il centro di Rieti.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5">
                <a:extLst>
                  <a:ext uri="{FF2B5EF4-FFF2-40B4-BE49-F238E27FC236}">
                    <a16:creationId xmlns:a16="http://schemas.microsoft.com/office/drawing/2014/main" id="{9461F304-B1DD-1A54-5550-C57873BA609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67829" y="4493584"/>
                <a:ext cx="3343846" cy="12124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900" indent="-3429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rgbClr val="822433"/>
                  </a:buClr>
                  <a:buChar char="•"/>
                  <a:defRPr sz="24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•"/>
                  <a:defRPr sz="16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3pPr>
                <a:lvl4pPr marL="15621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–"/>
                  <a:defRPr sz="14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4pPr>
                <a:lvl5pPr marL="1981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har char="»"/>
                  <a:defRPr sz="1200" kern="1200">
                    <a:solidFill>
                      <a:srgbClr val="000000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eaLnBrk="1" hangingPunct="1">
                  <a:buFontTx/>
                  <a:buNone/>
                </a:pPr>
                <a:r>
                  <a:rPr lang="it-IT" sz="1200" dirty="0"/>
                  <a:t>	</a:t>
                </a:r>
                <a:r>
                  <a:rPr lang="it-IT" sz="1300" dirty="0"/>
                  <a:t>Uno studio preventivamente svolto ha suddiviso e aggregato le richieste di emergenza in </a:t>
                </a:r>
                <a:r>
                  <a:rPr lang="it-IT" sz="1300" b="1" dirty="0"/>
                  <a:t>446 quadrati</a:t>
                </a:r>
                <a:r>
                  <a:rPr lang="it-IT" sz="1300" dirty="0"/>
                  <a:t>, ciascuno con un’area di 10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it-IT" sz="1300" b="0" i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it-IT" sz="1300" b="0" i="0" smtClean="0">
                            <a:latin typeface="Cambria Math" panose="02040503050406030204" pitchFamily="18" charset="0"/>
                          </a:rPr>
                          <m:t>km</m:t>
                        </m:r>
                      </m:e>
                      <m:sup>
                        <m:r>
                          <a:rPr lang="it-IT" sz="13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it-IT" sz="1300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it-IT" sz="1300" dirty="0"/>
              </a:p>
            </p:txBody>
          </p:sp>
        </mc:Choice>
        <mc:Fallback xmlns="">
          <p:sp>
            <p:nvSpPr>
              <p:cNvPr id="14" name="Rectangle 5">
                <a:extLst>
                  <a:ext uri="{FF2B5EF4-FFF2-40B4-BE49-F238E27FC236}">
                    <a16:creationId xmlns:a16="http://schemas.microsoft.com/office/drawing/2014/main" id="{9461F304-B1DD-1A54-5550-C57873BA60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67829" y="4493584"/>
                <a:ext cx="3343846" cy="1212481"/>
              </a:xfrm>
              <a:prstGeom prst="rect">
                <a:avLst/>
              </a:prstGeom>
              <a:blipFill>
                <a:blip r:embed="rId5"/>
                <a:stretch>
                  <a:fillRect t="-503" r="-18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Ovale 26">
            <a:extLst>
              <a:ext uri="{FF2B5EF4-FFF2-40B4-BE49-F238E27FC236}">
                <a16:creationId xmlns:a16="http://schemas.microsoft.com/office/drawing/2014/main" id="{DA49D92A-4E00-7718-2E17-E29CE2DBE6FE}"/>
              </a:ext>
            </a:extLst>
          </p:cNvPr>
          <p:cNvSpPr/>
          <p:nvPr/>
        </p:nvSpPr>
        <p:spPr bwMode="auto">
          <a:xfrm>
            <a:off x="-684584" y="1988840"/>
            <a:ext cx="914400" cy="914400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9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8" name="Ovale 27">
            <a:extLst>
              <a:ext uri="{FF2B5EF4-FFF2-40B4-BE49-F238E27FC236}">
                <a16:creationId xmlns:a16="http://schemas.microsoft.com/office/drawing/2014/main" id="{FDEDB743-239A-7C19-373A-DE9197904843}"/>
              </a:ext>
            </a:extLst>
          </p:cNvPr>
          <p:cNvSpPr/>
          <p:nvPr/>
        </p:nvSpPr>
        <p:spPr bwMode="auto">
          <a:xfrm>
            <a:off x="1835696" y="2420888"/>
            <a:ext cx="504056" cy="482352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9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624610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A12509-C9E6-707B-AB58-EBB07353C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3">
            <a:extLst>
              <a:ext uri="{FF2B5EF4-FFF2-40B4-BE49-F238E27FC236}">
                <a16:creationId xmlns:a16="http://schemas.microsoft.com/office/drawing/2014/main" id="{665CE529-5B19-6376-0EE6-3355C69D6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86434-D0AF-4D9A-80D0-6AFCF79FCC5B}" type="datetime1">
              <a:rPr lang="it-IT" altLang="it-IT"/>
              <a:pPr/>
              <a:t>20/10/2026</a:t>
            </a:fld>
            <a:endParaRPr lang="it-IT" altLang="it-IT"/>
          </a:p>
        </p:txBody>
      </p:sp>
      <p:sp>
        <p:nvSpPr>
          <p:cNvPr id="4" name="Segnaposto numero diapositiva 5">
            <a:extLst>
              <a:ext uri="{FF2B5EF4-FFF2-40B4-BE49-F238E27FC236}">
                <a16:creationId xmlns:a16="http://schemas.microsoft.com/office/drawing/2014/main" id="{46ACAC85-A26C-ED16-DD32-4467823EB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it-IT" altLang="it-IT"/>
              <a:t>Pagina </a:t>
            </a:r>
            <a:fld id="{6272AF97-468E-4D39-BCD0-38003E2F838C}" type="slidenum">
              <a:rPr lang="it-IT" altLang="it-IT"/>
              <a:pPr/>
              <a:t>6</a:t>
            </a:fld>
            <a:endParaRPr lang="it-IT" altLang="it-IT"/>
          </a:p>
        </p:txBody>
      </p:sp>
      <p:sp>
        <p:nvSpPr>
          <p:cNvPr id="9218" name="Rectangle 2">
            <a:extLst>
              <a:ext uri="{FF2B5EF4-FFF2-40B4-BE49-F238E27FC236}">
                <a16:creationId xmlns:a16="http://schemas.microsoft.com/office/drawing/2014/main" id="{84B91AD5-556F-4253-D943-0FF42E770B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16013" y="409575"/>
            <a:ext cx="7416800" cy="504825"/>
          </a:xfrm>
        </p:spPr>
        <p:txBody>
          <a:bodyPr/>
          <a:lstStyle/>
          <a:p>
            <a:r>
              <a:rPr lang="it-IT" altLang="it-IT" dirty="0"/>
              <a:t>Dataset</a:t>
            </a:r>
          </a:p>
        </p:txBody>
      </p:sp>
      <p:sp>
        <p:nvSpPr>
          <p:cNvPr id="9221" name="Rectangle 5">
            <a:extLst>
              <a:ext uri="{FF2B5EF4-FFF2-40B4-BE49-F238E27FC236}">
                <a16:creationId xmlns:a16="http://schemas.microsoft.com/office/drawing/2014/main" id="{CBE36241-1BAC-0603-B45A-4AE83A30D3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42066" y="1621393"/>
            <a:ext cx="3355525" cy="2331371"/>
          </a:xfrm>
        </p:spPr>
        <p:txBody>
          <a:bodyPr/>
          <a:lstStyle/>
          <a:p>
            <a:pPr>
              <a:buFontTx/>
              <a:buNone/>
            </a:pPr>
            <a:r>
              <a:rPr lang="it-IT" sz="1200" dirty="0"/>
              <a:t>	</a:t>
            </a:r>
            <a:r>
              <a:rPr lang="it-IT" sz="1600" dirty="0"/>
              <a:t>A causa dell’aggregazione della domanda in quadrati alcune missioni presentano </a:t>
            </a:r>
            <a:r>
              <a:rPr lang="it-IT" sz="1600" b="1" dirty="0"/>
              <a:t>una o più attività con durata nulla</a:t>
            </a:r>
            <a:r>
              <a:rPr lang="it-IT" sz="1600" dirty="0"/>
              <a:t>, inutilizzabili nelle analisi successive; di conseguenza si è proceduto alla loro rimozione, riducendo il campione a </a:t>
            </a:r>
            <a:r>
              <a:rPr lang="it-IT" sz="1600" b="1" dirty="0"/>
              <a:t>11.329 tracce</a:t>
            </a:r>
            <a:r>
              <a:rPr lang="it-IT" sz="1600" dirty="0"/>
              <a:t>.</a:t>
            </a:r>
            <a:endParaRPr lang="it-IT" altLang="it-IT" sz="1600" dirty="0"/>
          </a:p>
        </p:txBody>
      </p:sp>
      <p:sp>
        <p:nvSpPr>
          <p:cNvPr id="9222" name="Text Box 6">
            <a:extLst>
              <a:ext uri="{FF2B5EF4-FFF2-40B4-BE49-F238E27FC236}">
                <a16:creationId xmlns:a16="http://schemas.microsoft.com/office/drawing/2014/main" id="{5EB0BE40-8CE0-5699-500E-D605859D02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776288"/>
            <a:ext cx="740410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altLang="it-IT" sz="2200" dirty="0">
                <a:solidFill>
                  <a:srgbClr val="000000"/>
                </a:solidFill>
              </a:rPr>
              <a:t>Filtraggio dei dati e trasformazione in Event Log</a:t>
            </a:r>
            <a:endParaRPr lang="it-IT" altLang="it-IT" sz="2200" dirty="0">
              <a:solidFill>
                <a:schemeClr val="tx1"/>
              </a:solidFill>
            </a:endParaRPr>
          </a:p>
        </p:txBody>
      </p:sp>
      <p:graphicFrame>
        <p:nvGraphicFramePr>
          <p:cNvPr id="7" name="Grafico 6">
            <a:extLst>
              <a:ext uri="{FF2B5EF4-FFF2-40B4-BE49-F238E27FC236}">
                <a16:creationId xmlns:a16="http://schemas.microsoft.com/office/drawing/2014/main" id="{ADE56EF7-4BCE-84C2-4D89-B1E1C35FFB8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6221270"/>
              </p:ext>
            </p:extLst>
          </p:nvPr>
        </p:nvGraphicFramePr>
        <p:xfrm>
          <a:off x="744465" y="1408551"/>
          <a:ext cx="4154039" cy="2910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ettangolo 5">
            <a:extLst>
              <a:ext uri="{FF2B5EF4-FFF2-40B4-BE49-F238E27FC236}">
                <a16:creationId xmlns:a16="http://schemas.microsoft.com/office/drawing/2014/main" id="{BDC0D053-FF97-B4B5-8D9E-C8E3FC9BEEC5}"/>
              </a:ext>
            </a:extLst>
          </p:cNvPr>
          <p:cNvSpPr/>
          <p:nvPr/>
        </p:nvSpPr>
        <p:spPr bwMode="auto">
          <a:xfrm>
            <a:off x="4879707" y="1425076"/>
            <a:ext cx="3143200" cy="2724006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9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778B79C-BC6C-0B3E-7171-73CCEF8F51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4704" y="4891901"/>
            <a:ext cx="6234592" cy="8950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822433"/>
              </a:buClr>
              <a:buChar char="•"/>
              <a:defRPr sz="2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1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buFontTx/>
              <a:buNone/>
            </a:pPr>
            <a:r>
              <a:rPr lang="it-IT" sz="1200" dirty="0"/>
              <a:t>	</a:t>
            </a:r>
            <a:r>
              <a:rPr lang="it-IT" sz="1600" dirty="0"/>
              <a:t>Trasformazione del dataset in formato standard IEEE XES (</a:t>
            </a:r>
            <a:r>
              <a:rPr lang="it-IT" sz="1600" b="1" dirty="0"/>
              <a:t>Event Log)</a:t>
            </a:r>
            <a:r>
              <a:rPr lang="it-IT" sz="1600" dirty="0"/>
              <a:t>: collezione di eventi descritti da un insieme di attributi (essenziali: Case ID, </a:t>
            </a:r>
            <a:r>
              <a:rPr lang="it-IT" sz="1600" dirty="0" err="1"/>
              <a:t>Timestamp</a:t>
            </a:r>
            <a:r>
              <a:rPr lang="it-IT" sz="1600" dirty="0"/>
              <a:t> e Activity Name).</a:t>
            </a:r>
            <a:endParaRPr lang="it-IT" altLang="it-IT" sz="1600" dirty="0"/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62AA2655-9001-2E46-5D10-07BA9FF922E6}"/>
              </a:ext>
            </a:extLst>
          </p:cNvPr>
          <p:cNvSpPr/>
          <p:nvPr/>
        </p:nvSpPr>
        <p:spPr bwMode="auto">
          <a:xfrm>
            <a:off x="1121093" y="1434943"/>
            <a:ext cx="3416259" cy="2714139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9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D7B74C58-AA0E-32B7-140E-74A8B3176DBC}"/>
              </a:ext>
            </a:extLst>
          </p:cNvPr>
          <p:cNvSpPr/>
          <p:nvPr/>
        </p:nvSpPr>
        <p:spPr bwMode="auto">
          <a:xfrm>
            <a:off x="1585023" y="4813377"/>
            <a:ext cx="5904657" cy="973567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9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3" name="Freccia in giù 2">
            <a:extLst>
              <a:ext uri="{FF2B5EF4-FFF2-40B4-BE49-F238E27FC236}">
                <a16:creationId xmlns:a16="http://schemas.microsoft.com/office/drawing/2014/main" id="{0ECB4A04-22CA-2397-B475-7E0681501A55}"/>
              </a:ext>
            </a:extLst>
          </p:cNvPr>
          <p:cNvSpPr/>
          <p:nvPr/>
        </p:nvSpPr>
        <p:spPr bwMode="auto">
          <a:xfrm>
            <a:off x="4447659" y="4279800"/>
            <a:ext cx="432048" cy="456017"/>
          </a:xfrm>
          <a:prstGeom prst="downArrow">
            <a:avLst/>
          </a:prstGeom>
          <a:solidFill>
            <a:schemeClr val="tx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9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264031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41B0EA-E347-CD0E-B2AB-C74A65703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3">
            <a:extLst>
              <a:ext uri="{FF2B5EF4-FFF2-40B4-BE49-F238E27FC236}">
                <a16:creationId xmlns:a16="http://schemas.microsoft.com/office/drawing/2014/main" id="{F98032A7-F663-D178-28B9-9B2498A83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86434-D0AF-4D9A-80D0-6AFCF79FCC5B}" type="datetime1">
              <a:rPr lang="it-IT" altLang="it-IT"/>
              <a:pPr/>
              <a:t>20/10/2026</a:t>
            </a:fld>
            <a:endParaRPr lang="it-IT" altLang="it-IT"/>
          </a:p>
        </p:txBody>
      </p:sp>
      <p:sp>
        <p:nvSpPr>
          <p:cNvPr id="4" name="Segnaposto numero diapositiva 5">
            <a:extLst>
              <a:ext uri="{FF2B5EF4-FFF2-40B4-BE49-F238E27FC236}">
                <a16:creationId xmlns:a16="http://schemas.microsoft.com/office/drawing/2014/main" id="{E083E11A-0A52-5EFF-9D97-02FEB3CD7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it-IT" altLang="it-IT"/>
              <a:t>Pagina </a:t>
            </a:r>
            <a:fld id="{6272AF97-468E-4D39-BCD0-38003E2F838C}" type="slidenum">
              <a:rPr lang="it-IT" altLang="it-IT"/>
              <a:pPr/>
              <a:t>7</a:t>
            </a:fld>
            <a:endParaRPr lang="it-IT" altLang="it-IT"/>
          </a:p>
        </p:txBody>
      </p:sp>
      <p:sp>
        <p:nvSpPr>
          <p:cNvPr id="9218" name="Rectangle 2">
            <a:extLst>
              <a:ext uri="{FF2B5EF4-FFF2-40B4-BE49-F238E27FC236}">
                <a16:creationId xmlns:a16="http://schemas.microsoft.com/office/drawing/2014/main" id="{551C395C-7A3F-7CC6-C825-8A3FCB5CA7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16013" y="409575"/>
            <a:ext cx="7416800" cy="504825"/>
          </a:xfrm>
        </p:spPr>
        <p:txBody>
          <a:bodyPr/>
          <a:lstStyle/>
          <a:p>
            <a:r>
              <a:rPr lang="it-IT" altLang="it-IT" dirty="0"/>
              <a:t>Process Discovery con </a:t>
            </a:r>
            <a:r>
              <a:rPr lang="it-IT" altLang="it-IT" dirty="0" err="1"/>
              <a:t>Fluxicon</a:t>
            </a:r>
            <a:r>
              <a:rPr lang="it-IT" altLang="it-IT" dirty="0"/>
              <a:t> Disco</a:t>
            </a:r>
          </a:p>
        </p:txBody>
      </p:sp>
      <p:sp>
        <p:nvSpPr>
          <p:cNvPr id="9221" name="Rectangle 5">
            <a:extLst>
              <a:ext uri="{FF2B5EF4-FFF2-40B4-BE49-F238E27FC236}">
                <a16:creationId xmlns:a16="http://schemas.microsoft.com/office/drawing/2014/main" id="{0C4944C4-A19F-14ED-9CC3-F28469EF41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527459" y="2010543"/>
            <a:ext cx="2391408" cy="1230595"/>
          </a:xfrm>
        </p:spPr>
        <p:txBody>
          <a:bodyPr/>
          <a:lstStyle/>
          <a:p>
            <a:pPr>
              <a:buFontTx/>
              <a:buNone/>
            </a:pPr>
            <a:r>
              <a:rPr lang="it-IT" sz="1200" dirty="0"/>
              <a:t>	</a:t>
            </a:r>
            <a:r>
              <a:rPr lang="it-IT" sz="1400" dirty="0"/>
              <a:t>Ricostruzione complessiva delle esecuzioni reali con evidente </a:t>
            </a:r>
            <a:r>
              <a:rPr lang="it-IT" sz="1400" b="1" dirty="0"/>
              <a:t>dispersione</a:t>
            </a:r>
            <a:r>
              <a:rPr lang="it-IT" sz="1400" dirty="0"/>
              <a:t> dei percorsi secondari rispetto al processo standard.</a:t>
            </a:r>
            <a:endParaRPr lang="it-IT" altLang="it-IT" sz="1400" dirty="0"/>
          </a:p>
        </p:txBody>
      </p:sp>
      <p:sp>
        <p:nvSpPr>
          <p:cNvPr id="9222" name="Text Box 6">
            <a:extLst>
              <a:ext uri="{FF2B5EF4-FFF2-40B4-BE49-F238E27FC236}">
                <a16:creationId xmlns:a16="http://schemas.microsoft.com/office/drawing/2014/main" id="{928A627C-8089-FDAF-87AC-69FBA95455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776288"/>
            <a:ext cx="740410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altLang="it-IT" sz="2200" dirty="0">
                <a:solidFill>
                  <a:srgbClr val="000000"/>
                </a:solidFill>
              </a:rPr>
              <a:t>Mappatura globale del flusso </a:t>
            </a:r>
            <a:r>
              <a:rPr lang="it-IT" altLang="it-IT" sz="2200" dirty="0" err="1">
                <a:solidFill>
                  <a:srgbClr val="000000"/>
                </a:solidFill>
              </a:rPr>
              <a:t>as-is</a:t>
            </a:r>
            <a:endParaRPr lang="it-IT" altLang="it-IT" sz="2200" dirty="0">
              <a:solidFill>
                <a:schemeClr val="tx1"/>
              </a:solidFill>
            </a:endParaRPr>
          </a:p>
        </p:txBody>
      </p:sp>
      <p:pic>
        <p:nvPicPr>
          <p:cNvPr id="6" name="Elemento grafico 5">
            <a:extLst>
              <a:ext uri="{FF2B5EF4-FFF2-40B4-BE49-F238E27FC236}">
                <a16:creationId xmlns:a16="http://schemas.microsoft.com/office/drawing/2014/main" id="{783D9EBA-C310-C53A-08CF-1E244D3DDF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5240" y="1082089"/>
            <a:ext cx="6876256" cy="5064711"/>
          </a:xfrm>
          <a:prstGeom prst="rect">
            <a:avLst/>
          </a:prstGeom>
        </p:spPr>
      </p:pic>
      <p:sp>
        <p:nvSpPr>
          <p:cNvPr id="11" name="Rectangle 5">
            <a:extLst>
              <a:ext uri="{FF2B5EF4-FFF2-40B4-BE49-F238E27FC236}">
                <a16:creationId xmlns:a16="http://schemas.microsoft.com/office/drawing/2014/main" id="{A61B1986-68A3-60BE-BAB5-5FA2496565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4113869"/>
            <a:ext cx="2267272" cy="1460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822433"/>
              </a:buClr>
              <a:buChar char="•"/>
              <a:defRPr sz="2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1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buFontTx/>
              <a:buNone/>
            </a:pPr>
            <a:r>
              <a:rPr lang="it-IT" sz="1400" dirty="0"/>
              <a:t>	Identificazione dell’</a:t>
            </a:r>
            <a:r>
              <a:rPr lang="it-IT" sz="1400" b="1" dirty="0"/>
              <a:t>happy</a:t>
            </a:r>
            <a:r>
              <a:rPr lang="it-IT" sz="1400" dirty="0"/>
              <a:t> </a:t>
            </a:r>
            <a:r>
              <a:rPr lang="it-IT" sz="1400" b="1" dirty="0" err="1"/>
              <a:t>path</a:t>
            </a:r>
            <a:r>
              <a:rPr lang="it-IT" sz="1400" dirty="0"/>
              <a:t>: sequenza principale ad alta frequenza (frecce a maggior spessore).</a:t>
            </a:r>
            <a:endParaRPr lang="it-IT" altLang="it-IT" sz="1400" dirty="0"/>
          </a:p>
        </p:txBody>
      </p:sp>
      <p:sp>
        <p:nvSpPr>
          <p:cNvPr id="13" name="Ovale 12">
            <a:extLst>
              <a:ext uri="{FF2B5EF4-FFF2-40B4-BE49-F238E27FC236}">
                <a16:creationId xmlns:a16="http://schemas.microsoft.com/office/drawing/2014/main" id="{CC1F72F6-AA03-9037-B239-02687FDC05A9}"/>
              </a:ext>
            </a:extLst>
          </p:cNvPr>
          <p:cNvSpPr/>
          <p:nvPr/>
        </p:nvSpPr>
        <p:spPr bwMode="auto">
          <a:xfrm>
            <a:off x="3851920" y="2060848"/>
            <a:ext cx="914400" cy="914400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9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8" name="Input penna 17">
                <a:extLst>
                  <a:ext uri="{FF2B5EF4-FFF2-40B4-BE49-F238E27FC236}">
                    <a16:creationId xmlns:a16="http://schemas.microsoft.com/office/drawing/2014/main" id="{F3DF3648-2EC2-4801-C218-C6D97B4210B0}"/>
                  </a:ext>
                </a:extLst>
              </p14:cNvPr>
              <p14:cNvContentPartPr/>
              <p14:nvPr/>
            </p14:nvContentPartPr>
            <p14:xfrm>
              <a:off x="-3109200" y="2184080"/>
              <a:ext cx="360" cy="360"/>
            </p14:xfrm>
          </p:contentPart>
        </mc:Choice>
        <mc:Fallback xmlns="">
          <p:pic>
            <p:nvPicPr>
              <p:cNvPr id="18" name="Input penna 17">
                <a:extLst>
                  <a:ext uri="{FF2B5EF4-FFF2-40B4-BE49-F238E27FC236}">
                    <a16:creationId xmlns:a16="http://schemas.microsoft.com/office/drawing/2014/main" id="{F3DF3648-2EC2-4801-C218-C6D97B4210B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3115320" y="217796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9" name="Input penna 18">
                <a:extLst>
                  <a:ext uri="{FF2B5EF4-FFF2-40B4-BE49-F238E27FC236}">
                    <a16:creationId xmlns:a16="http://schemas.microsoft.com/office/drawing/2014/main" id="{8C6C8D23-88B6-3770-4E75-73028D25F1BE}"/>
                  </a:ext>
                </a:extLst>
              </p14:cNvPr>
              <p14:cNvContentPartPr/>
              <p14:nvPr/>
            </p14:nvContentPartPr>
            <p14:xfrm>
              <a:off x="-2286240" y="792320"/>
              <a:ext cx="360" cy="360"/>
            </p14:xfrm>
          </p:contentPart>
        </mc:Choice>
        <mc:Fallback xmlns="">
          <p:pic>
            <p:nvPicPr>
              <p:cNvPr id="19" name="Input penna 18">
                <a:extLst>
                  <a:ext uri="{FF2B5EF4-FFF2-40B4-BE49-F238E27FC236}">
                    <a16:creationId xmlns:a16="http://schemas.microsoft.com/office/drawing/2014/main" id="{8C6C8D23-88B6-3770-4E75-73028D25F1B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2292360" y="786200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Rettangolo 6">
            <a:extLst>
              <a:ext uri="{FF2B5EF4-FFF2-40B4-BE49-F238E27FC236}">
                <a16:creationId xmlns:a16="http://schemas.microsoft.com/office/drawing/2014/main" id="{36648DB8-66CB-6850-E989-4D23923F9EEF}"/>
              </a:ext>
            </a:extLst>
          </p:cNvPr>
          <p:cNvSpPr/>
          <p:nvPr/>
        </p:nvSpPr>
        <p:spPr bwMode="auto">
          <a:xfrm>
            <a:off x="6853286" y="1966027"/>
            <a:ext cx="1907008" cy="1694136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9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9D9CC2AE-6BC4-2F57-D148-7EFE1D6989AC}"/>
              </a:ext>
            </a:extLst>
          </p:cNvPr>
          <p:cNvSpPr/>
          <p:nvPr/>
        </p:nvSpPr>
        <p:spPr bwMode="auto">
          <a:xfrm>
            <a:off x="6853286" y="4079187"/>
            <a:ext cx="1907008" cy="1483553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9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924826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C2EF4B-A78B-1D39-979A-6FAFFC55B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3">
            <a:extLst>
              <a:ext uri="{FF2B5EF4-FFF2-40B4-BE49-F238E27FC236}">
                <a16:creationId xmlns:a16="http://schemas.microsoft.com/office/drawing/2014/main" id="{6B2A018B-C08A-C431-949D-0055E496F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86434-D0AF-4D9A-80D0-6AFCF79FCC5B}" type="datetime1">
              <a:rPr lang="it-IT" altLang="it-IT"/>
              <a:pPr/>
              <a:t>20/10/2026</a:t>
            </a:fld>
            <a:endParaRPr lang="it-IT" altLang="it-IT"/>
          </a:p>
        </p:txBody>
      </p:sp>
      <p:sp>
        <p:nvSpPr>
          <p:cNvPr id="4" name="Segnaposto numero diapositiva 5">
            <a:extLst>
              <a:ext uri="{FF2B5EF4-FFF2-40B4-BE49-F238E27FC236}">
                <a16:creationId xmlns:a16="http://schemas.microsoft.com/office/drawing/2014/main" id="{DA31DCD4-5AFB-3275-C86D-61F56DFDC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it-IT" altLang="it-IT"/>
              <a:t>Pagina </a:t>
            </a:r>
            <a:fld id="{6272AF97-468E-4D39-BCD0-38003E2F838C}" type="slidenum">
              <a:rPr lang="it-IT" altLang="it-IT"/>
              <a:pPr/>
              <a:t>8</a:t>
            </a:fld>
            <a:endParaRPr lang="it-IT" altLang="it-IT"/>
          </a:p>
        </p:txBody>
      </p:sp>
      <p:sp>
        <p:nvSpPr>
          <p:cNvPr id="9218" name="Rectangle 2">
            <a:extLst>
              <a:ext uri="{FF2B5EF4-FFF2-40B4-BE49-F238E27FC236}">
                <a16:creationId xmlns:a16="http://schemas.microsoft.com/office/drawing/2014/main" id="{C66736E3-CB95-137F-56A7-F1C4FBF45A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16013" y="409575"/>
            <a:ext cx="7416800" cy="504825"/>
          </a:xfrm>
        </p:spPr>
        <p:txBody>
          <a:bodyPr/>
          <a:lstStyle/>
          <a:p>
            <a:r>
              <a:rPr lang="it-IT" altLang="it-IT" dirty="0"/>
              <a:t>Process Discovery con </a:t>
            </a:r>
            <a:r>
              <a:rPr lang="it-IT" altLang="it-IT" dirty="0" err="1"/>
              <a:t>Fluxicon</a:t>
            </a:r>
            <a:r>
              <a:rPr lang="it-IT" altLang="it-IT" dirty="0"/>
              <a:t> Disco</a:t>
            </a:r>
          </a:p>
        </p:txBody>
      </p:sp>
      <p:sp>
        <p:nvSpPr>
          <p:cNvPr id="9222" name="Text Box 6">
            <a:extLst>
              <a:ext uri="{FF2B5EF4-FFF2-40B4-BE49-F238E27FC236}">
                <a16:creationId xmlns:a16="http://schemas.microsoft.com/office/drawing/2014/main" id="{9A32E13B-FCBA-7D20-7A2F-B65FF7478E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776288"/>
            <a:ext cx="7404100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altLang="it-IT" sz="2200" dirty="0">
                <a:solidFill>
                  <a:srgbClr val="000000"/>
                </a:solidFill>
              </a:rPr>
              <a:t>Principali risultati</a:t>
            </a:r>
            <a:endParaRPr lang="it-IT" altLang="it-IT" sz="22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8" name="Input penna 17">
                <a:extLst>
                  <a:ext uri="{FF2B5EF4-FFF2-40B4-BE49-F238E27FC236}">
                    <a16:creationId xmlns:a16="http://schemas.microsoft.com/office/drawing/2014/main" id="{C6A0086F-EC25-8855-E058-28E94E191055}"/>
                  </a:ext>
                </a:extLst>
              </p14:cNvPr>
              <p14:cNvContentPartPr/>
              <p14:nvPr/>
            </p14:nvContentPartPr>
            <p14:xfrm>
              <a:off x="-3109200" y="2184080"/>
              <a:ext cx="360" cy="360"/>
            </p14:xfrm>
          </p:contentPart>
        </mc:Choice>
        <mc:Fallback xmlns="">
          <p:pic>
            <p:nvPicPr>
              <p:cNvPr id="18" name="Input penna 17">
                <a:extLst>
                  <a:ext uri="{FF2B5EF4-FFF2-40B4-BE49-F238E27FC236}">
                    <a16:creationId xmlns:a16="http://schemas.microsoft.com/office/drawing/2014/main" id="{C6A0086F-EC25-8855-E058-28E94E19105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3115320" y="217796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9" name="Input penna 18">
                <a:extLst>
                  <a:ext uri="{FF2B5EF4-FFF2-40B4-BE49-F238E27FC236}">
                    <a16:creationId xmlns:a16="http://schemas.microsoft.com/office/drawing/2014/main" id="{5A19F82E-5F73-DE94-E0B4-55C8C22A1562}"/>
                  </a:ext>
                </a:extLst>
              </p14:cNvPr>
              <p14:cNvContentPartPr/>
              <p14:nvPr/>
            </p14:nvContentPartPr>
            <p14:xfrm>
              <a:off x="-2286240" y="792320"/>
              <a:ext cx="360" cy="360"/>
            </p14:xfrm>
          </p:contentPart>
        </mc:Choice>
        <mc:Fallback xmlns="">
          <p:pic>
            <p:nvPicPr>
              <p:cNvPr id="19" name="Input penna 18">
                <a:extLst>
                  <a:ext uri="{FF2B5EF4-FFF2-40B4-BE49-F238E27FC236}">
                    <a16:creationId xmlns:a16="http://schemas.microsoft.com/office/drawing/2014/main" id="{5A19F82E-5F73-DE94-E0B4-55C8C22A156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2292360" y="786200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Rettangolo con angoli arrotondati 9">
            <a:extLst>
              <a:ext uri="{FF2B5EF4-FFF2-40B4-BE49-F238E27FC236}">
                <a16:creationId xmlns:a16="http://schemas.microsoft.com/office/drawing/2014/main" id="{E6EF5FD7-61A5-AA09-4625-3123DBB2CF0C}"/>
              </a:ext>
            </a:extLst>
          </p:cNvPr>
          <p:cNvSpPr/>
          <p:nvPr/>
        </p:nvSpPr>
        <p:spPr bwMode="auto">
          <a:xfrm>
            <a:off x="685800" y="1482480"/>
            <a:ext cx="3657600" cy="1942652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9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4" name="Rettangolo con angoli arrotondati 13">
            <a:extLst>
              <a:ext uri="{FF2B5EF4-FFF2-40B4-BE49-F238E27FC236}">
                <a16:creationId xmlns:a16="http://schemas.microsoft.com/office/drawing/2014/main" id="{A615FCFD-8E0A-888B-AFD0-10C40A9E8B73}"/>
              </a:ext>
            </a:extLst>
          </p:cNvPr>
          <p:cNvSpPr/>
          <p:nvPr/>
        </p:nvSpPr>
        <p:spPr bwMode="auto">
          <a:xfrm>
            <a:off x="4800602" y="1482479"/>
            <a:ext cx="3657598" cy="1942651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9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6" name="Rettangolo con angoli arrotondati 15">
            <a:extLst>
              <a:ext uri="{FF2B5EF4-FFF2-40B4-BE49-F238E27FC236}">
                <a16:creationId xmlns:a16="http://schemas.microsoft.com/office/drawing/2014/main" id="{1333E63B-D3F5-DC75-0F66-D8E20F7CA6C2}"/>
              </a:ext>
            </a:extLst>
          </p:cNvPr>
          <p:cNvSpPr/>
          <p:nvPr/>
        </p:nvSpPr>
        <p:spPr bwMode="auto">
          <a:xfrm>
            <a:off x="685800" y="3832771"/>
            <a:ext cx="3657600" cy="1942652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9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0" name="Rettangolo con angoli arrotondati 19">
            <a:extLst>
              <a:ext uri="{FF2B5EF4-FFF2-40B4-BE49-F238E27FC236}">
                <a16:creationId xmlns:a16="http://schemas.microsoft.com/office/drawing/2014/main" id="{A546495B-B92E-3829-BA21-BECFBD768F89}"/>
              </a:ext>
            </a:extLst>
          </p:cNvPr>
          <p:cNvSpPr/>
          <p:nvPr/>
        </p:nvSpPr>
        <p:spPr bwMode="auto">
          <a:xfrm>
            <a:off x="4800600" y="3832771"/>
            <a:ext cx="3657598" cy="1942652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9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5" name="Segnaposto contenuto 4">
            <a:extLst>
              <a:ext uri="{FF2B5EF4-FFF2-40B4-BE49-F238E27FC236}">
                <a16:creationId xmlns:a16="http://schemas.microsoft.com/office/drawing/2014/main" id="{1566D68A-A22D-D960-5D89-0A4CF597AB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8696" y="1739447"/>
            <a:ext cx="3371796" cy="1833522"/>
          </a:xfrm>
        </p:spPr>
        <p:txBody>
          <a:bodyPr/>
          <a:lstStyle/>
          <a:p>
            <a:pPr marL="0" indent="0" algn="ctr">
              <a:buNone/>
            </a:pPr>
            <a:r>
              <a:rPr lang="it-IT" sz="1600" b="1" dirty="0">
                <a:solidFill>
                  <a:srgbClr val="822433"/>
                </a:solidFill>
              </a:rPr>
              <a:t>CONFORMITÀ PROCEDURALE </a:t>
            </a:r>
          </a:p>
          <a:p>
            <a:pPr marL="0" indent="0">
              <a:buNone/>
            </a:pPr>
            <a:r>
              <a:rPr lang="it-IT" sz="1600" dirty="0"/>
              <a:t>Solo il </a:t>
            </a:r>
            <a:r>
              <a:rPr lang="it-IT" sz="1600" b="1" dirty="0"/>
              <a:t>14,72%</a:t>
            </a:r>
            <a:r>
              <a:rPr lang="it-IT" sz="1600" dirty="0"/>
              <a:t> delle registrazioni segue il flusso standard teorico, la restante parte è costituita da varianti con </a:t>
            </a:r>
            <a:r>
              <a:rPr lang="it-IT" sz="1600" b="1" dirty="0"/>
              <a:t>percorsi parziali</a:t>
            </a:r>
            <a:r>
              <a:rPr lang="it-IT" sz="1600" dirty="0"/>
              <a:t>.</a:t>
            </a:r>
          </a:p>
          <a:p>
            <a:pPr marL="0" indent="0">
              <a:buNone/>
            </a:pPr>
            <a:endParaRPr lang="it-IT" sz="1200" dirty="0"/>
          </a:p>
        </p:txBody>
      </p:sp>
      <p:sp>
        <p:nvSpPr>
          <p:cNvPr id="23" name="Segnaposto contenuto 4">
            <a:extLst>
              <a:ext uri="{FF2B5EF4-FFF2-40B4-BE49-F238E27FC236}">
                <a16:creationId xmlns:a16="http://schemas.microsoft.com/office/drawing/2014/main" id="{C460A69F-FC63-CE3E-E73A-7B3AFD01BD17}"/>
              </a:ext>
            </a:extLst>
          </p:cNvPr>
          <p:cNvSpPr txBox="1">
            <a:spLocks/>
          </p:cNvSpPr>
          <p:nvPr/>
        </p:nvSpPr>
        <p:spPr bwMode="auto">
          <a:xfrm>
            <a:off x="747721" y="3993212"/>
            <a:ext cx="3657597" cy="18141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822433"/>
              </a:buClr>
              <a:buChar char="•"/>
              <a:defRPr sz="2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1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eaLnBrk="1" hangingPunct="1">
              <a:buFontTx/>
              <a:buNone/>
            </a:pPr>
            <a:r>
              <a:rPr lang="it-IT" sz="1600" b="1" dirty="0">
                <a:solidFill>
                  <a:srgbClr val="822433"/>
                </a:solidFill>
              </a:rPr>
              <a:t>TRACCIAMENTO TEMPORALE </a:t>
            </a:r>
          </a:p>
          <a:p>
            <a:pPr marL="0" indent="0" eaLnBrk="1" hangingPunct="1">
              <a:buFontTx/>
              <a:buNone/>
            </a:pPr>
            <a:r>
              <a:rPr lang="it-IT" sz="1600" dirty="0"/>
              <a:t>La </a:t>
            </a:r>
            <a:r>
              <a:rPr lang="it-IT" sz="1600" b="1" dirty="0"/>
              <a:t>contiguità temporale </a:t>
            </a:r>
            <a:r>
              <a:rPr lang="it-IT" sz="1600" dirty="0"/>
              <a:t>della registrazione delle fasi azzera i tempi di inattività, circoscrivendo l’analisi delle inefficienze alle durate delle singole attività.</a:t>
            </a:r>
          </a:p>
          <a:p>
            <a:pPr marL="0" indent="0" eaLnBrk="1" hangingPunct="1">
              <a:buFontTx/>
              <a:buNone/>
            </a:pPr>
            <a:endParaRPr lang="it-IT" sz="1600" dirty="0"/>
          </a:p>
        </p:txBody>
      </p:sp>
      <p:sp>
        <p:nvSpPr>
          <p:cNvPr id="24" name="Segnaposto contenuto 4">
            <a:extLst>
              <a:ext uri="{FF2B5EF4-FFF2-40B4-BE49-F238E27FC236}">
                <a16:creationId xmlns:a16="http://schemas.microsoft.com/office/drawing/2014/main" id="{0419A833-BB05-CC62-CC71-90B6243FA106}"/>
              </a:ext>
            </a:extLst>
          </p:cNvPr>
          <p:cNvSpPr txBox="1">
            <a:spLocks/>
          </p:cNvSpPr>
          <p:nvPr/>
        </p:nvSpPr>
        <p:spPr bwMode="auto">
          <a:xfrm>
            <a:off x="4872053" y="1870765"/>
            <a:ext cx="3514685" cy="18888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822433"/>
              </a:buClr>
              <a:buChar char="•"/>
              <a:defRPr sz="2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1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eaLnBrk="1" hangingPunct="1">
              <a:buFontTx/>
              <a:buNone/>
            </a:pPr>
            <a:r>
              <a:rPr lang="it-IT" sz="1600" b="1" dirty="0">
                <a:solidFill>
                  <a:srgbClr val="822433"/>
                </a:solidFill>
              </a:rPr>
              <a:t>BLOCCO IN PRONTO SOCCORSO </a:t>
            </a:r>
          </a:p>
          <a:p>
            <a:pPr marL="0" indent="0" eaLnBrk="1" hangingPunct="1">
              <a:buFontTx/>
              <a:buNone/>
            </a:pPr>
            <a:r>
              <a:rPr lang="it-IT" sz="1600" dirty="0"/>
              <a:t>Coinvolge il </a:t>
            </a:r>
            <a:r>
              <a:rPr lang="it-IT" sz="1600" b="1" dirty="0"/>
              <a:t>2,63%</a:t>
            </a:r>
            <a:r>
              <a:rPr lang="it-IT" sz="1600" dirty="0"/>
              <a:t> dei trasportati, determinando però un'attesa media critica di </a:t>
            </a:r>
            <a:r>
              <a:rPr lang="it-IT" sz="1600" b="1" dirty="0"/>
              <a:t>45 minuti</a:t>
            </a:r>
            <a:r>
              <a:rPr lang="it-IT" sz="1600" dirty="0"/>
              <a:t>. </a:t>
            </a:r>
          </a:p>
          <a:p>
            <a:pPr marL="0" indent="0" eaLnBrk="1" hangingPunct="1">
              <a:buFontTx/>
              <a:buNone/>
            </a:pPr>
            <a:endParaRPr lang="it-IT" sz="1600" dirty="0"/>
          </a:p>
        </p:txBody>
      </p:sp>
      <p:sp>
        <p:nvSpPr>
          <p:cNvPr id="25" name="Segnaposto contenuto 4">
            <a:extLst>
              <a:ext uri="{FF2B5EF4-FFF2-40B4-BE49-F238E27FC236}">
                <a16:creationId xmlns:a16="http://schemas.microsoft.com/office/drawing/2014/main" id="{CC1A5C32-1E10-BBCC-0E43-BD0123997B0A}"/>
              </a:ext>
            </a:extLst>
          </p:cNvPr>
          <p:cNvSpPr txBox="1">
            <a:spLocks/>
          </p:cNvSpPr>
          <p:nvPr/>
        </p:nvSpPr>
        <p:spPr bwMode="auto">
          <a:xfrm>
            <a:off x="4862518" y="4102187"/>
            <a:ext cx="3657595" cy="13369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822433"/>
              </a:buClr>
              <a:buChar char="•"/>
              <a:defRPr sz="2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1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eaLnBrk="1" hangingPunct="1">
              <a:buFontTx/>
              <a:buNone/>
            </a:pPr>
            <a:r>
              <a:rPr lang="it-IT" sz="1600" b="1" dirty="0">
                <a:solidFill>
                  <a:srgbClr val="822433"/>
                </a:solidFill>
              </a:rPr>
              <a:t>APPROCCIO CAUTELARE </a:t>
            </a:r>
          </a:p>
          <a:p>
            <a:pPr marL="0" indent="0" eaLnBrk="1" hangingPunct="1">
              <a:buFontTx/>
              <a:buNone/>
            </a:pPr>
            <a:r>
              <a:rPr lang="it-IT" sz="1600" dirty="0"/>
              <a:t>Il confronto tra codice di emergenza presunto ed effettivo evidenzia una tendenza alla </a:t>
            </a:r>
            <a:r>
              <a:rPr lang="it-IT" sz="1600" b="1" dirty="0"/>
              <a:t>sovrastima prudenziale </a:t>
            </a:r>
            <a:r>
              <a:rPr lang="it-IT" sz="1600" dirty="0"/>
              <a:t>della gravità. </a:t>
            </a:r>
          </a:p>
        </p:txBody>
      </p:sp>
    </p:spTree>
    <p:extLst>
      <p:ext uri="{BB962C8B-B14F-4D97-AF65-F5344CB8AC3E}">
        <p14:creationId xmlns:p14="http://schemas.microsoft.com/office/powerpoint/2010/main" val="35888871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706AC8-A088-D16A-E75F-DF76181F9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3">
            <a:extLst>
              <a:ext uri="{FF2B5EF4-FFF2-40B4-BE49-F238E27FC236}">
                <a16:creationId xmlns:a16="http://schemas.microsoft.com/office/drawing/2014/main" id="{3FFF3B95-1D95-3C41-3027-195E117D8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86434-D0AF-4D9A-80D0-6AFCF79FCC5B}" type="datetime1">
              <a:rPr lang="it-IT" altLang="it-IT"/>
              <a:pPr/>
              <a:t>20/10/2026</a:t>
            </a:fld>
            <a:endParaRPr lang="it-IT" altLang="it-IT"/>
          </a:p>
        </p:txBody>
      </p:sp>
      <p:sp>
        <p:nvSpPr>
          <p:cNvPr id="4" name="Segnaposto numero diapositiva 5">
            <a:extLst>
              <a:ext uri="{FF2B5EF4-FFF2-40B4-BE49-F238E27FC236}">
                <a16:creationId xmlns:a16="http://schemas.microsoft.com/office/drawing/2014/main" id="{F00CEE32-DE0D-5232-257C-F6857AA54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it-IT" altLang="it-IT"/>
              <a:t>Pagina </a:t>
            </a:r>
            <a:fld id="{6272AF97-468E-4D39-BCD0-38003E2F838C}" type="slidenum">
              <a:rPr lang="it-IT" altLang="it-IT"/>
              <a:pPr/>
              <a:t>9</a:t>
            </a:fld>
            <a:endParaRPr lang="it-IT" altLang="it-IT"/>
          </a:p>
        </p:txBody>
      </p:sp>
      <p:sp>
        <p:nvSpPr>
          <p:cNvPr id="9218" name="Rectangle 2">
            <a:extLst>
              <a:ext uri="{FF2B5EF4-FFF2-40B4-BE49-F238E27FC236}">
                <a16:creationId xmlns:a16="http://schemas.microsoft.com/office/drawing/2014/main" id="{AA205BAE-A83F-03B3-C743-5F0D55AB19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16013" y="409575"/>
            <a:ext cx="7416800" cy="504825"/>
          </a:xfrm>
        </p:spPr>
        <p:txBody>
          <a:bodyPr/>
          <a:lstStyle/>
          <a:p>
            <a:r>
              <a:rPr lang="it-IT" altLang="it-IT" dirty="0"/>
              <a:t>Process Discovery con </a:t>
            </a:r>
            <a:r>
              <a:rPr lang="it-IT" altLang="it-IT" dirty="0" err="1"/>
              <a:t>Fluxicon</a:t>
            </a:r>
            <a:r>
              <a:rPr lang="it-IT" altLang="it-IT" dirty="0"/>
              <a:t> Disco</a:t>
            </a:r>
          </a:p>
        </p:txBody>
      </p:sp>
      <p:sp>
        <p:nvSpPr>
          <p:cNvPr id="9222" name="Text Box 6">
            <a:extLst>
              <a:ext uri="{FF2B5EF4-FFF2-40B4-BE49-F238E27FC236}">
                <a16:creationId xmlns:a16="http://schemas.microsoft.com/office/drawing/2014/main" id="{041D2F2B-4F13-8ADF-D519-431CF196C5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776288"/>
            <a:ext cx="7404100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altLang="it-IT" sz="2200" dirty="0">
                <a:solidFill>
                  <a:srgbClr val="000000"/>
                </a:solidFill>
              </a:rPr>
              <a:t>Confronto tra postazione dell’ambulanza e quadrato di origine dell’urgenza</a:t>
            </a:r>
            <a:endParaRPr lang="it-IT" altLang="it-IT" sz="2200" dirty="0">
              <a:solidFill>
                <a:schemeClr val="tx1"/>
              </a:solidFill>
            </a:endParaRP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D04CF2C7-CFF7-7077-117D-2FDED75CED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024" y="1661820"/>
            <a:ext cx="2930467" cy="2856185"/>
          </a:xfrm>
          <a:prstGeom prst="rect">
            <a:avLst/>
          </a:prstGeom>
        </p:spPr>
      </p:pic>
      <p:pic>
        <p:nvPicPr>
          <p:cNvPr id="17" name="Immagine 16">
            <a:extLst>
              <a:ext uri="{FF2B5EF4-FFF2-40B4-BE49-F238E27FC236}">
                <a16:creationId xmlns:a16="http://schemas.microsoft.com/office/drawing/2014/main" id="{9834B8F7-5C1B-31D5-E07D-B5832692CFD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5340"/>
          <a:stretch>
            <a:fillRect/>
          </a:stretch>
        </p:blipFill>
        <p:spPr>
          <a:xfrm>
            <a:off x="3799328" y="1969631"/>
            <a:ext cx="4908534" cy="2548374"/>
          </a:xfrm>
          <a:prstGeom prst="rect">
            <a:avLst/>
          </a:prstGeom>
        </p:spPr>
      </p:pic>
      <p:sp>
        <p:nvSpPr>
          <p:cNvPr id="18" name="Rectangle 5">
            <a:extLst>
              <a:ext uri="{FF2B5EF4-FFF2-40B4-BE49-F238E27FC236}">
                <a16:creationId xmlns:a16="http://schemas.microsoft.com/office/drawing/2014/main" id="{17AF700E-2DDF-D90A-09F7-0511382E6D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9510" y="4662373"/>
            <a:ext cx="6878690" cy="4466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822433"/>
              </a:buClr>
              <a:buChar char="•"/>
              <a:defRPr sz="2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1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buFontTx/>
              <a:buNone/>
            </a:pPr>
            <a:r>
              <a:rPr lang="it-IT" altLang="it-IT" sz="1400" dirty="0"/>
              <a:t>Esiguo carico di lavoro riscontrato nelle postazioni di Leonessa, Posta e Amatrice. </a:t>
            </a:r>
          </a:p>
        </p:txBody>
      </p:sp>
      <p:sp>
        <p:nvSpPr>
          <p:cNvPr id="20" name="Rectangle 5">
            <a:extLst>
              <a:ext uri="{FF2B5EF4-FFF2-40B4-BE49-F238E27FC236}">
                <a16:creationId xmlns:a16="http://schemas.microsoft.com/office/drawing/2014/main" id="{8F8B2675-F6DC-F8C4-24E0-17C68644CC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5856" y="1657397"/>
            <a:ext cx="5739807" cy="3882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822433"/>
              </a:buClr>
              <a:buChar char="•"/>
              <a:defRPr sz="2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1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buFontTx/>
              <a:buNone/>
            </a:pPr>
            <a:r>
              <a:rPr lang="it-IT" altLang="it-IT" sz="1200" dirty="0"/>
              <a:t>	</a:t>
            </a:r>
            <a:r>
              <a:rPr lang="it-IT" altLang="it-IT" sz="1400" b="1" dirty="0"/>
              <a:t>Evidenze a supporto della riallocazione dei mezzi verso Rieti</a:t>
            </a:r>
            <a:r>
              <a:rPr lang="it-IT" altLang="it-IT" sz="1400" dirty="0"/>
              <a:t>:</a:t>
            </a:r>
          </a:p>
        </p:txBody>
      </p:sp>
      <p:sp>
        <p:nvSpPr>
          <p:cNvPr id="22" name="Rectangle 5">
            <a:extLst>
              <a:ext uri="{FF2B5EF4-FFF2-40B4-BE49-F238E27FC236}">
                <a16:creationId xmlns:a16="http://schemas.microsoft.com/office/drawing/2014/main" id="{0DECEFDF-7192-BF4C-1D85-EEFA74CA0B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5176818"/>
            <a:ext cx="7229901" cy="903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822433"/>
              </a:buClr>
              <a:buChar char="•"/>
              <a:defRPr sz="2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1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buFontTx/>
              <a:buNone/>
            </a:pPr>
            <a:r>
              <a:rPr lang="it-IT" altLang="it-IT" sz="1400" dirty="0"/>
              <a:t>	Il numero consistente di postazioni nell</a:t>
            </a:r>
            <a:r>
              <a:rPr lang="it-IT" sz="1400" dirty="0"/>
              <a:t>'area sud-ovest fa sì che le periferiche (Magliano e Paganico) registrino basse percentuali d'intervento, suggerendo un possibile sovra-dimensionamento delle risorse localizzate.</a:t>
            </a:r>
          </a:p>
        </p:txBody>
      </p:sp>
      <p:sp>
        <p:nvSpPr>
          <p:cNvPr id="23" name="Rettangolo 22">
            <a:extLst>
              <a:ext uri="{FF2B5EF4-FFF2-40B4-BE49-F238E27FC236}">
                <a16:creationId xmlns:a16="http://schemas.microsoft.com/office/drawing/2014/main" id="{D3642FB1-E3BA-0647-3C7D-29AC76551129}"/>
              </a:ext>
            </a:extLst>
          </p:cNvPr>
          <p:cNvSpPr/>
          <p:nvPr/>
        </p:nvSpPr>
        <p:spPr bwMode="auto">
          <a:xfrm>
            <a:off x="3829268" y="3554672"/>
            <a:ext cx="3538165" cy="370917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9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7" name="Rettangolo 26">
            <a:extLst>
              <a:ext uri="{FF2B5EF4-FFF2-40B4-BE49-F238E27FC236}">
                <a16:creationId xmlns:a16="http://schemas.microsoft.com/office/drawing/2014/main" id="{6AE5CB05-247F-A9AE-DC40-A521B441F3C0}"/>
              </a:ext>
            </a:extLst>
          </p:cNvPr>
          <p:cNvSpPr/>
          <p:nvPr/>
        </p:nvSpPr>
        <p:spPr bwMode="auto">
          <a:xfrm>
            <a:off x="3829267" y="4344196"/>
            <a:ext cx="3538165" cy="178232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9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42" name="Rettangolo 41">
            <a:extLst>
              <a:ext uri="{FF2B5EF4-FFF2-40B4-BE49-F238E27FC236}">
                <a16:creationId xmlns:a16="http://schemas.microsoft.com/office/drawing/2014/main" id="{43952043-CB67-6E59-A25F-1AA443A71BE6}"/>
              </a:ext>
            </a:extLst>
          </p:cNvPr>
          <p:cNvSpPr/>
          <p:nvPr/>
        </p:nvSpPr>
        <p:spPr bwMode="auto">
          <a:xfrm>
            <a:off x="3829267" y="3945821"/>
            <a:ext cx="3538165" cy="370917"/>
          </a:xfrm>
          <a:prstGeom prst="rect">
            <a:avLst/>
          </a:prstGeom>
          <a:noFill/>
          <a:ln w="1905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9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45" name="Ovale 44">
            <a:extLst>
              <a:ext uri="{FF2B5EF4-FFF2-40B4-BE49-F238E27FC236}">
                <a16:creationId xmlns:a16="http://schemas.microsoft.com/office/drawing/2014/main" id="{06A25147-F2A9-599B-B6D3-0C8B9ACC0782}"/>
              </a:ext>
            </a:extLst>
          </p:cNvPr>
          <p:cNvSpPr/>
          <p:nvPr/>
        </p:nvSpPr>
        <p:spPr bwMode="auto">
          <a:xfrm rot="1188232">
            <a:off x="551228" y="3346930"/>
            <a:ext cx="2197569" cy="1063011"/>
          </a:xfrm>
          <a:prstGeom prst="ellipse">
            <a:avLst/>
          </a:prstGeom>
          <a:noFill/>
          <a:ln w="1905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9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51" name="Rettangolo 50">
            <a:extLst>
              <a:ext uri="{FF2B5EF4-FFF2-40B4-BE49-F238E27FC236}">
                <a16:creationId xmlns:a16="http://schemas.microsoft.com/office/drawing/2014/main" id="{2CE73D6D-B3A3-0684-E960-C2276B77EDF5}"/>
              </a:ext>
            </a:extLst>
          </p:cNvPr>
          <p:cNvSpPr/>
          <p:nvPr/>
        </p:nvSpPr>
        <p:spPr bwMode="auto">
          <a:xfrm>
            <a:off x="1366565" y="5178915"/>
            <a:ext cx="6901795" cy="753817"/>
          </a:xfrm>
          <a:prstGeom prst="rect">
            <a:avLst/>
          </a:prstGeom>
          <a:noFill/>
          <a:ln w="1905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9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53" name="Rettangolo 52">
            <a:extLst>
              <a:ext uri="{FF2B5EF4-FFF2-40B4-BE49-F238E27FC236}">
                <a16:creationId xmlns:a16="http://schemas.microsoft.com/office/drawing/2014/main" id="{1416226E-59A9-1366-DEF0-7F7064AC5CED}"/>
              </a:ext>
            </a:extLst>
          </p:cNvPr>
          <p:cNvSpPr/>
          <p:nvPr/>
        </p:nvSpPr>
        <p:spPr bwMode="auto">
          <a:xfrm>
            <a:off x="1367165" y="4621413"/>
            <a:ext cx="6901796" cy="431308"/>
          </a:xfrm>
          <a:prstGeom prst="rect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9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6" name="Ovale 5">
            <a:extLst>
              <a:ext uri="{FF2B5EF4-FFF2-40B4-BE49-F238E27FC236}">
                <a16:creationId xmlns:a16="http://schemas.microsoft.com/office/drawing/2014/main" id="{A39D3810-9F3C-F27B-FA83-5B900C19BE17}"/>
              </a:ext>
            </a:extLst>
          </p:cNvPr>
          <p:cNvSpPr/>
          <p:nvPr/>
        </p:nvSpPr>
        <p:spPr bwMode="auto">
          <a:xfrm rot="21127733">
            <a:off x="1987866" y="2257999"/>
            <a:ext cx="1581572" cy="556578"/>
          </a:xfrm>
          <a:prstGeom prst="ellips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900" b="0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192700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2838C-816B-2556-6180-63C1BD9B4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3">
            <a:extLst>
              <a:ext uri="{FF2B5EF4-FFF2-40B4-BE49-F238E27FC236}">
                <a16:creationId xmlns:a16="http://schemas.microsoft.com/office/drawing/2014/main" id="{BAA4098F-461C-8357-FACD-B93B7E5ED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86434-D0AF-4D9A-80D0-6AFCF79FCC5B}" type="datetime1">
              <a:rPr lang="it-IT" altLang="it-IT"/>
              <a:pPr/>
              <a:t>20/10/2026</a:t>
            </a:fld>
            <a:endParaRPr lang="it-IT" altLang="it-IT"/>
          </a:p>
        </p:txBody>
      </p:sp>
      <p:sp>
        <p:nvSpPr>
          <p:cNvPr id="4" name="Segnaposto numero diapositiva 5">
            <a:extLst>
              <a:ext uri="{FF2B5EF4-FFF2-40B4-BE49-F238E27FC236}">
                <a16:creationId xmlns:a16="http://schemas.microsoft.com/office/drawing/2014/main" id="{8CAB092E-E30A-7652-4A0E-7EFDEECB8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it-IT" altLang="it-IT"/>
              <a:t>Pagina </a:t>
            </a:r>
            <a:fld id="{6272AF97-468E-4D39-BCD0-38003E2F838C}" type="slidenum">
              <a:rPr lang="it-IT" altLang="it-IT"/>
              <a:pPr/>
              <a:t>10</a:t>
            </a:fld>
            <a:endParaRPr lang="it-IT" altLang="it-IT"/>
          </a:p>
        </p:txBody>
      </p:sp>
      <p:sp>
        <p:nvSpPr>
          <p:cNvPr id="9218" name="Rectangle 2">
            <a:extLst>
              <a:ext uri="{FF2B5EF4-FFF2-40B4-BE49-F238E27FC236}">
                <a16:creationId xmlns:a16="http://schemas.microsoft.com/office/drawing/2014/main" id="{40F54597-E56C-2EC6-9EE4-718A7B409C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16013" y="409575"/>
            <a:ext cx="7416800" cy="504825"/>
          </a:xfrm>
        </p:spPr>
        <p:txBody>
          <a:bodyPr/>
          <a:lstStyle/>
          <a:p>
            <a:r>
              <a:rPr lang="it-IT" altLang="it-IT" dirty="0"/>
              <a:t>Process </a:t>
            </a:r>
            <a:r>
              <a:rPr lang="it-IT" altLang="it-IT" dirty="0" err="1"/>
              <a:t>Simulation</a:t>
            </a:r>
            <a:r>
              <a:rPr lang="it-IT" altLang="it-IT" dirty="0"/>
              <a:t> con BIMP</a:t>
            </a:r>
          </a:p>
        </p:txBody>
      </p:sp>
      <p:sp>
        <p:nvSpPr>
          <p:cNvPr id="9222" name="Text Box 6">
            <a:extLst>
              <a:ext uri="{FF2B5EF4-FFF2-40B4-BE49-F238E27FC236}">
                <a16:creationId xmlns:a16="http://schemas.microsoft.com/office/drawing/2014/main" id="{0CF8D27B-2EDE-A251-52F9-68193F60B3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776288"/>
            <a:ext cx="740410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altLang="it-IT" sz="2200" dirty="0">
                <a:solidFill>
                  <a:srgbClr val="000000"/>
                </a:solidFill>
              </a:rPr>
              <a:t>Implementazione del modello di simulazione</a:t>
            </a:r>
            <a:endParaRPr lang="it-IT" altLang="it-IT" sz="2200" dirty="0">
              <a:solidFill>
                <a:schemeClr val="tx1"/>
              </a:solidFill>
            </a:endParaRPr>
          </a:p>
        </p:txBody>
      </p:sp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2520302F-EAC2-6C95-2E91-15FD37B6F609}"/>
              </a:ext>
            </a:extLst>
          </p:cNvPr>
          <p:cNvSpPr/>
          <p:nvPr/>
        </p:nvSpPr>
        <p:spPr bwMode="auto">
          <a:xfrm>
            <a:off x="683568" y="1527841"/>
            <a:ext cx="3653119" cy="3053287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9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pic>
        <p:nvPicPr>
          <p:cNvPr id="9" name="Elemento grafico 8" descr="Flusso di lavoro con riempimento a tinta unita">
            <a:extLst>
              <a:ext uri="{FF2B5EF4-FFF2-40B4-BE49-F238E27FC236}">
                <a16:creationId xmlns:a16="http://schemas.microsoft.com/office/drawing/2014/main" id="{FDFFDD75-873B-AAD8-4DD5-C76BE851BE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52927" y="1535068"/>
            <a:ext cx="914400" cy="914400"/>
          </a:xfrm>
          <a:prstGeom prst="rect">
            <a:avLst/>
          </a:prstGeom>
        </p:spPr>
      </p:pic>
      <p:sp>
        <p:nvSpPr>
          <p:cNvPr id="11" name="Rettangolo con angoli arrotondati 10">
            <a:extLst>
              <a:ext uri="{FF2B5EF4-FFF2-40B4-BE49-F238E27FC236}">
                <a16:creationId xmlns:a16="http://schemas.microsoft.com/office/drawing/2014/main" id="{2A3FFFD5-3341-10D1-0805-B8E6459E5201}"/>
              </a:ext>
            </a:extLst>
          </p:cNvPr>
          <p:cNvSpPr/>
          <p:nvPr/>
        </p:nvSpPr>
        <p:spPr bwMode="auto">
          <a:xfrm>
            <a:off x="4808533" y="1527840"/>
            <a:ext cx="3653119" cy="3053287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9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pic>
        <p:nvPicPr>
          <p:cNvPr id="13" name="Elemento grafico 12" descr="Ricerca cartelle con riempimento a tinta unita">
            <a:extLst>
              <a:ext uri="{FF2B5EF4-FFF2-40B4-BE49-F238E27FC236}">
                <a16:creationId xmlns:a16="http://schemas.microsoft.com/office/drawing/2014/main" id="{21A8ABDB-8367-EE0F-AFCA-73F1A0EF11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0" y="1535068"/>
            <a:ext cx="914400" cy="914400"/>
          </a:xfrm>
          <a:prstGeom prst="rect">
            <a:avLst/>
          </a:prstGeom>
        </p:spPr>
      </p:pic>
      <p:sp>
        <p:nvSpPr>
          <p:cNvPr id="14" name="Rectangle 5">
            <a:extLst>
              <a:ext uri="{FF2B5EF4-FFF2-40B4-BE49-F238E27FC236}">
                <a16:creationId xmlns:a16="http://schemas.microsoft.com/office/drawing/2014/main" id="{E07F914C-FCDF-2EA8-4AAE-BB30B43C25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2477" y="2699313"/>
            <a:ext cx="3653120" cy="1713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822433"/>
              </a:buClr>
              <a:buChar char="•"/>
              <a:defRPr sz="2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1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buNone/>
            </a:pPr>
            <a:r>
              <a:rPr lang="it-IT" sz="1600" b="1" dirty="0">
                <a:solidFill>
                  <a:srgbClr val="822433"/>
                </a:solidFill>
              </a:rPr>
              <a:t>             MODELLO BPMN</a:t>
            </a:r>
          </a:p>
          <a:p>
            <a:pPr marL="0" indent="0" eaLnBrk="1" hangingPunct="1">
              <a:buNone/>
            </a:pPr>
            <a:r>
              <a:rPr lang="it-IT" sz="1600" dirty="0"/>
              <a:t>Linguaggio grafico standard per la formalizzazione del flusso delle attività, coerente con il protocollo operativo ufficiale.</a:t>
            </a:r>
            <a:endParaRPr lang="it-IT" sz="1200" dirty="0"/>
          </a:p>
        </p:txBody>
      </p:sp>
      <p:sp>
        <p:nvSpPr>
          <p:cNvPr id="16" name="Rectangle 5">
            <a:extLst>
              <a:ext uri="{FF2B5EF4-FFF2-40B4-BE49-F238E27FC236}">
                <a16:creationId xmlns:a16="http://schemas.microsoft.com/office/drawing/2014/main" id="{E8487FD9-DE57-9DFB-E318-191B5F8B4B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87443" y="2456696"/>
            <a:ext cx="3610898" cy="2273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822433"/>
              </a:buClr>
              <a:buChar char="•"/>
              <a:defRPr sz="2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1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buNone/>
            </a:pPr>
            <a:r>
              <a:rPr lang="it-IT" sz="1600" b="1" dirty="0">
                <a:solidFill>
                  <a:srgbClr val="822433"/>
                </a:solidFill>
              </a:rPr>
              <a:t>                PARAMETRI</a:t>
            </a:r>
          </a:p>
          <a:p>
            <a:pPr marL="0" indent="0" eaLnBrk="1" hangingPunct="1">
              <a:buNone/>
            </a:pPr>
            <a:r>
              <a:rPr lang="it-IT" sz="1600" dirty="0"/>
              <a:t>Estrazione dei parametri reali dall’Event Log:</a:t>
            </a:r>
          </a:p>
          <a:p>
            <a:pPr eaLnBrk="1" hangingPunct="1"/>
            <a:r>
              <a:rPr lang="it-IT" sz="1600" dirty="0"/>
              <a:t>tasso di inter-arrivo;</a:t>
            </a:r>
          </a:p>
          <a:p>
            <a:pPr eaLnBrk="1" hangingPunct="1"/>
            <a:r>
              <a:rPr lang="it-IT" sz="1600" dirty="0"/>
              <a:t>distribuzioni di probabilità delle durate delle attività;</a:t>
            </a:r>
          </a:p>
          <a:p>
            <a:pPr eaLnBrk="1" hangingPunct="1"/>
            <a:r>
              <a:rPr lang="it-IT" sz="1600" dirty="0"/>
              <a:t>percentuali di instradamento. </a:t>
            </a:r>
          </a:p>
          <a:p>
            <a:pPr lvl="1" eaLnBrk="1" hangingPunct="1"/>
            <a:endParaRPr lang="it-IT" sz="1200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9E9C66DB-C5E8-0980-9D89-370DBE88374E}"/>
              </a:ext>
            </a:extLst>
          </p:cNvPr>
          <p:cNvSpPr txBox="1"/>
          <p:nvPr/>
        </p:nvSpPr>
        <p:spPr>
          <a:xfrm>
            <a:off x="2083544" y="5073218"/>
            <a:ext cx="497691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 eaLnBrk="1" hangingPunct="1">
              <a:buNone/>
            </a:pPr>
            <a:r>
              <a:rPr lang="it-IT" sz="1600" b="1" dirty="0">
                <a:solidFill>
                  <a:srgbClr val="822433"/>
                </a:solidFill>
              </a:rPr>
              <a:t>OBIETTIVO</a:t>
            </a:r>
          </a:p>
          <a:p>
            <a:pPr marL="0" indent="0" eaLnBrk="1" hangingPunct="1">
              <a:buNone/>
            </a:pPr>
            <a:r>
              <a:rPr lang="it-IT" sz="1600" dirty="0">
                <a:solidFill>
                  <a:srgbClr val="000000"/>
                </a:solidFill>
              </a:rPr>
              <a:t>Riprodurre il comportamento reale del sistema (</a:t>
            </a:r>
            <a:r>
              <a:rPr lang="it-IT" sz="1600" dirty="0" err="1">
                <a:solidFill>
                  <a:srgbClr val="000000"/>
                </a:solidFill>
              </a:rPr>
              <a:t>as-is</a:t>
            </a:r>
            <a:r>
              <a:rPr lang="it-IT" sz="1600" dirty="0">
                <a:solidFill>
                  <a:srgbClr val="000000"/>
                </a:solidFill>
              </a:rPr>
              <a:t>) per testare scenari di miglioramento (</a:t>
            </a:r>
            <a:r>
              <a:rPr lang="it-IT" sz="1600" dirty="0" err="1">
                <a:solidFill>
                  <a:srgbClr val="000000"/>
                </a:solidFill>
              </a:rPr>
              <a:t>what-if</a:t>
            </a:r>
            <a:r>
              <a:rPr lang="it-IT" sz="1600" dirty="0">
                <a:solidFill>
                  <a:srgbClr val="000000"/>
                </a:solidFill>
              </a:rPr>
              <a:t>).</a:t>
            </a:r>
            <a:endParaRPr lang="it-IT" sz="1200" dirty="0">
              <a:solidFill>
                <a:srgbClr val="000000"/>
              </a:solidFill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92EF7D45-1CE6-0016-0A3E-C18DBF858F2D}"/>
              </a:ext>
            </a:extLst>
          </p:cNvPr>
          <p:cNvSpPr/>
          <p:nvPr/>
        </p:nvSpPr>
        <p:spPr bwMode="auto">
          <a:xfrm>
            <a:off x="1790824" y="5032365"/>
            <a:ext cx="5562352" cy="976259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9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3" name="Freccia in giù 2">
            <a:extLst>
              <a:ext uri="{FF2B5EF4-FFF2-40B4-BE49-F238E27FC236}">
                <a16:creationId xmlns:a16="http://schemas.microsoft.com/office/drawing/2014/main" id="{76A47B69-B316-BCD0-042C-25AB7C31D086}"/>
              </a:ext>
            </a:extLst>
          </p:cNvPr>
          <p:cNvSpPr/>
          <p:nvPr/>
        </p:nvSpPr>
        <p:spPr bwMode="auto">
          <a:xfrm>
            <a:off x="4303049" y="4406910"/>
            <a:ext cx="537902" cy="580272"/>
          </a:xfrm>
          <a:prstGeom prst="downArrow">
            <a:avLst/>
          </a:prstGeom>
          <a:solidFill>
            <a:schemeClr val="tx1"/>
          </a:solidFill>
          <a:ln>
            <a:noFill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9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520120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6F2EB-A96B-157D-4DF3-08F1D202E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3">
            <a:extLst>
              <a:ext uri="{FF2B5EF4-FFF2-40B4-BE49-F238E27FC236}">
                <a16:creationId xmlns:a16="http://schemas.microsoft.com/office/drawing/2014/main" id="{45AC0BD2-50E5-1FD8-5119-A66B6A377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86434-D0AF-4D9A-80D0-6AFCF79FCC5B}" type="datetime1">
              <a:rPr lang="it-IT" altLang="it-IT"/>
              <a:pPr/>
              <a:t>20/10/2026</a:t>
            </a:fld>
            <a:endParaRPr lang="it-IT" altLang="it-IT"/>
          </a:p>
        </p:txBody>
      </p:sp>
      <p:sp>
        <p:nvSpPr>
          <p:cNvPr id="4" name="Segnaposto numero diapositiva 5">
            <a:extLst>
              <a:ext uri="{FF2B5EF4-FFF2-40B4-BE49-F238E27FC236}">
                <a16:creationId xmlns:a16="http://schemas.microsoft.com/office/drawing/2014/main" id="{CD6ABC49-3E36-3694-C046-643A42859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it-IT" altLang="it-IT"/>
              <a:t>Pagina </a:t>
            </a:r>
            <a:fld id="{6272AF97-468E-4D39-BCD0-38003E2F838C}" type="slidenum">
              <a:rPr lang="it-IT" altLang="it-IT"/>
              <a:pPr/>
              <a:t>11</a:t>
            </a:fld>
            <a:endParaRPr lang="it-IT" altLang="it-IT"/>
          </a:p>
        </p:txBody>
      </p:sp>
      <p:sp>
        <p:nvSpPr>
          <p:cNvPr id="9218" name="Rectangle 2">
            <a:extLst>
              <a:ext uri="{FF2B5EF4-FFF2-40B4-BE49-F238E27FC236}">
                <a16:creationId xmlns:a16="http://schemas.microsoft.com/office/drawing/2014/main" id="{9CF1B025-97FC-4996-506B-1B3A562D42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16013" y="409575"/>
            <a:ext cx="7416800" cy="504825"/>
          </a:xfrm>
        </p:spPr>
        <p:txBody>
          <a:bodyPr/>
          <a:lstStyle/>
          <a:p>
            <a:r>
              <a:rPr lang="it-IT" altLang="it-IT" dirty="0"/>
              <a:t>Process </a:t>
            </a:r>
            <a:r>
              <a:rPr lang="it-IT" altLang="it-IT" dirty="0" err="1"/>
              <a:t>Simulation</a:t>
            </a:r>
            <a:r>
              <a:rPr lang="it-IT" altLang="it-IT" dirty="0"/>
              <a:t> con BIMP</a:t>
            </a:r>
          </a:p>
        </p:txBody>
      </p:sp>
      <p:sp>
        <p:nvSpPr>
          <p:cNvPr id="9222" name="Text Box 6">
            <a:extLst>
              <a:ext uri="{FF2B5EF4-FFF2-40B4-BE49-F238E27FC236}">
                <a16:creationId xmlns:a16="http://schemas.microsoft.com/office/drawing/2014/main" id="{E0E3ABFF-457F-C518-30D9-76345A9FFF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776288"/>
            <a:ext cx="740410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altLang="it-IT" sz="2200" dirty="0">
                <a:solidFill>
                  <a:srgbClr val="000000"/>
                </a:solidFill>
              </a:rPr>
              <a:t>Modello BPMN del processo</a:t>
            </a:r>
            <a:endParaRPr lang="it-IT" altLang="it-IT" sz="2200" dirty="0">
              <a:solidFill>
                <a:schemeClr val="tx1"/>
              </a:solidFill>
            </a:endParaRPr>
          </a:p>
        </p:txBody>
      </p:sp>
      <p:pic>
        <p:nvPicPr>
          <p:cNvPr id="6" name="Elemento grafico 5">
            <a:extLst>
              <a:ext uri="{FF2B5EF4-FFF2-40B4-BE49-F238E27FC236}">
                <a16:creationId xmlns:a16="http://schemas.microsoft.com/office/drawing/2014/main" id="{6346D9E5-B791-A982-445C-8676BDC1FF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7525" y="1484784"/>
            <a:ext cx="9144000" cy="4107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0982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83438-A2A3-5A16-DE8F-3E6EC0012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tangolo 5">
            <a:extLst>
              <a:ext uri="{FF2B5EF4-FFF2-40B4-BE49-F238E27FC236}">
                <a16:creationId xmlns:a16="http://schemas.microsoft.com/office/drawing/2014/main" id="{94D4A85C-52A9-44D3-8479-BF6D4D9455B2}"/>
              </a:ext>
            </a:extLst>
          </p:cNvPr>
          <p:cNvSpPr/>
          <p:nvPr/>
        </p:nvSpPr>
        <p:spPr bwMode="auto">
          <a:xfrm>
            <a:off x="1116014" y="5148589"/>
            <a:ext cx="7308414" cy="65667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9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" name="Segnaposto data 3">
            <a:extLst>
              <a:ext uri="{FF2B5EF4-FFF2-40B4-BE49-F238E27FC236}">
                <a16:creationId xmlns:a16="http://schemas.microsoft.com/office/drawing/2014/main" id="{76892AD9-113B-43C6-AD3E-8215BB738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86434-D0AF-4D9A-80D0-6AFCF79FCC5B}" type="datetime1">
              <a:rPr lang="it-IT" altLang="it-IT"/>
              <a:pPr/>
              <a:t>20/10/2026</a:t>
            </a:fld>
            <a:endParaRPr lang="it-IT" altLang="it-IT"/>
          </a:p>
        </p:txBody>
      </p:sp>
      <p:sp>
        <p:nvSpPr>
          <p:cNvPr id="4" name="Segnaposto numero diapositiva 5">
            <a:extLst>
              <a:ext uri="{FF2B5EF4-FFF2-40B4-BE49-F238E27FC236}">
                <a16:creationId xmlns:a16="http://schemas.microsoft.com/office/drawing/2014/main" id="{EECAB45D-1237-CC9B-CC98-A99BFE7B7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it-IT" altLang="it-IT"/>
              <a:t>Pagina </a:t>
            </a:r>
            <a:fld id="{6272AF97-468E-4D39-BCD0-38003E2F838C}" type="slidenum">
              <a:rPr lang="it-IT" altLang="it-IT"/>
              <a:pPr/>
              <a:t>12</a:t>
            </a:fld>
            <a:endParaRPr lang="it-IT" altLang="it-IT"/>
          </a:p>
        </p:txBody>
      </p:sp>
      <p:sp>
        <p:nvSpPr>
          <p:cNvPr id="9218" name="Rectangle 2">
            <a:extLst>
              <a:ext uri="{FF2B5EF4-FFF2-40B4-BE49-F238E27FC236}">
                <a16:creationId xmlns:a16="http://schemas.microsoft.com/office/drawing/2014/main" id="{CE6D6848-A398-C31A-831E-63E88F4356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16013" y="409575"/>
            <a:ext cx="7416800" cy="504825"/>
          </a:xfrm>
        </p:spPr>
        <p:txBody>
          <a:bodyPr/>
          <a:lstStyle/>
          <a:p>
            <a:r>
              <a:rPr lang="it-IT" altLang="it-IT" dirty="0"/>
              <a:t>Process </a:t>
            </a:r>
            <a:r>
              <a:rPr lang="it-IT" altLang="it-IT" dirty="0" err="1"/>
              <a:t>Simulation</a:t>
            </a:r>
            <a:r>
              <a:rPr lang="it-IT" altLang="it-IT" dirty="0"/>
              <a:t> con BIMP</a:t>
            </a:r>
          </a:p>
        </p:txBody>
      </p:sp>
      <p:sp>
        <p:nvSpPr>
          <p:cNvPr id="9221" name="Rectangle 5">
            <a:extLst>
              <a:ext uri="{FF2B5EF4-FFF2-40B4-BE49-F238E27FC236}">
                <a16:creationId xmlns:a16="http://schemas.microsoft.com/office/drawing/2014/main" id="{7C2200F2-DCA9-F396-80E3-16F5057FC2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7943" y="5224513"/>
            <a:ext cx="7556484" cy="504825"/>
          </a:xfrm>
        </p:spPr>
        <p:txBody>
          <a:bodyPr/>
          <a:lstStyle/>
          <a:p>
            <a:pPr>
              <a:buFontTx/>
              <a:buNone/>
            </a:pPr>
            <a:r>
              <a:rPr lang="it-IT" sz="1100" dirty="0"/>
              <a:t>	</a:t>
            </a:r>
            <a:r>
              <a:rPr lang="it-IT" sz="1300" dirty="0"/>
              <a:t>Per lo studio degli ultimi tre KPI è necessaria l’estrazione del MXML log dal simulatore e la sua implementazione in un codice Python che possa estrarli.</a:t>
            </a:r>
            <a:endParaRPr lang="it-IT" altLang="it-IT" sz="1300" dirty="0"/>
          </a:p>
        </p:txBody>
      </p:sp>
      <p:sp>
        <p:nvSpPr>
          <p:cNvPr id="9222" name="Text Box 6">
            <a:extLst>
              <a:ext uri="{FF2B5EF4-FFF2-40B4-BE49-F238E27FC236}">
                <a16:creationId xmlns:a16="http://schemas.microsoft.com/office/drawing/2014/main" id="{12CE0066-4251-295B-69A6-4660AEA011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776288"/>
            <a:ext cx="740410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altLang="it-IT" sz="2200" dirty="0">
                <a:solidFill>
                  <a:srgbClr val="000000"/>
                </a:solidFill>
              </a:rPr>
              <a:t>Indicatori di performance chiave</a:t>
            </a:r>
            <a:endParaRPr lang="it-IT" altLang="it-IT" sz="2200" dirty="0">
              <a:solidFill>
                <a:schemeClr val="tx1"/>
              </a:solidFill>
            </a:endParaRPr>
          </a:p>
        </p:txBody>
      </p:sp>
      <p:graphicFrame>
        <p:nvGraphicFramePr>
          <p:cNvPr id="5" name="Diagramma 4">
            <a:extLst>
              <a:ext uri="{FF2B5EF4-FFF2-40B4-BE49-F238E27FC236}">
                <a16:creationId xmlns:a16="http://schemas.microsoft.com/office/drawing/2014/main" id="{4A6CEA41-2DCF-5F6D-2623-B8D3390CEF2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80553316"/>
              </p:ext>
            </p:extLst>
          </p:nvPr>
        </p:nvGraphicFramePr>
        <p:xfrm>
          <a:off x="323528" y="1342588"/>
          <a:ext cx="8209285" cy="36705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9603139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7CC23-9981-7A53-D328-1B1356865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ttangolo con angoli arrotondati 17">
            <a:extLst>
              <a:ext uri="{FF2B5EF4-FFF2-40B4-BE49-F238E27FC236}">
                <a16:creationId xmlns:a16="http://schemas.microsoft.com/office/drawing/2014/main" id="{4EF09110-4A54-CAF3-82B6-9B9CA9E89081}"/>
              </a:ext>
            </a:extLst>
          </p:cNvPr>
          <p:cNvSpPr/>
          <p:nvPr/>
        </p:nvSpPr>
        <p:spPr bwMode="auto">
          <a:xfrm>
            <a:off x="4824413" y="4662619"/>
            <a:ext cx="3924097" cy="1211977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9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0" name="Rettangolo con angoli arrotondati 19">
            <a:extLst>
              <a:ext uri="{FF2B5EF4-FFF2-40B4-BE49-F238E27FC236}">
                <a16:creationId xmlns:a16="http://schemas.microsoft.com/office/drawing/2014/main" id="{9FB0441F-004C-BD5E-0968-AE57247CFEC0}"/>
              </a:ext>
            </a:extLst>
          </p:cNvPr>
          <p:cNvSpPr/>
          <p:nvPr/>
        </p:nvSpPr>
        <p:spPr bwMode="auto">
          <a:xfrm>
            <a:off x="389503" y="4665295"/>
            <a:ext cx="3924097" cy="1211977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9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6" name="Rettangolo con angoli arrotondati 15">
            <a:extLst>
              <a:ext uri="{FF2B5EF4-FFF2-40B4-BE49-F238E27FC236}">
                <a16:creationId xmlns:a16="http://schemas.microsoft.com/office/drawing/2014/main" id="{2D69ABC9-3D38-041F-B1FA-B90AC92A1351}"/>
              </a:ext>
            </a:extLst>
          </p:cNvPr>
          <p:cNvSpPr/>
          <p:nvPr/>
        </p:nvSpPr>
        <p:spPr bwMode="auto">
          <a:xfrm>
            <a:off x="874410" y="3348787"/>
            <a:ext cx="7486600" cy="972836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9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" name="Segnaposto data 3">
            <a:extLst>
              <a:ext uri="{FF2B5EF4-FFF2-40B4-BE49-F238E27FC236}">
                <a16:creationId xmlns:a16="http://schemas.microsoft.com/office/drawing/2014/main" id="{61ACEAF0-6B07-4B4D-A9E4-DC17B2E4F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86434-D0AF-4D9A-80D0-6AFCF79FCC5B}" type="datetime1">
              <a:rPr lang="it-IT" altLang="it-IT"/>
              <a:pPr/>
              <a:t>20/10/2026</a:t>
            </a:fld>
            <a:endParaRPr lang="it-IT" altLang="it-IT"/>
          </a:p>
        </p:txBody>
      </p:sp>
      <p:sp>
        <p:nvSpPr>
          <p:cNvPr id="4" name="Segnaposto numero diapositiva 5">
            <a:extLst>
              <a:ext uri="{FF2B5EF4-FFF2-40B4-BE49-F238E27FC236}">
                <a16:creationId xmlns:a16="http://schemas.microsoft.com/office/drawing/2014/main" id="{9AC9FE59-E169-2F35-D882-9D7F2E6C6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it-IT" altLang="it-IT"/>
              <a:t>Pagina </a:t>
            </a:r>
            <a:fld id="{6272AF97-468E-4D39-BCD0-38003E2F838C}" type="slidenum">
              <a:rPr lang="it-IT" altLang="it-IT"/>
              <a:pPr/>
              <a:t>13</a:t>
            </a:fld>
            <a:endParaRPr lang="it-IT" altLang="it-IT"/>
          </a:p>
        </p:txBody>
      </p:sp>
      <p:sp>
        <p:nvSpPr>
          <p:cNvPr id="9218" name="Rectangle 2">
            <a:extLst>
              <a:ext uri="{FF2B5EF4-FFF2-40B4-BE49-F238E27FC236}">
                <a16:creationId xmlns:a16="http://schemas.microsoft.com/office/drawing/2014/main" id="{3DC02316-99BF-E2D1-2B9B-654782A910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16013" y="409575"/>
            <a:ext cx="7416800" cy="504825"/>
          </a:xfrm>
        </p:spPr>
        <p:txBody>
          <a:bodyPr/>
          <a:lstStyle/>
          <a:p>
            <a:r>
              <a:rPr lang="it-IT" altLang="it-IT" dirty="0"/>
              <a:t>Process </a:t>
            </a:r>
            <a:r>
              <a:rPr lang="it-IT" altLang="it-IT" dirty="0" err="1"/>
              <a:t>Simulation</a:t>
            </a:r>
            <a:r>
              <a:rPr lang="it-IT" altLang="it-IT" dirty="0"/>
              <a:t> con BIMP</a:t>
            </a:r>
          </a:p>
        </p:txBody>
      </p:sp>
      <p:sp>
        <p:nvSpPr>
          <p:cNvPr id="9221" name="Rectangle 5">
            <a:extLst>
              <a:ext uri="{FF2B5EF4-FFF2-40B4-BE49-F238E27FC236}">
                <a16:creationId xmlns:a16="http://schemas.microsoft.com/office/drawing/2014/main" id="{E154BDE2-4B1C-9493-D7DE-C07965A976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56176" y="1311620"/>
            <a:ext cx="2886995" cy="1687262"/>
          </a:xfrm>
        </p:spPr>
        <p:txBody>
          <a:bodyPr/>
          <a:lstStyle/>
          <a:p>
            <a:pPr>
              <a:buFontTx/>
              <a:buNone/>
            </a:pPr>
            <a:r>
              <a:rPr lang="it-IT" sz="1200" dirty="0"/>
              <a:t>	</a:t>
            </a:r>
            <a:r>
              <a:rPr lang="it-IT" sz="1400" b="1" dirty="0">
                <a:solidFill>
                  <a:srgbClr val="822433"/>
                </a:solidFill>
              </a:rPr>
              <a:t>CRITICITÀ RISCONTRATE</a:t>
            </a:r>
          </a:p>
          <a:p>
            <a:pPr>
              <a:buFontTx/>
              <a:buNone/>
            </a:pPr>
            <a:endParaRPr lang="it-IT" sz="1400" b="1" dirty="0">
              <a:solidFill>
                <a:srgbClr val="822433"/>
              </a:solidFill>
            </a:endParaRPr>
          </a:p>
          <a:p>
            <a:pPr>
              <a:buFontTx/>
              <a:buNone/>
            </a:pPr>
            <a:endParaRPr lang="it-IT" sz="1400" dirty="0"/>
          </a:p>
          <a:p>
            <a:pPr>
              <a:buFontTx/>
              <a:buNone/>
            </a:pPr>
            <a:r>
              <a:rPr lang="it-IT" sz="1400" dirty="0"/>
              <a:t>	Formulazione di </a:t>
            </a:r>
            <a:r>
              <a:rPr lang="it-IT" sz="1400" b="1" dirty="0"/>
              <a:t>scenari alternativi </a:t>
            </a:r>
            <a:r>
              <a:rPr lang="it-IT" sz="1400" dirty="0"/>
              <a:t>volti a testare </a:t>
            </a:r>
            <a:r>
              <a:rPr lang="it-IT" sz="1400" b="1" dirty="0"/>
              <a:t>l'ottimizzazione logistica e la robustezza del sistema</a:t>
            </a:r>
            <a:r>
              <a:rPr lang="it-IT" sz="1400" dirty="0"/>
              <a:t>:</a:t>
            </a:r>
            <a:endParaRPr lang="it-IT" altLang="it-IT" sz="1400" dirty="0"/>
          </a:p>
        </p:txBody>
      </p:sp>
      <p:sp>
        <p:nvSpPr>
          <p:cNvPr id="9222" name="Text Box 6">
            <a:extLst>
              <a:ext uri="{FF2B5EF4-FFF2-40B4-BE49-F238E27FC236}">
                <a16:creationId xmlns:a16="http://schemas.microsoft.com/office/drawing/2014/main" id="{64FE38B4-44A8-62FB-06EA-D163E4867A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776288"/>
            <a:ext cx="740410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altLang="it-IT" sz="2200" dirty="0">
                <a:solidFill>
                  <a:srgbClr val="000000"/>
                </a:solidFill>
              </a:rPr>
              <a:t>Scenario base e proposte di miglioramento</a:t>
            </a:r>
            <a:endParaRPr lang="it-IT" altLang="it-IT" sz="2200" dirty="0">
              <a:solidFill>
                <a:schemeClr val="tx1"/>
              </a:solidFill>
            </a:endParaRP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3A6745EC-9594-93D7-F93C-17B273DFF5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777" y="1281113"/>
            <a:ext cx="5793041" cy="1643831"/>
          </a:xfrm>
          <a:prstGeom prst="rect">
            <a:avLst/>
          </a:prstGeom>
        </p:spPr>
      </p:pic>
      <p:sp>
        <p:nvSpPr>
          <p:cNvPr id="3" name="Rettangolo 2">
            <a:extLst>
              <a:ext uri="{FF2B5EF4-FFF2-40B4-BE49-F238E27FC236}">
                <a16:creationId xmlns:a16="http://schemas.microsoft.com/office/drawing/2014/main" id="{153B6490-08B5-9C24-F1AD-C5218B550847}"/>
              </a:ext>
            </a:extLst>
          </p:cNvPr>
          <p:cNvSpPr/>
          <p:nvPr/>
        </p:nvSpPr>
        <p:spPr bwMode="auto">
          <a:xfrm>
            <a:off x="2926954" y="1705671"/>
            <a:ext cx="936104" cy="118315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9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1837018-C370-399C-9C41-9646602B4D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811" y="3399225"/>
            <a:ext cx="7600779" cy="9408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822433"/>
              </a:buClr>
              <a:buChar char="•"/>
              <a:defRPr sz="2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1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buFontTx/>
              <a:buNone/>
            </a:pPr>
            <a:r>
              <a:rPr lang="it-IT" sz="1400" b="1" dirty="0">
                <a:solidFill>
                  <a:srgbClr val="822433"/>
                </a:solidFill>
              </a:rPr>
              <a:t>RI-ALLOCAZIONE TERRITORIALE DELLE AMBULANZE</a:t>
            </a:r>
          </a:p>
          <a:p>
            <a:pPr eaLnBrk="1" hangingPunct="1">
              <a:buNone/>
            </a:pPr>
            <a:r>
              <a:rPr lang="it-IT" sz="1400" dirty="0"/>
              <a:t>	Accentramento di risorse sul polo di Rieti (maggior concentrazione della domanda e verso cui converge la maggioranza dei trasporti ospedalieri) per contrarre i tempi di risposta.</a:t>
            </a:r>
          </a:p>
          <a:p>
            <a:pPr eaLnBrk="1" hangingPunct="1">
              <a:buFontTx/>
              <a:buNone/>
            </a:pPr>
            <a:endParaRPr lang="it-IT" altLang="it-IT" sz="1400" dirty="0"/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6CDC193D-D6CC-5AA3-7345-A07E67EA48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513" y="4737303"/>
            <a:ext cx="4128056" cy="8395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822433"/>
              </a:buClr>
              <a:buChar char="•"/>
              <a:defRPr sz="2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1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buFontTx/>
              <a:buNone/>
            </a:pPr>
            <a:r>
              <a:rPr lang="it-IT" sz="1200" dirty="0"/>
              <a:t>	</a:t>
            </a:r>
            <a:r>
              <a:rPr lang="it-IT" sz="1400" b="1" dirty="0">
                <a:solidFill>
                  <a:srgbClr val="822433"/>
                </a:solidFill>
              </a:rPr>
              <a:t>RIDUZIONE DEI MEZZI A DISPOSIZIONE</a:t>
            </a:r>
          </a:p>
          <a:p>
            <a:pPr eaLnBrk="1" hangingPunct="1">
              <a:buNone/>
            </a:pPr>
            <a:r>
              <a:rPr lang="it-IT" sz="1400" dirty="0"/>
              <a:t>	Identificazione del numero minimo di mezzi idoneo a garantire l'invarianza del livello di servizio.</a:t>
            </a:r>
          </a:p>
          <a:p>
            <a:pPr eaLnBrk="1" hangingPunct="1">
              <a:buFontTx/>
              <a:buNone/>
            </a:pPr>
            <a:endParaRPr lang="it-IT" sz="1400" dirty="0"/>
          </a:p>
          <a:p>
            <a:pPr eaLnBrk="1" hangingPunct="1">
              <a:buFontTx/>
              <a:buNone/>
            </a:pPr>
            <a:endParaRPr lang="it-IT" sz="1400" dirty="0"/>
          </a:p>
          <a:p>
            <a:pPr eaLnBrk="1" hangingPunct="1">
              <a:buFontTx/>
              <a:buNone/>
            </a:pPr>
            <a:endParaRPr lang="it-IT" altLang="it-IT" sz="1400" dirty="0"/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35D5EC2F-233B-B042-5D98-4DFC7BE472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71361" y="4830018"/>
            <a:ext cx="3924097" cy="919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822433"/>
              </a:buClr>
              <a:buChar char="•"/>
              <a:defRPr sz="2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1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buFontTx/>
              <a:buNone/>
            </a:pPr>
            <a:r>
              <a:rPr lang="it-IT" sz="1400" b="1" dirty="0">
                <a:solidFill>
                  <a:srgbClr val="822433"/>
                </a:solidFill>
              </a:rPr>
              <a:t>AUMENTO DELLA DOMANDA</a:t>
            </a:r>
          </a:p>
          <a:p>
            <a:pPr eaLnBrk="1" hangingPunct="1">
              <a:buNone/>
            </a:pPr>
            <a:r>
              <a:rPr lang="it-IT" sz="1400" dirty="0"/>
              <a:t>	Determinazione della capacità di carico di lavoro massima sostenibile dal sistema.</a:t>
            </a:r>
            <a:endParaRPr lang="it-IT" altLang="it-IT" sz="1400" dirty="0"/>
          </a:p>
        </p:txBody>
      </p:sp>
      <p:cxnSp>
        <p:nvCxnSpPr>
          <p:cNvPr id="22" name="Connettore 2 21">
            <a:extLst>
              <a:ext uri="{FF2B5EF4-FFF2-40B4-BE49-F238E27FC236}">
                <a16:creationId xmlns:a16="http://schemas.microsoft.com/office/drawing/2014/main" id="{6B75B01B-730E-C2FA-F0D1-878A6C4CA06D}"/>
              </a:ext>
            </a:extLst>
          </p:cNvPr>
          <p:cNvCxnSpPr>
            <a:cxnSpLocks/>
            <a:stCxn id="5" idx="2"/>
          </p:cNvCxnSpPr>
          <p:nvPr/>
        </p:nvCxnSpPr>
        <p:spPr bwMode="auto">
          <a:xfrm>
            <a:off x="4469201" y="4340083"/>
            <a:ext cx="606855" cy="27220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Connettore 2 22">
            <a:extLst>
              <a:ext uri="{FF2B5EF4-FFF2-40B4-BE49-F238E27FC236}">
                <a16:creationId xmlns:a16="http://schemas.microsoft.com/office/drawing/2014/main" id="{4F778690-808A-3807-4D7D-51FFB837F551}"/>
              </a:ext>
            </a:extLst>
          </p:cNvPr>
          <p:cNvCxnSpPr>
            <a:cxnSpLocks/>
          </p:cNvCxnSpPr>
          <p:nvPr/>
        </p:nvCxnSpPr>
        <p:spPr bwMode="auto">
          <a:xfrm flipH="1">
            <a:off x="3923928" y="4329570"/>
            <a:ext cx="549713" cy="28271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Rettangolo 29">
            <a:extLst>
              <a:ext uri="{FF2B5EF4-FFF2-40B4-BE49-F238E27FC236}">
                <a16:creationId xmlns:a16="http://schemas.microsoft.com/office/drawing/2014/main" id="{8E49BC47-2D3A-3742-3847-5DAB76F55674}"/>
              </a:ext>
            </a:extLst>
          </p:cNvPr>
          <p:cNvSpPr/>
          <p:nvPr/>
        </p:nvSpPr>
        <p:spPr bwMode="auto">
          <a:xfrm>
            <a:off x="6422826" y="1277371"/>
            <a:ext cx="2555351" cy="404085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9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31" name="Freccia in giù 30">
            <a:extLst>
              <a:ext uri="{FF2B5EF4-FFF2-40B4-BE49-F238E27FC236}">
                <a16:creationId xmlns:a16="http://schemas.microsoft.com/office/drawing/2014/main" id="{931F6E22-DE74-C867-04B9-6A6ADD91381E}"/>
              </a:ext>
            </a:extLst>
          </p:cNvPr>
          <p:cNvSpPr/>
          <p:nvPr/>
        </p:nvSpPr>
        <p:spPr bwMode="auto">
          <a:xfrm>
            <a:off x="7511166" y="1734524"/>
            <a:ext cx="378668" cy="320443"/>
          </a:xfrm>
          <a:prstGeom prst="downArrow">
            <a:avLst/>
          </a:prstGeom>
          <a:solidFill>
            <a:schemeClr val="tx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9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33" name="Rettangolo 32">
            <a:extLst>
              <a:ext uri="{FF2B5EF4-FFF2-40B4-BE49-F238E27FC236}">
                <a16:creationId xmlns:a16="http://schemas.microsoft.com/office/drawing/2014/main" id="{8D78B096-4632-524E-AD5B-50D59FCB5B08}"/>
              </a:ext>
            </a:extLst>
          </p:cNvPr>
          <p:cNvSpPr/>
          <p:nvPr/>
        </p:nvSpPr>
        <p:spPr bwMode="auto">
          <a:xfrm>
            <a:off x="6422825" y="2105298"/>
            <a:ext cx="2555351" cy="943915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9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173493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1B9F4-271F-B4DC-3C1B-58B4D1EF7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3">
            <a:extLst>
              <a:ext uri="{FF2B5EF4-FFF2-40B4-BE49-F238E27FC236}">
                <a16:creationId xmlns:a16="http://schemas.microsoft.com/office/drawing/2014/main" id="{D67D8DE8-08BE-3E24-7AF6-2E5CDC93F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86434-D0AF-4D9A-80D0-6AFCF79FCC5B}" type="datetime1">
              <a:rPr lang="it-IT" altLang="it-IT"/>
              <a:pPr/>
              <a:t>20/10/2026</a:t>
            </a:fld>
            <a:endParaRPr lang="it-IT" altLang="it-IT"/>
          </a:p>
        </p:txBody>
      </p:sp>
      <p:sp>
        <p:nvSpPr>
          <p:cNvPr id="4" name="Segnaposto numero diapositiva 5">
            <a:extLst>
              <a:ext uri="{FF2B5EF4-FFF2-40B4-BE49-F238E27FC236}">
                <a16:creationId xmlns:a16="http://schemas.microsoft.com/office/drawing/2014/main" id="{F581D60C-DD8C-ABED-0AF0-29868B054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it-IT" altLang="it-IT"/>
              <a:t>Pagina </a:t>
            </a:r>
            <a:fld id="{6272AF97-468E-4D39-BCD0-38003E2F838C}" type="slidenum">
              <a:rPr lang="it-IT" altLang="it-IT"/>
              <a:pPr/>
              <a:t>14</a:t>
            </a:fld>
            <a:endParaRPr lang="it-IT" altLang="it-IT"/>
          </a:p>
        </p:txBody>
      </p:sp>
      <p:sp>
        <p:nvSpPr>
          <p:cNvPr id="9218" name="Rectangle 2">
            <a:extLst>
              <a:ext uri="{FF2B5EF4-FFF2-40B4-BE49-F238E27FC236}">
                <a16:creationId xmlns:a16="http://schemas.microsoft.com/office/drawing/2014/main" id="{C2D99340-205F-FF66-9DE2-C12A44560E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16013" y="409575"/>
            <a:ext cx="7416800" cy="504825"/>
          </a:xfrm>
        </p:spPr>
        <p:txBody>
          <a:bodyPr/>
          <a:lstStyle/>
          <a:p>
            <a:r>
              <a:rPr lang="it-IT" altLang="it-IT" dirty="0"/>
              <a:t>Process </a:t>
            </a:r>
            <a:r>
              <a:rPr lang="it-IT" altLang="it-IT" dirty="0" err="1"/>
              <a:t>Simulation</a:t>
            </a:r>
            <a:r>
              <a:rPr lang="it-IT" altLang="it-IT" dirty="0"/>
              <a:t> con BIMP</a:t>
            </a:r>
          </a:p>
        </p:txBody>
      </p:sp>
      <p:sp>
        <p:nvSpPr>
          <p:cNvPr id="9221" name="Rectangle 5">
            <a:extLst>
              <a:ext uri="{FF2B5EF4-FFF2-40B4-BE49-F238E27FC236}">
                <a16:creationId xmlns:a16="http://schemas.microsoft.com/office/drawing/2014/main" id="{B6E30AA7-7E1D-FDB2-E85C-48FDC2DC42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403891" y="1329223"/>
            <a:ext cx="5272565" cy="1820894"/>
          </a:xfrm>
        </p:spPr>
        <p:txBody>
          <a:bodyPr/>
          <a:lstStyle/>
          <a:p>
            <a:pPr>
              <a:buFontTx/>
              <a:buNone/>
            </a:pPr>
            <a:r>
              <a:rPr lang="it-IT" sz="1200" dirty="0"/>
              <a:t>	</a:t>
            </a:r>
            <a:r>
              <a:rPr lang="it-IT" sz="1400" dirty="0"/>
              <a:t>Il trasferimento a Rieti di 4 unità periferiche (Amatrice, Leonessa, Magliano e Paganico) stima una </a:t>
            </a:r>
            <a:r>
              <a:rPr lang="it-IT" sz="1400" b="1" dirty="0"/>
              <a:t>contrazione del 25%</a:t>
            </a:r>
            <a:r>
              <a:rPr lang="it-IT" sz="1400" dirty="0"/>
              <a:t> </a:t>
            </a:r>
            <a:r>
              <a:rPr lang="it-IT" sz="1400" b="1" dirty="0"/>
              <a:t>del viaggio verso il paziente e del ritorno in base</a:t>
            </a:r>
            <a:r>
              <a:rPr lang="it-IT" sz="1400" dirty="0"/>
              <a:t>, riducendo il tempo di risposta e il ripristino dei mezzi.</a:t>
            </a:r>
            <a:endParaRPr lang="it-IT" altLang="it-IT" sz="1400" dirty="0"/>
          </a:p>
        </p:txBody>
      </p:sp>
      <p:sp>
        <p:nvSpPr>
          <p:cNvPr id="9222" name="Text Box 6">
            <a:extLst>
              <a:ext uri="{FF2B5EF4-FFF2-40B4-BE49-F238E27FC236}">
                <a16:creationId xmlns:a16="http://schemas.microsoft.com/office/drawing/2014/main" id="{EB3AB016-0B4B-886A-5B5D-A4004D6014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776288"/>
            <a:ext cx="740410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altLang="it-IT" sz="2200" dirty="0" err="1">
                <a:solidFill>
                  <a:srgbClr val="000000"/>
                </a:solidFill>
              </a:rPr>
              <a:t>Ri</a:t>
            </a:r>
            <a:r>
              <a:rPr lang="it-IT" altLang="it-IT" sz="2200" dirty="0">
                <a:solidFill>
                  <a:srgbClr val="000000"/>
                </a:solidFill>
              </a:rPr>
              <a:t>-allocazione territoriale delle ambulanze</a:t>
            </a:r>
            <a:endParaRPr lang="it-IT" altLang="it-IT" sz="2200" dirty="0">
              <a:solidFill>
                <a:schemeClr val="tx1"/>
              </a:solidFill>
            </a:endParaRP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7C5A2CC6-DEC9-EAD2-6DEF-0AC84502FA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186" y="1293508"/>
            <a:ext cx="2885199" cy="2812063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2F35F03B-C275-7E73-29E2-7C0FCC58E8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6265" y="2579693"/>
            <a:ext cx="4423848" cy="1297616"/>
          </a:xfrm>
          <a:prstGeom prst="rect">
            <a:avLst/>
          </a:prstGeom>
        </p:spPr>
      </p:pic>
      <p:sp>
        <p:nvSpPr>
          <p:cNvPr id="11" name="Ovale 10">
            <a:extLst>
              <a:ext uri="{FF2B5EF4-FFF2-40B4-BE49-F238E27FC236}">
                <a16:creationId xmlns:a16="http://schemas.microsoft.com/office/drawing/2014/main" id="{E27F783E-D5F9-ED9B-F38E-54A8CB9A031B}"/>
              </a:ext>
            </a:extLst>
          </p:cNvPr>
          <p:cNvSpPr/>
          <p:nvPr/>
        </p:nvSpPr>
        <p:spPr bwMode="auto">
          <a:xfrm>
            <a:off x="1974539" y="1951987"/>
            <a:ext cx="579513" cy="310005"/>
          </a:xfrm>
          <a:prstGeom prst="ellipse">
            <a:avLst/>
          </a:prstGeom>
          <a:noFill/>
          <a:ln w="1905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9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3" name="Ovale 12">
            <a:extLst>
              <a:ext uri="{FF2B5EF4-FFF2-40B4-BE49-F238E27FC236}">
                <a16:creationId xmlns:a16="http://schemas.microsoft.com/office/drawing/2014/main" id="{C80FABD9-787B-A914-056E-E18D5C622F77}"/>
              </a:ext>
            </a:extLst>
          </p:cNvPr>
          <p:cNvSpPr/>
          <p:nvPr/>
        </p:nvSpPr>
        <p:spPr bwMode="auto">
          <a:xfrm>
            <a:off x="2144573" y="3546641"/>
            <a:ext cx="525784" cy="249238"/>
          </a:xfrm>
          <a:prstGeom prst="ellipse">
            <a:avLst/>
          </a:prstGeom>
          <a:noFill/>
          <a:ln w="1905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9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5" name="Ovale 14">
            <a:extLst>
              <a:ext uri="{FF2B5EF4-FFF2-40B4-BE49-F238E27FC236}">
                <a16:creationId xmlns:a16="http://schemas.microsoft.com/office/drawing/2014/main" id="{71BE6AFD-0611-E447-B709-12DBF5382F98}"/>
              </a:ext>
            </a:extLst>
          </p:cNvPr>
          <p:cNvSpPr/>
          <p:nvPr/>
        </p:nvSpPr>
        <p:spPr bwMode="auto">
          <a:xfrm>
            <a:off x="708246" y="2852936"/>
            <a:ext cx="510954" cy="232952"/>
          </a:xfrm>
          <a:prstGeom prst="ellipse">
            <a:avLst/>
          </a:prstGeom>
          <a:noFill/>
          <a:ln w="1905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9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7" name="Ovale 16">
            <a:extLst>
              <a:ext uri="{FF2B5EF4-FFF2-40B4-BE49-F238E27FC236}">
                <a16:creationId xmlns:a16="http://schemas.microsoft.com/office/drawing/2014/main" id="{796DC87D-4559-FF97-3F99-D0C6894548D1}"/>
              </a:ext>
            </a:extLst>
          </p:cNvPr>
          <p:cNvSpPr/>
          <p:nvPr/>
        </p:nvSpPr>
        <p:spPr bwMode="auto">
          <a:xfrm>
            <a:off x="2943293" y="1898970"/>
            <a:ext cx="579513" cy="292776"/>
          </a:xfrm>
          <a:prstGeom prst="ellipse">
            <a:avLst/>
          </a:prstGeom>
          <a:noFill/>
          <a:ln w="1905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9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1" name="Rectangle 5">
            <a:extLst>
              <a:ext uri="{FF2B5EF4-FFF2-40B4-BE49-F238E27FC236}">
                <a16:creationId xmlns:a16="http://schemas.microsoft.com/office/drawing/2014/main" id="{252C80B9-3E64-D6BA-CD4D-E3F9277FD3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3547" y="4784623"/>
            <a:ext cx="2447154" cy="7103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822433"/>
              </a:buClr>
              <a:buChar char="•"/>
              <a:defRPr sz="2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1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buFontTx/>
              <a:buNone/>
            </a:pPr>
            <a:r>
              <a:rPr lang="it-IT" sz="1200" dirty="0"/>
              <a:t>	</a:t>
            </a:r>
            <a:r>
              <a:rPr lang="it-IT" sz="1600" dirty="0"/>
              <a:t>Netto miglioramento delle prestazioni di servizio.</a:t>
            </a:r>
            <a:endParaRPr lang="it-IT" altLang="it-IT" sz="1600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982A8F16-4C83-BEE8-3891-7D54EB1E86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66237" y="4165616"/>
            <a:ext cx="5068944" cy="1824416"/>
          </a:xfrm>
          <a:prstGeom prst="rect">
            <a:avLst/>
          </a:prstGeom>
        </p:spPr>
      </p:pic>
      <p:sp>
        <p:nvSpPr>
          <p:cNvPr id="20" name="Rettangolo 19">
            <a:extLst>
              <a:ext uri="{FF2B5EF4-FFF2-40B4-BE49-F238E27FC236}">
                <a16:creationId xmlns:a16="http://schemas.microsoft.com/office/drawing/2014/main" id="{C6EB7182-CA31-1B17-9A7B-427CFA4A50EC}"/>
              </a:ext>
            </a:extLst>
          </p:cNvPr>
          <p:cNvSpPr/>
          <p:nvPr/>
        </p:nvSpPr>
        <p:spPr bwMode="auto">
          <a:xfrm>
            <a:off x="5292081" y="5072456"/>
            <a:ext cx="1373314" cy="885996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9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5C9BB648-9C69-E2EE-38CD-FB741476CE89}"/>
              </a:ext>
            </a:extLst>
          </p:cNvPr>
          <p:cNvSpPr/>
          <p:nvPr/>
        </p:nvSpPr>
        <p:spPr bwMode="auto">
          <a:xfrm>
            <a:off x="3713928" y="1284491"/>
            <a:ext cx="5068944" cy="1073498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9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888A19B2-AB95-7C38-D3DF-CC2DD0C27489}"/>
              </a:ext>
            </a:extLst>
          </p:cNvPr>
          <p:cNvSpPr/>
          <p:nvPr/>
        </p:nvSpPr>
        <p:spPr bwMode="auto">
          <a:xfrm>
            <a:off x="611186" y="4764050"/>
            <a:ext cx="2219515" cy="900949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9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cxnSp>
        <p:nvCxnSpPr>
          <p:cNvPr id="5" name="Connettore 2 4">
            <a:extLst>
              <a:ext uri="{FF2B5EF4-FFF2-40B4-BE49-F238E27FC236}">
                <a16:creationId xmlns:a16="http://schemas.microsoft.com/office/drawing/2014/main" id="{4F90DC52-61C6-F563-ADD3-595EFC40B2B3}"/>
              </a:ext>
            </a:extLst>
          </p:cNvPr>
          <p:cNvCxnSpPr>
            <a:stCxn id="15" idx="6"/>
          </p:cNvCxnSpPr>
          <p:nvPr/>
        </p:nvCxnSpPr>
        <p:spPr bwMode="auto">
          <a:xfrm flipV="1">
            <a:off x="1219200" y="2852936"/>
            <a:ext cx="688504" cy="116476"/>
          </a:xfrm>
          <a:prstGeom prst="straightConnector1">
            <a:avLst/>
          </a:prstGeom>
          <a:noFill/>
          <a:ln w="9525" cap="flat" cmpd="sng" algn="ctr">
            <a:solidFill>
              <a:srgbClr val="0070C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cxnSp>
        <p:nvCxnSpPr>
          <p:cNvPr id="10" name="Connettore 2 9">
            <a:extLst>
              <a:ext uri="{FF2B5EF4-FFF2-40B4-BE49-F238E27FC236}">
                <a16:creationId xmlns:a16="http://schemas.microsoft.com/office/drawing/2014/main" id="{4227BFE6-8C9E-2B21-1066-43C4CC292F56}"/>
              </a:ext>
            </a:extLst>
          </p:cNvPr>
          <p:cNvCxnSpPr/>
          <p:nvPr/>
        </p:nvCxnSpPr>
        <p:spPr bwMode="auto">
          <a:xfrm flipH="1">
            <a:off x="2053785" y="2271208"/>
            <a:ext cx="221789" cy="456618"/>
          </a:xfrm>
          <a:prstGeom prst="straightConnector1">
            <a:avLst/>
          </a:prstGeom>
          <a:noFill/>
          <a:ln w="9525" cap="flat" cmpd="sng" algn="ctr">
            <a:solidFill>
              <a:srgbClr val="0070C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cxnSp>
        <p:nvCxnSpPr>
          <p:cNvPr id="14" name="Connettore 2 13">
            <a:extLst>
              <a:ext uri="{FF2B5EF4-FFF2-40B4-BE49-F238E27FC236}">
                <a16:creationId xmlns:a16="http://schemas.microsoft.com/office/drawing/2014/main" id="{181E8AB6-58D2-F008-A003-8ABDC7506679}"/>
              </a:ext>
            </a:extLst>
          </p:cNvPr>
          <p:cNvCxnSpPr/>
          <p:nvPr/>
        </p:nvCxnSpPr>
        <p:spPr bwMode="auto">
          <a:xfrm flipH="1" flipV="1">
            <a:off x="2020652" y="2950527"/>
            <a:ext cx="344674" cy="604069"/>
          </a:xfrm>
          <a:prstGeom prst="straightConnector1">
            <a:avLst/>
          </a:prstGeom>
          <a:noFill/>
          <a:ln w="9525" cap="flat" cmpd="sng" algn="ctr">
            <a:solidFill>
              <a:srgbClr val="0070C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cxnSp>
        <p:nvCxnSpPr>
          <p:cNvPr id="16" name="Connettore 2 15">
            <a:extLst>
              <a:ext uri="{FF2B5EF4-FFF2-40B4-BE49-F238E27FC236}">
                <a16:creationId xmlns:a16="http://schemas.microsoft.com/office/drawing/2014/main" id="{ED84193C-D564-E27E-E315-D91BD0DEFE3F}"/>
              </a:ext>
            </a:extLst>
          </p:cNvPr>
          <p:cNvCxnSpPr>
            <a:stCxn id="17" idx="4"/>
          </p:cNvCxnSpPr>
          <p:nvPr/>
        </p:nvCxnSpPr>
        <p:spPr bwMode="auto">
          <a:xfrm flipH="1">
            <a:off x="2144573" y="2191746"/>
            <a:ext cx="1088477" cy="661190"/>
          </a:xfrm>
          <a:prstGeom prst="straightConnector1">
            <a:avLst/>
          </a:prstGeom>
          <a:noFill/>
          <a:ln w="9525" cap="flat" cmpd="sng" algn="ctr">
            <a:solidFill>
              <a:srgbClr val="0070C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cxnSp>
      <p:sp>
        <p:nvSpPr>
          <p:cNvPr id="18" name="Freccia in giù 17">
            <a:extLst>
              <a:ext uri="{FF2B5EF4-FFF2-40B4-BE49-F238E27FC236}">
                <a16:creationId xmlns:a16="http://schemas.microsoft.com/office/drawing/2014/main" id="{B14C1EA8-84A5-3F7B-AE69-A63F86E163A5}"/>
              </a:ext>
            </a:extLst>
          </p:cNvPr>
          <p:cNvSpPr/>
          <p:nvPr/>
        </p:nvSpPr>
        <p:spPr bwMode="auto">
          <a:xfrm rot="5400000">
            <a:off x="3099434" y="4884323"/>
            <a:ext cx="493379" cy="640225"/>
          </a:xfrm>
          <a:prstGeom prst="downArrow">
            <a:avLst/>
          </a:prstGeom>
          <a:solidFill>
            <a:schemeClr val="tx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9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cxnSp>
        <p:nvCxnSpPr>
          <p:cNvPr id="19" name="Connettore 2 18">
            <a:extLst>
              <a:ext uri="{FF2B5EF4-FFF2-40B4-BE49-F238E27FC236}">
                <a16:creationId xmlns:a16="http://schemas.microsoft.com/office/drawing/2014/main" id="{6B3D19D6-6AB4-EE37-4259-374DBB4BC775}"/>
              </a:ext>
            </a:extLst>
          </p:cNvPr>
          <p:cNvCxnSpPr>
            <a:cxnSpLocks/>
          </p:cNvCxnSpPr>
          <p:nvPr/>
        </p:nvCxnSpPr>
        <p:spPr bwMode="auto">
          <a:xfrm>
            <a:off x="6245221" y="2357989"/>
            <a:ext cx="0" cy="27892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Connettore 2 23">
            <a:extLst>
              <a:ext uri="{FF2B5EF4-FFF2-40B4-BE49-F238E27FC236}">
                <a16:creationId xmlns:a16="http://schemas.microsoft.com/office/drawing/2014/main" id="{997ECCE3-0CBC-2F8D-E0BE-F5D6003458E5}"/>
              </a:ext>
            </a:extLst>
          </p:cNvPr>
          <p:cNvCxnSpPr>
            <a:cxnSpLocks/>
            <a:stCxn id="8" idx="2"/>
          </p:cNvCxnSpPr>
          <p:nvPr/>
        </p:nvCxnSpPr>
        <p:spPr bwMode="auto">
          <a:xfrm>
            <a:off x="6308189" y="3877309"/>
            <a:ext cx="0" cy="28830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84468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DD9D0-19EB-3724-0390-8CB96FAAD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3">
            <a:extLst>
              <a:ext uri="{FF2B5EF4-FFF2-40B4-BE49-F238E27FC236}">
                <a16:creationId xmlns:a16="http://schemas.microsoft.com/office/drawing/2014/main" id="{13C364FE-914B-80BA-53C3-A7EF6C6DE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86434-D0AF-4D9A-80D0-6AFCF79FCC5B}" type="datetime1">
              <a:rPr lang="it-IT" altLang="it-IT"/>
              <a:pPr/>
              <a:t>20/10/2026</a:t>
            </a:fld>
            <a:endParaRPr lang="it-IT" altLang="it-IT"/>
          </a:p>
        </p:txBody>
      </p:sp>
      <p:sp>
        <p:nvSpPr>
          <p:cNvPr id="4" name="Segnaposto numero diapositiva 5">
            <a:extLst>
              <a:ext uri="{FF2B5EF4-FFF2-40B4-BE49-F238E27FC236}">
                <a16:creationId xmlns:a16="http://schemas.microsoft.com/office/drawing/2014/main" id="{00C97447-5431-406B-7D1F-439EE7E2E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it-IT" altLang="it-IT"/>
              <a:t>Pagina </a:t>
            </a:r>
            <a:fld id="{6272AF97-468E-4D39-BCD0-38003E2F838C}" type="slidenum">
              <a:rPr lang="it-IT" altLang="it-IT"/>
              <a:pPr/>
              <a:t>15</a:t>
            </a:fld>
            <a:endParaRPr lang="it-IT" altLang="it-IT"/>
          </a:p>
        </p:txBody>
      </p:sp>
      <p:sp>
        <p:nvSpPr>
          <p:cNvPr id="9218" name="Rectangle 2">
            <a:extLst>
              <a:ext uri="{FF2B5EF4-FFF2-40B4-BE49-F238E27FC236}">
                <a16:creationId xmlns:a16="http://schemas.microsoft.com/office/drawing/2014/main" id="{D4F4E4DB-E814-6715-1B7E-D5DD47B6CE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16013" y="409575"/>
            <a:ext cx="7416800" cy="504825"/>
          </a:xfrm>
        </p:spPr>
        <p:txBody>
          <a:bodyPr/>
          <a:lstStyle/>
          <a:p>
            <a:r>
              <a:rPr lang="it-IT" altLang="it-IT" dirty="0"/>
              <a:t>Process </a:t>
            </a:r>
            <a:r>
              <a:rPr lang="it-IT" altLang="it-IT" dirty="0" err="1"/>
              <a:t>Simulation</a:t>
            </a:r>
            <a:r>
              <a:rPr lang="it-IT" altLang="it-IT" dirty="0"/>
              <a:t> con BIMP</a:t>
            </a:r>
          </a:p>
        </p:txBody>
      </p:sp>
      <p:sp>
        <p:nvSpPr>
          <p:cNvPr id="9221" name="Rectangle 5">
            <a:extLst>
              <a:ext uri="{FF2B5EF4-FFF2-40B4-BE49-F238E27FC236}">
                <a16:creationId xmlns:a16="http://schemas.microsoft.com/office/drawing/2014/main" id="{D24DD2A2-08EF-330C-BDC7-8AA7F446A5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7832" y="1344551"/>
            <a:ext cx="8360632" cy="851743"/>
          </a:xfrm>
        </p:spPr>
        <p:txBody>
          <a:bodyPr/>
          <a:lstStyle/>
          <a:p>
            <a:pPr>
              <a:buFontTx/>
              <a:buNone/>
            </a:pPr>
            <a:r>
              <a:rPr lang="it-IT" sz="1200" dirty="0"/>
              <a:t>	</a:t>
            </a:r>
            <a:r>
              <a:rPr lang="it-IT" sz="1600" dirty="0"/>
              <a:t>Identificazione delle </a:t>
            </a:r>
            <a:r>
              <a:rPr lang="it-IT" sz="1600" b="1" dirty="0"/>
              <a:t>unità minime </a:t>
            </a:r>
            <a:r>
              <a:rPr lang="it-IT" sz="1600" dirty="0"/>
              <a:t>necessarie a sostenere il carico operativo post-allocazione, garantendo </a:t>
            </a:r>
            <a:r>
              <a:rPr lang="it-IT" sz="1600" b="1" dirty="0"/>
              <a:t>l'invarianza del livello di servizio</a:t>
            </a:r>
            <a:r>
              <a:rPr lang="it-IT" sz="1600" dirty="0"/>
              <a:t>.</a:t>
            </a:r>
            <a:endParaRPr lang="it-IT" altLang="it-IT" sz="1600" dirty="0"/>
          </a:p>
        </p:txBody>
      </p:sp>
      <p:sp>
        <p:nvSpPr>
          <p:cNvPr id="9222" name="Text Box 6">
            <a:extLst>
              <a:ext uri="{FF2B5EF4-FFF2-40B4-BE49-F238E27FC236}">
                <a16:creationId xmlns:a16="http://schemas.microsoft.com/office/drawing/2014/main" id="{64BCBBBF-BBD3-99ED-0652-FBA4692F0E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776288"/>
            <a:ext cx="740410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altLang="it-IT" sz="2200" dirty="0">
                <a:solidFill>
                  <a:srgbClr val="000000"/>
                </a:solidFill>
              </a:rPr>
              <a:t>Riduzione del numero </a:t>
            </a:r>
            <a:r>
              <a:rPr lang="it-IT" altLang="it-IT" sz="2200">
                <a:solidFill>
                  <a:srgbClr val="000000"/>
                </a:solidFill>
              </a:rPr>
              <a:t>di ambulanze</a:t>
            </a:r>
            <a:endParaRPr lang="it-IT" altLang="it-IT" sz="2200" dirty="0">
              <a:solidFill>
                <a:schemeClr val="tx1"/>
              </a:solidFill>
            </a:endParaRP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5C9FE312-A5F9-1EB8-5E32-2CC0AFC49A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014" y="2246860"/>
            <a:ext cx="6912370" cy="2512957"/>
          </a:xfrm>
          <a:prstGeom prst="rect">
            <a:avLst/>
          </a:prstGeom>
        </p:spPr>
      </p:pic>
      <p:sp>
        <p:nvSpPr>
          <p:cNvPr id="8" name="Rectangle 5">
            <a:extLst>
              <a:ext uri="{FF2B5EF4-FFF2-40B4-BE49-F238E27FC236}">
                <a16:creationId xmlns:a16="http://schemas.microsoft.com/office/drawing/2014/main" id="{7E946E6F-2F49-5436-AE63-80278B3DEF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1" y="5169047"/>
            <a:ext cx="8689454" cy="4258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822433"/>
              </a:buClr>
              <a:buChar char="•"/>
              <a:defRPr sz="2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1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buFontTx/>
              <a:buNone/>
            </a:pPr>
            <a:r>
              <a:rPr lang="it-IT" sz="1200" dirty="0"/>
              <a:t>	</a:t>
            </a:r>
            <a:r>
              <a:rPr lang="it-IT" sz="1600" dirty="0"/>
              <a:t>Tramite un’analisi euristica si è ottenuto un ottimo trade-off riducendo i mezzi a </a:t>
            </a:r>
            <a:r>
              <a:rPr lang="it-IT" sz="1600" b="1" dirty="0"/>
              <a:t>11 unità</a:t>
            </a:r>
            <a:r>
              <a:rPr lang="it-IT" sz="1600" dirty="0"/>
              <a:t>.</a:t>
            </a:r>
            <a:endParaRPr lang="it-IT" altLang="it-IT" sz="1600" dirty="0"/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216AB7EE-EF72-2D61-B302-B87CAA0D4434}"/>
              </a:ext>
            </a:extLst>
          </p:cNvPr>
          <p:cNvSpPr/>
          <p:nvPr/>
        </p:nvSpPr>
        <p:spPr bwMode="auto">
          <a:xfrm>
            <a:off x="1331641" y="4129455"/>
            <a:ext cx="3842698" cy="2419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9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A166B76D-A706-738D-D4C0-364C965882F8}"/>
              </a:ext>
            </a:extLst>
          </p:cNvPr>
          <p:cNvSpPr/>
          <p:nvPr/>
        </p:nvSpPr>
        <p:spPr bwMode="auto">
          <a:xfrm>
            <a:off x="1331641" y="3576844"/>
            <a:ext cx="3842698" cy="50411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9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A14DEF75-E02B-A195-FC70-732D5EE27842}"/>
              </a:ext>
            </a:extLst>
          </p:cNvPr>
          <p:cNvSpPr/>
          <p:nvPr/>
        </p:nvSpPr>
        <p:spPr bwMode="auto">
          <a:xfrm>
            <a:off x="1331640" y="2996953"/>
            <a:ext cx="3842697" cy="52327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9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288EDA2E-7063-0DAF-8B0F-5D5FA8AA41E1}"/>
              </a:ext>
            </a:extLst>
          </p:cNvPr>
          <p:cNvSpPr/>
          <p:nvPr/>
        </p:nvSpPr>
        <p:spPr bwMode="auto">
          <a:xfrm>
            <a:off x="1331639" y="4443718"/>
            <a:ext cx="3842698" cy="241954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900" b="0" i="0" u="none" strike="noStrike" cap="none" normalizeH="0" baseline="0">
              <a:ln>
                <a:noFill/>
              </a:ln>
              <a:solidFill>
                <a:srgbClr val="0070C0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19D625F6-B7CE-53F2-A051-7264FE33627B}"/>
              </a:ext>
            </a:extLst>
          </p:cNvPr>
          <p:cNvSpPr/>
          <p:nvPr/>
        </p:nvSpPr>
        <p:spPr bwMode="auto">
          <a:xfrm>
            <a:off x="604635" y="5050272"/>
            <a:ext cx="8143829" cy="640543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9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47EC6559-92D9-CAC6-6A76-049248D46DBB}"/>
              </a:ext>
            </a:extLst>
          </p:cNvPr>
          <p:cNvSpPr/>
          <p:nvPr/>
        </p:nvSpPr>
        <p:spPr bwMode="auto">
          <a:xfrm>
            <a:off x="712257" y="1296050"/>
            <a:ext cx="7711781" cy="670615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9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373050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E502C-E7F9-AD63-4B2A-D353F30EC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3">
            <a:extLst>
              <a:ext uri="{FF2B5EF4-FFF2-40B4-BE49-F238E27FC236}">
                <a16:creationId xmlns:a16="http://schemas.microsoft.com/office/drawing/2014/main" id="{E041467C-4F8A-75DB-DA91-1E90E8F9E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86434-D0AF-4D9A-80D0-6AFCF79FCC5B}" type="datetime1">
              <a:rPr lang="it-IT" altLang="it-IT"/>
              <a:pPr/>
              <a:t>20/10/2026</a:t>
            </a:fld>
            <a:endParaRPr lang="it-IT" altLang="it-IT"/>
          </a:p>
        </p:txBody>
      </p:sp>
      <p:sp>
        <p:nvSpPr>
          <p:cNvPr id="4" name="Segnaposto numero diapositiva 5">
            <a:extLst>
              <a:ext uri="{FF2B5EF4-FFF2-40B4-BE49-F238E27FC236}">
                <a16:creationId xmlns:a16="http://schemas.microsoft.com/office/drawing/2014/main" id="{2DADD3EF-5A2D-D3CF-9503-6190B82B0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it-IT" altLang="it-IT"/>
              <a:t>Pagina </a:t>
            </a:r>
            <a:fld id="{6272AF97-468E-4D39-BCD0-38003E2F838C}" type="slidenum">
              <a:rPr lang="it-IT" altLang="it-IT"/>
              <a:pPr/>
              <a:t>16</a:t>
            </a:fld>
            <a:endParaRPr lang="it-IT" altLang="it-IT"/>
          </a:p>
        </p:txBody>
      </p:sp>
      <p:sp>
        <p:nvSpPr>
          <p:cNvPr id="9218" name="Rectangle 2">
            <a:extLst>
              <a:ext uri="{FF2B5EF4-FFF2-40B4-BE49-F238E27FC236}">
                <a16:creationId xmlns:a16="http://schemas.microsoft.com/office/drawing/2014/main" id="{0D93E734-9198-65A9-7872-AB5CC5A461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16013" y="409575"/>
            <a:ext cx="7416800" cy="504825"/>
          </a:xfrm>
        </p:spPr>
        <p:txBody>
          <a:bodyPr/>
          <a:lstStyle/>
          <a:p>
            <a:r>
              <a:rPr lang="it-IT" altLang="it-IT" dirty="0"/>
              <a:t>Process </a:t>
            </a:r>
            <a:r>
              <a:rPr lang="it-IT" altLang="it-IT" dirty="0" err="1"/>
              <a:t>Simulation</a:t>
            </a:r>
            <a:r>
              <a:rPr lang="it-IT" altLang="it-IT" dirty="0"/>
              <a:t> con BIMP</a:t>
            </a:r>
          </a:p>
        </p:txBody>
      </p:sp>
      <p:sp>
        <p:nvSpPr>
          <p:cNvPr id="9222" name="Text Box 6">
            <a:extLst>
              <a:ext uri="{FF2B5EF4-FFF2-40B4-BE49-F238E27FC236}">
                <a16:creationId xmlns:a16="http://schemas.microsoft.com/office/drawing/2014/main" id="{5157BD76-99E8-0529-AA78-3999AE441F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776288"/>
            <a:ext cx="740410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altLang="it-IT" sz="2200" dirty="0">
                <a:solidFill>
                  <a:srgbClr val="000000"/>
                </a:solidFill>
              </a:rPr>
              <a:t>Aumento della domanda</a:t>
            </a:r>
            <a:endParaRPr lang="it-IT" altLang="it-IT" sz="2200" dirty="0">
              <a:solidFill>
                <a:schemeClr val="tx1"/>
              </a:solidFill>
            </a:endParaRP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625BA58D-D881-628B-9B13-98F845C6FF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262" y="1239242"/>
            <a:ext cx="4233361" cy="1544776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F6119AE5-8E08-B124-BE75-6CBB0C7334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262" y="2834474"/>
            <a:ext cx="4268351" cy="1544777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152641DE-2DA0-E8F9-2063-FB4CF07FCA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262" y="4450898"/>
            <a:ext cx="4233361" cy="1542486"/>
          </a:xfrm>
          <a:prstGeom prst="rect">
            <a:avLst/>
          </a:prstGeom>
        </p:spPr>
      </p:pic>
      <p:sp>
        <p:nvSpPr>
          <p:cNvPr id="11" name="Rectangle 5">
            <a:extLst>
              <a:ext uri="{FF2B5EF4-FFF2-40B4-BE49-F238E27FC236}">
                <a16:creationId xmlns:a16="http://schemas.microsoft.com/office/drawing/2014/main" id="{E85F6587-E207-E587-E8DB-C0F612BB87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2575" y="1383492"/>
            <a:ext cx="3096344" cy="12905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822433"/>
              </a:buClr>
              <a:buChar char="•"/>
              <a:defRPr sz="2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1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buFontTx/>
              <a:buNone/>
            </a:pPr>
            <a:r>
              <a:rPr lang="it-IT" sz="1200" dirty="0"/>
              <a:t>	</a:t>
            </a:r>
            <a:r>
              <a:rPr lang="it-IT" sz="1600" dirty="0"/>
              <a:t>Scenari con aumento della domanda rispettivamente del </a:t>
            </a:r>
            <a:r>
              <a:rPr lang="it-IT" sz="1600" b="1" dirty="0"/>
              <a:t>250%, 300% e 350%</a:t>
            </a:r>
            <a:r>
              <a:rPr lang="it-IT" sz="1600" dirty="0"/>
              <a:t>, con l’obiettivo di condurre uno </a:t>
            </a:r>
            <a:r>
              <a:rPr lang="it-IT" sz="1600" b="1" dirty="0"/>
              <a:t>stress-test</a:t>
            </a:r>
            <a:r>
              <a:rPr lang="it-IT" sz="1600" dirty="0"/>
              <a:t> volta ad identificare la </a:t>
            </a:r>
            <a:r>
              <a:rPr lang="it-IT" sz="1600" b="1" dirty="0"/>
              <a:t>soglia limite di tenuta prestazionale.</a:t>
            </a:r>
          </a:p>
        </p:txBody>
      </p:sp>
      <p:sp>
        <p:nvSpPr>
          <p:cNvPr id="13" name="Rectangle 5">
            <a:extLst>
              <a:ext uri="{FF2B5EF4-FFF2-40B4-BE49-F238E27FC236}">
                <a16:creationId xmlns:a16="http://schemas.microsoft.com/office/drawing/2014/main" id="{5AE4ECBF-E4D5-1526-8DF9-A1AA613428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2574" y="4087431"/>
            <a:ext cx="3096345" cy="8132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822433"/>
              </a:buClr>
              <a:buChar char="•"/>
              <a:defRPr sz="2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1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buFontTx/>
              <a:buNone/>
            </a:pPr>
            <a:r>
              <a:rPr lang="it-IT" sz="1200" dirty="0"/>
              <a:t>	</a:t>
            </a:r>
            <a:r>
              <a:rPr lang="it-IT" sz="1600" dirty="0"/>
              <a:t>Con un incremento superiore al 250% la congestione compromette severamente la qualità del servizio.</a:t>
            </a: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73E273AC-0B27-304F-1505-CCAF9CBC7B98}"/>
              </a:ext>
            </a:extLst>
          </p:cNvPr>
          <p:cNvSpPr/>
          <p:nvPr/>
        </p:nvSpPr>
        <p:spPr bwMode="auto">
          <a:xfrm>
            <a:off x="749528" y="1674669"/>
            <a:ext cx="2574912" cy="344308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9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160DDAAB-939D-641B-C0F2-5D1772FE9870}"/>
              </a:ext>
            </a:extLst>
          </p:cNvPr>
          <p:cNvSpPr/>
          <p:nvPr/>
        </p:nvSpPr>
        <p:spPr bwMode="auto">
          <a:xfrm>
            <a:off x="749528" y="3262554"/>
            <a:ext cx="2574912" cy="344308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9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80AA9F21-67A4-EDE3-9A1C-B8B6E7C2950C}"/>
              </a:ext>
            </a:extLst>
          </p:cNvPr>
          <p:cNvSpPr/>
          <p:nvPr/>
        </p:nvSpPr>
        <p:spPr bwMode="auto">
          <a:xfrm>
            <a:off x="749528" y="4897782"/>
            <a:ext cx="2574912" cy="344308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9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41B95A81-5491-F840-5B00-28C10795FE42}"/>
              </a:ext>
            </a:extLst>
          </p:cNvPr>
          <p:cNvSpPr/>
          <p:nvPr/>
        </p:nvSpPr>
        <p:spPr bwMode="auto">
          <a:xfrm>
            <a:off x="747262" y="2052800"/>
            <a:ext cx="2574912" cy="30120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9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3" name="Rettangolo 22">
            <a:extLst>
              <a:ext uri="{FF2B5EF4-FFF2-40B4-BE49-F238E27FC236}">
                <a16:creationId xmlns:a16="http://schemas.microsoft.com/office/drawing/2014/main" id="{B1B55588-0B11-E43C-F500-CA658F9E0205}"/>
              </a:ext>
            </a:extLst>
          </p:cNvPr>
          <p:cNvSpPr/>
          <p:nvPr/>
        </p:nvSpPr>
        <p:spPr bwMode="auto">
          <a:xfrm>
            <a:off x="747262" y="2385339"/>
            <a:ext cx="2574912" cy="1563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9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5" name="Rettangolo 24">
            <a:extLst>
              <a:ext uri="{FF2B5EF4-FFF2-40B4-BE49-F238E27FC236}">
                <a16:creationId xmlns:a16="http://schemas.microsoft.com/office/drawing/2014/main" id="{BA32865E-B9E8-8D2E-76CC-50BFDEA5739F}"/>
              </a:ext>
            </a:extLst>
          </p:cNvPr>
          <p:cNvSpPr/>
          <p:nvPr/>
        </p:nvSpPr>
        <p:spPr bwMode="auto">
          <a:xfrm>
            <a:off x="737085" y="3645933"/>
            <a:ext cx="2574912" cy="6934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9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7" name="Rettangolo 26">
            <a:extLst>
              <a:ext uri="{FF2B5EF4-FFF2-40B4-BE49-F238E27FC236}">
                <a16:creationId xmlns:a16="http://schemas.microsoft.com/office/drawing/2014/main" id="{1E442B4E-0CED-E667-DFBC-E03E8D7FDD87}"/>
              </a:ext>
            </a:extLst>
          </p:cNvPr>
          <p:cNvSpPr/>
          <p:nvPr/>
        </p:nvSpPr>
        <p:spPr bwMode="auto">
          <a:xfrm>
            <a:off x="747262" y="5273429"/>
            <a:ext cx="2574912" cy="6928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9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9" name="Rettangolo 28">
            <a:extLst>
              <a:ext uri="{FF2B5EF4-FFF2-40B4-BE49-F238E27FC236}">
                <a16:creationId xmlns:a16="http://schemas.microsoft.com/office/drawing/2014/main" id="{A2B3D74A-ED13-6166-F6A8-B8389183632D}"/>
              </a:ext>
            </a:extLst>
          </p:cNvPr>
          <p:cNvSpPr/>
          <p:nvPr/>
        </p:nvSpPr>
        <p:spPr bwMode="auto">
          <a:xfrm>
            <a:off x="747262" y="2571737"/>
            <a:ext cx="2574912" cy="19109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9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A3228360-56C7-A513-9CCE-47B8ADBF35BB}"/>
              </a:ext>
            </a:extLst>
          </p:cNvPr>
          <p:cNvSpPr/>
          <p:nvPr/>
        </p:nvSpPr>
        <p:spPr bwMode="auto">
          <a:xfrm>
            <a:off x="5736454" y="1293054"/>
            <a:ext cx="2795985" cy="2065944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9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D56A04C7-D70C-2EDE-DB03-E8E427632E25}"/>
              </a:ext>
            </a:extLst>
          </p:cNvPr>
          <p:cNvSpPr/>
          <p:nvPr/>
        </p:nvSpPr>
        <p:spPr bwMode="auto">
          <a:xfrm>
            <a:off x="5736454" y="4020171"/>
            <a:ext cx="2783659" cy="1544776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9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437795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946CA-1035-891A-345D-2857CA681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3">
            <a:extLst>
              <a:ext uri="{FF2B5EF4-FFF2-40B4-BE49-F238E27FC236}">
                <a16:creationId xmlns:a16="http://schemas.microsoft.com/office/drawing/2014/main" id="{05048AF3-F79E-5911-5F0C-688BC5280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86434-D0AF-4D9A-80D0-6AFCF79FCC5B}" type="datetime1">
              <a:rPr lang="it-IT" altLang="it-IT"/>
              <a:pPr/>
              <a:t>20/10/2026</a:t>
            </a:fld>
            <a:endParaRPr lang="it-IT" altLang="it-IT"/>
          </a:p>
        </p:txBody>
      </p:sp>
      <p:sp>
        <p:nvSpPr>
          <p:cNvPr id="4" name="Segnaposto numero diapositiva 5">
            <a:extLst>
              <a:ext uri="{FF2B5EF4-FFF2-40B4-BE49-F238E27FC236}">
                <a16:creationId xmlns:a16="http://schemas.microsoft.com/office/drawing/2014/main" id="{8415520A-D2DC-F4B2-1352-1AFB1F3C9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it-IT" altLang="it-IT"/>
              <a:t>Pagina </a:t>
            </a:r>
            <a:fld id="{6272AF97-468E-4D39-BCD0-38003E2F838C}" type="slidenum">
              <a:rPr lang="it-IT" altLang="it-IT"/>
              <a:pPr/>
              <a:t>17</a:t>
            </a:fld>
            <a:endParaRPr lang="it-IT" altLang="it-IT"/>
          </a:p>
        </p:txBody>
      </p:sp>
      <p:sp>
        <p:nvSpPr>
          <p:cNvPr id="9218" name="Rectangle 2">
            <a:extLst>
              <a:ext uri="{FF2B5EF4-FFF2-40B4-BE49-F238E27FC236}">
                <a16:creationId xmlns:a16="http://schemas.microsoft.com/office/drawing/2014/main" id="{BF6F00C8-728A-44CD-1247-00FF732A70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16013" y="409575"/>
            <a:ext cx="7416800" cy="504825"/>
          </a:xfrm>
        </p:spPr>
        <p:txBody>
          <a:bodyPr/>
          <a:lstStyle/>
          <a:p>
            <a:r>
              <a:rPr lang="it-IT" altLang="it-IT" dirty="0"/>
              <a:t>Conclusioni</a:t>
            </a:r>
          </a:p>
        </p:txBody>
      </p:sp>
      <p:sp>
        <p:nvSpPr>
          <p:cNvPr id="9222" name="Text Box 6">
            <a:extLst>
              <a:ext uri="{FF2B5EF4-FFF2-40B4-BE49-F238E27FC236}">
                <a16:creationId xmlns:a16="http://schemas.microsoft.com/office/drawing/2014/main" id="{80BD24BE-991B-28F2-64E7-A9D44FFB58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776288"/>
            <a:ext cx="740410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it-IT" altLang="it-IT" sz="2200" dirty="0">
                <a:solidFill>
                  <a:srgbClr val="000000"/>
                </a:solidFill>
              </a:rPr>
              <a:t>Sintesi metodologica e limiti emersi</a:t>
            </a:r>
            <a:endParaRPr lang="it-IT" altLang="it-IT" sz="2200" dirty="0">
              <a:solidFill>
                <a:schemeClr val="tx1"/>
              </a:solidFill>
            </a:endParaRPr>
          </a:p>
        </p:txBody>
      </p:sp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1BE7860A-E5B5-AD4D-0744-137EA5762EAC}"/>
              </a:ext>
            </a:extLst>
          </p:cNvPr>
          <p:cNvSpPr/>
          <p:nvPr/>
        </p:nvSpPr>
        <p:spPr bwMode="auto">
          <a:xfrm>
            <a:off x="1121515" y="1573888"/>
            <a:ext cx="3238228" cy="4159368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9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0" name="Rettangolo con angoli arrotondati 9">
            <a:extLst>
              <a:ext uri="{FF2B5EF4-FFF2-40B4-BE49-F238E27FC236}">
                <a16:creationId xmlns:a16="http://schemas.microsoft.com/office/drawing/2014/main" id="{A0ABE9FF-A8DC-DCDD-62A4-8644423A2F19}"/>
              </a:ext>
            </a:extLst>
          </p:cNvPr>
          <p:cNvSpPr/>
          <p:nvPr/>
        </p:nvSpPr>
        <p:spPr bwMode="auto">
          <a:xfrm>
            <a:off x="4931517" y="1573888"/>
            <a:ext cx="3238229" cy="4159368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9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9221" name="Rectangle 5">
            <a:extLst>
              <a:ext uri="{FF2B5EF4-FFF2-40B4-BE49-F238E27FC236}">
                <a16:creationId xmlns:a16="http://schemas.microsoft.com/office/drawing/2014/main" id="{37F47A4F-A5C4-4D7F-2ECF-362D52202E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4254" y="2819303"/>
            <a:ext cx="3238228" cy="2952717"/>
          </a:xfrm>
        </p:spPr>
        <p:txBody>
          <a:bodyPr/>
          <a:lstStyle/>
          <a:p>
            <a:pPr algn="ctr">
              <a:buFontTx/>
              <a:buNone/>
            </a:pPr>
            <a:r>
              <a:rPr lang="it-IT" sz="1200" dirty="0"/>
              <a:t>	</a:t>
            </a:r>
            <a:r>
              <a:rPr lang="it-IT" sz="1600" dirty="0">
                <a:solidFill>
                  <a:srgbClr val="822433"/>
                </a:solidFill>
              </a:rPr>
              <a:t>EFFICACIA DEL METODO </a:t>
            </a:r>
          </a:p>
          <a:p>
            <a:pPr>
              <a:buFontTx/>
              <a:buNone/>
            </a:pPr>
            <a:r>
              <a:rPr lang="it-IT" sz="1600" dirty="0"/>
              <a:t>	L’utilizzo congiunto di Process Discovery su dati reali e Process </a:t>
            </a:r>
            <a:r>
              <a:rPr lang="it-IT" sz="1600" dirty="0" err="1"/>
              <a:t>Simulation</a:t>
            </a:r>
            <a:r>
              <a:rPr lang="it-IT" sz="1600" dirty="0"/>
              <a:t> fornisce un supporto quantitativo oggettivo alla riprogettazione e gestione del servizio. </a:t>
            </a:r>
            <a:endParaRPr lang="it-IT" altLang="it-IT" sz="1600" dirty="0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43C8FA7E-AC1D-AA1B-277D-8B1489AF02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9278" y="2819303"/>
            <a:ext cx="3238228" cy="2813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822433"/>
              </a:buClr>
              <a:buChar char="•"/>
              <a:defRPr sz="2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5621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1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981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2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buFontTx/>
              <a:buNone/>
            </a:pPr>
            <a:r>
              <a:rPr lang="it-IT" sz="1600" dirty="0">
                <a:solidFill>
                  <a:srgbClr val="822433"/>
                </a:solidFill>
              </a:rPr>
              <a:t>LIMITAZIONI TECNOLOGICHE </a:t>
            </a:r>
          </a:p>
          <a:p>
            <a:pPr eaLnBrk="1" hangingPunct="1"/>
            <a:r>
              <a:rPr lang="it-IT" sz="1600" dirty="0"/>
              <a:t>Invisibilità dei tempi di inattività nei dati di tracciamento;</a:t>
            </a:r>
          </a:p>
          <a:p>
            <a:pPr eaLnBrk="1" hangingPunct="1"/>
            <a:r>
              <a:rPr lang="it-IT" sz="1600" dirty="0"/>
              <a:t>Mancanza di un modello di </a:t>
            </a:r>
            <a:r>
              <a:rPr lang="it-IT" sz="1600" dirty="0" err="1"/>
              <a:t>routing</a:t>
            </a:r>
            <a:r>
              <a:rPr lang="it-IT" sz="1600" dirty="0"/>
              <a:t> geografico per mezzi e destinazioni;</a:t>
            </a:r>
          </a:p>
          <a:p>
            <a:pPr eaLnBrk="1" hangingPunct="1"/>
            <a:r>
              <a:rPr lang="it-IT" sz="1600" dirty="0"/>
              <a:t>Impossibilità di vincolare la stessa risorsa (ambulanza) lungo l'istanza.</a:t>
            </a:r>
            <a:endParaRPr lang="it-IT" altLang="it-IT" sz="1600" dirty="0"/>
          </a:p>
        </p:txBody>
      </p:sp>
      <p:pic>
        <p:nvPicPr>
          <p:cNvPr id="13" name="Elemento grafico 12" descr="Avviso con riempimento a tinta unita">
            <a:extLst>
              <a:ext uri="{FF2B5EF4-FFF2-40B4-BE49-F238E27FC236}">
                <a16:creationId xmlns:a16="http://schemas.microsoft.com/office/drawing/2014/main" id="{42830424-DEA5-6F5F-C403-2CCC5C4699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3431" y="1717771"/>
            <a:ext cx="914400" cy="914400"/>
          </a:xfrm>
          <a:prstGeom prst="rect">
            <a:avLst/>
          </a:prstGeom>
        </p:spPr>
      </p:pic>
      <p:pic>
        <p:nvPicPr>
          <p:cNvPr id="15" name="Elemento grafico 14" descr="Segno di spunta con riempimento a tinta unita">
            <a:extLst>
              <a:ext uri="{FF2B5EF4-FFF2-40B4-BE49-F238E27FC236}">
                <a16:creationId xmlns:a16="http://schemas.microsoft.com/office/drawing/2014/main" id="{90D6E77E-746A-3246-C80A-34B5CDD64B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83429" y="167667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8365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AD4640-41B2-08E4-3A81-A255E7BCC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833" name="Group 17">
            <a:extLst>
              <a:ext uri="{FF2B5EF4-FFF2-40B4-BE49-F238E27FC236}">
                <a16:creationId xmlns:a16="http://schemas.microsoft.com/office/drawing/2014/main" id="{FA3DE9F8-2CB6-F6CB-C9D7-C7CD1A6F8176}"/>
              </a:ext>
            </a:extLst>
          </p:cNvPr>
          <p:cNvGrpSpPr>
            <a:grpSpLocks/>
          </p:cNvGrpSpPr>
          <p:nvPr/>
        </p:nvGrpSpPr>
        <p:grpSpPr bwMode="auto">
          <a:xfrm>
            <a:off x="-107992" y="-243408"/>
            <a:ext cx="9360512" cy="7200799"/>
            <a:chOff x="3425" y="1135"/>
            <a:chExt cx="5828" cy="4334"/>
          </a:xfrm>
        </p:grpSpPr>
        <p:pic>
          <p:nvPicPr>
            <p:cNvPr id="34832" name="Picture 16">
              <a:extLst>
                <a:ext uri="{FF2B5EF4-FFF2-40B4-BE49-F238E27FC236}">
                  <a16:creationId xmlns:a16="http://schemas.microsoft.com/office/drawing/2014/main" id="{328CD4FB-5D5C-F065-1C55-911DCB0307A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8635" r="9143"/>
            <a:stretch>
              <a:fillRect/>
            </a:stretch>
          </p:blipFill>
          <p:spPr bwMode="auto">
            <a:xfrm>
              <a:off x="3425" y="1135"/>
              <a:ext cx="5828" cy="43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4829" name="Picture 13">
              <a:extLst>
                <a:ext uri="{FF2B5EF4-FFF2-40B4-BE49-F238E27FC236}">
                  <a16:creationId xmlns:a16="http://schemas.microsoft.com/office/drawing/2014/main" id="{F5E5D3FC-06F5-9481-658E-E40C1ACFCC2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377" r="53554"/>
            <a:stretch>
              <a:fillRect/>
            </a:stretch>
          </p:blipFill>
          <p:spPr bwMode="auto">
            <a:xfrm>
              <a:off x="5386" y="1415"/>
              <a:ext cx="1905" cy="7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4819" name="Rectangle 3">
            <a:extLst>
              <a:ext uri="{FF2B5EF4-FFF2-40B4-BE49-F238E27FC236}">
                <a16:creationId xmlns:a16="http://schemas.microsoft.com/office/drawing/2014/main" id="{B7332FDA-DB62-8475-DCEA-E1825DED889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827584" y="2996952"/>
            <a:ext cx="7776864" cy="864095"/>
          </a:xfrm>
        </p:spPr>
        <p:txBody>
          <a:bodyPr anchor="t"/>
          <a:lstStyle/>
          <a:p>
            <a:pPr algn="l"/>
            <a:r>
              <a:rPr lang="it-IT" altLang="it-IT" sz="4400" dirty="0">
                <a:solidFill>
                  <a:schemeClr val="bg1">
                    <a:lumMod val="95000"/>
                  </a:schemeClr>
                </a:solidFill>
              </a:rPr>
              <a:t>GRAZIE PER L’ATTENZIONE</a:t>
            </a:r>
          </a:p>
        </p:txBody>
      </p:sp>
    </p:spTree>
    <p:extLst>
      <p:ext uri="{BB962C8B-B14F-4D97-AF65-F5344CB8AC3E}">
        <p14:creationId xmlns:p14="http://schemas.microsoft.com/office/powerpoint/2010/main" val="2057365304"/>
      </p:ext>
    </p:extLst>
  </p:cSld>
  <p:clrMapOvr>
    <a:masterClrMapping/>
  </p:clrMapOvr>
</p:sld>
</file>

<file path=ppt/theme/theme1.xml><?xml version="1.0" encoding="utf-8"?>
<a:theme xmlns:a="http://schemas.openxmlformats.org/drawingml/2006/main" name="la sapienza">
  <a:themeElements>
    <a:clrScheme name="">
      <a:dk1>
        <a:srgbClr val="822433"/>
      </a:dk1>
      <a:lt1>
        <a:srgbClr val="FFFFFF"/>
      </a:lt1>
      <a:dk2>
        <a:srgbClr val="822433"/>
      </a:dk2>
      <a:lt2>
        <a:srgbClr val="808080"/>
      </a:lt2>
      <a:accent1>
        <a:srgbClr val="BBE0E3"/>
      </a:accent1>
      <a:accent2>
        <a:srgbClr val="FFFF00"/>
      </a:accent2>
      <a:accent3>
        <a:srgbClr val="FFFFFF"/>
      </a:accent3>
      <a:accent4>
        <a:srgbClr val="6E1D2A"/>
      </a:accent4>
      <a:accent5>
        <a:srgbClr val="DAEDEF"/>
      </a:accent5>
      <a:accent6>
        <a:srgbClr val="E7E700"/>
      </a:accent6>
      <a:hlink>
        <a:srgbClr val="0000FF"/>
      </a:hlink>
      <a:folHlink>
        <a:srgbClr val="FF0000"/>
      </a:folHlink>
    </a:clrScheme>
    <a:fontScheme name="la sapienza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rgbClr val="000000">
                    <a:alpha val="74998"/>
                  </a:srgb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it-IT" altLang="it-IT" sz="9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ＭＳ Ｐゴシック" panose="020B0600070205080204" pitchFamily="3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blurRad="63500" dist="38099" dir="2700000" algn="ctr" rotWithShape="0">
                  <a:srgbClr val="000000">
                    <a:alpha val="74998"/>
                  </a:srgb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it-IT" altLang="it-IT" sz="9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panose="020B0604020202020204" pitchFamily="34" charset="0"/>
            <a:ea typeface="ＭＳ Ｐゴシック" panose="020B0600070205080204" pitchFamily="34" charset="-128"/>
          </a:defRPr>
        </a:defPPr>
      </a:lstStyle>
    </a:lnDef>
  </a:objectDefaults>
  <a:extraClrSchemeLst>
    <a:extraClrScheme>
      <a:clrScheme name="la sapienza 1">
        <a:dk1>
          <a:srgbClr val="000000"/>
        </a:dk1>
        <a:lt1>
          <a:srgbClr val="FFFFFF"/>
        </a:lt1>
        <a:dk2>
          <a:srgbClr val="FFFFFF"/>
        </a:dk2>
        <a:lt2>
          <a:srgbClr val="2D2015"/>
        </a:lt2>
        <a:accent1>
          <a:srgbClr val="7C7C7C"/>
        </a:accent1>
        <a:accent2>
          <a:srgbClr val="FFFF7E"/>
        </a:accent2>
        <a:accent3>
          <a:srgbClr val="FFFFFF"/>
        </a:accent3>
        <a:accent4>
          <a:srgbClr val="000000"/>
        </a:accent4>
        <a:accent5>
          <a:srgbClr val="BFBFBF"/>
        </a:accent5>
        <a:accent6>
          <a:srgbClr val="E7E772"/>
        </a:accent6>
        <a:hlink>
          <a:srgbClr val="066778"/>
        </a:hlink>
        <a:folHlink>
          <a:srgbClr val="83002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Marco:Applications:Microsoft Office 2004:Modelli:Modelli personali:la sapienza.pot</Template>
  <TotalTime>5050</TotalTime>
  <Words>1226</Words>
  <Application>Microsoft Office PowerPoint</Application>
  <PresentationFormat>Presentazione su schermo (4:3)</PresentationFormat>
  <Paragraphs>199</Paragraphs>
  <Slides>18</Slides>
  <Notes>18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18</vt:i4>
      </vt:variant>
    </vt:vector>
  </HeadingPairs>
  <TitlesOfParts>
    <vt:vector size="21" baseType="lpstr">
      <vt:lpstr>Arial</vt:lpstr>
      <vt:lpstr>Cambria Math</vt:lpstr>
      <vt:lpstr>la sapienza</vt:lpstr>
      <vt:lpstr>Un approccio integrato di process mining e simulation per l’analisi del soccorso pre-ospedaliero: un caso di studio reale</vt:lpstr>
      <vt:lpstr>Introduzione</vt:lpstr>
      <vt:lpstr>Processo di soccorso pre-ospedaliero</vt:lpstr>
      <vt:lpstr>Contesto d’indagine</vt:lpstr>
      <vt:lpstr>Contesto d’indagine</vt:lpstr>
      <vt:lpstr>Dataset</vt:lpstr>
      <vt:lpstr>Process Discovery con Fluxicon Disco</vt:lpstr>
      <vt:lpstr>Process Discovery con Fluxicon Disco</vt:lpstr>
      <vt:lpstr>Process Discovery con Fluxicon Disco</vt:lpstr>
      <vt:lpstr>Process Simulation con BIMP</vt:lpstr>
      <vt:lpstr>Process Simulation con BIMP</vt:lpstr>
      <vt:lpstr>Process Simulation con BIMP</vt:lpstr>
      <vt:lpstr>Process Simulation con BIMP</vt:lpstr>
      <vt:lpstr>Process Simulation con BIMP</vt:lpstr>
      <vt:lpstr>Process Simulation con BIMP</vt:lpstr>
      <vt:lpstr>Process Simulation con BIMP</vt:lpstr>
      <vt:lpstr>Conclusioni</vt:lpstr>
      <vt:lpstr>GRAZIE PER L’ATTENZIONE</vt:lpstr>
    </vt:vector>
  </TitlesOfParts>
  <Manager/>
  <Company>- -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di PowerPoint</dc:title>
  <dc:subject/>
  <dc:creator>- -</dc:creator>
  <cp:keywords/>
  <dc:description/>
  <cp:lastModifiedBy>Sharon Zaccagnino</cp:lastModifiedBy>
  <cp:revision>91</cp:revision>
  <dcterms:created xsi:type="dcterms:W3CDTF">2006-11-20T16:13:10Z</dcterms:created>
  <dcterms:modified xsi:type="dcterms:W3CDTF">2026-10-20T08:03:18Z</dcterms:modified>
  <cp:category/>
</cp:coreProperties>
</file>